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2094" r:id="rId3"/>
    <p:sldId id="2095" r:id="rId4"/>
    <p:sldId id="2096" r:id="rId5"/>
    <p:sldId id="2097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4" r:id="rId15"/>
    <p:sldId id="273" r:id="rId16"/>
    <p:sldId id="2099" r:id="rId17"/>
    <p:sldId id="2100" r:id="rId18"/>
    <p:sldId id="2102" r:id="rId19"/>
    <p:sldId id="2092" r:id="rId20"/>
    <p:sldId id="951" r:id="rId21"/>
    <p:sldId id="2109" r:id="rId22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C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Без стилю та сітки таблиці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12" autoAdjust="0"/>
    <p:restoredTop sz="93464" autoAdjust="0"/>
  </p:normalViewPr>
  <p:slideViewPr>
    <p:cSldViewPr snapToGrid="0">
      <p:cViewPr varScale="1">
        <p:scale>
          <a:sx n="77" d="100"/>
          <a:sy n="77" d="100"/>
        </p:scale>
        <p:origin x="10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F2C86-A21B-4E18-8925-27DA17744AF8}" type="datetimeFigureOut">
              <a:rPr lang="uk-UA" smtClean="0"/>
              <a:t>17.03.2026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38189A-9AB1-49F8-B898-09BDCCD1F19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53734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8189A-9AB1-49F8-B898-09BDCCD1F19B}" type="slidenum">
              <a:rPr lang="uk-UA" smtClean="0"/>
              <a:t>18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0096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C80B23-E25B-8085-794F-9B17F0E84D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E1E4D256-1701-C2B7-1BA9-C8E5308492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7F73853-8450-79CA-33D7-A439D9D8B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9721-00DE-4D8E-996B-DF137ECCCAED}" type="datetimeFigureOut">
              <a:rPr lang="uk-UA" smtClean="0"/>
              <a:t>17.03.2026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383F633-A71C-DE47-8A89-F9C45BC6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0DD972F-F8B4-0D65-B9B3-5CF1ADCD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CAC3E-1D16-4FB1-AEC4-BCF3281FF7D9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33154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6413B5-1D80-B799-4278-2B08A4B77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CFB328F-A3C0-0602-6D79-7756D853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B08CB89-EB9C-5A83-C65B-E89022040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9721-00DE-4D8E-996B-DF137ECCCAED}" type="datetimeFigureOut">
              <a:rPr lang="uk-UA" smtClean="0"/>
              <a:t>17.03.2026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2D22D12-6A95-DFFF-C437-19170032E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7D301C6-BBE9-BD6D-4D8E-5936A33F8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CAC3E-1D16-4FB1-AEC4-BCF3281FF7D9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19718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96D854-B40A-674C-4ECF-A2152F02A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3C4AFAA3-31ED-681C-5A5E-84E948A28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4C4836B-F099-C54F-6317-08FBF3FF2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9721-00DE-4D8E-996B-DF137ECCCAED}" type="datetimeFigureOut">
              <a:rPr lang="uk-UA" smtClean="0"/>
              <a:t>17.03.2026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5EC3BAD-8668-EE12-0317-40E85E956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723EFCD-4262-496E-9212-FA02E65A2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CAC3E-1D16-4FB1-AEC4-BCF3281FF7D9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05848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AD57EA-A81F-BFE5-224C-5F8D2BCF6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3246AD2-24BF-BA9A-2F03-A547FA1248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366C0ECE-EF50-29D2-B593-DF939F321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CB93A743-0515-4832-2014-6AAC2C937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9721-00DE-4D8E-996B-DF137ECCCAED}" type="datetimeFigureOut">
              <a:rPr lang="uk-UA" smtClean="0"/>
              <a:t>17.03.2026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C6DC1D2D-4975-118E-19B5-026DDF6E8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6CBC9D08-3227-A198-FF9B-391B9C1BC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CAC3E-1D16-4FB1-AEC4-BCF3281FF7D9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58105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D87B92-85A6-A64E-05F4-9B3A318DE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2F926F36-5ADB-93EE-32F1-2C6F78E66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996E1D69-6EF0-471D-70EE-F87AF857C0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F3819DDB-B1D4-67E9-9EB9-E63833B1F4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7C9736A0-5CBC-1D0D-20A1-6E61C68DEE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38AE55CD-773A-65F7-7097-03C6F6F14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9721-00DE-4D8E-996B-DF137ECCCAED}" type="datetimeFigureOut">
              <a:rPr lang="uk-UA" smtClean="0"/>
              <a:t>17.03.2026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9A829F3B-3F37-06A4-2F62-962B23054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548D6DA5-27B3-BE35-4DC9-64A69B82A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CAC3E-1D16-4FB1-AEC4-BCF3281FF7D9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41058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922603-868B-D76B-3A12-3006DD011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EAB276AD-B777-01B1-0EAD-CDB9ADD03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9721-00DE-4D8E-996B-DF137ECCCAED}" type="datetimeFigureOut">
              <a:rPr lang="uk-UA" smtClean="0"/>
              <a:t>17.03.2026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CA9050F6-697F-E9D5-FB92-1DCAEB0D8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EFAECCCC-B30C-1208-F91A-F5082DE06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CAC3E-1D16-4FB1-AEC4-BCF3281FF7D9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79021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632CC7A2-C4E1-BE39-6110-80D2D6C22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9721-00DE-4D8E-996B-DF137ECCCAED}" type="datetimeFigureOut">
              <a:rPr lang="uk-UA" smtClean="0"/>
              <a:t>17.03.2026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50A07119-88F1-2EF3-D8C1-7C118F0C9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E4CA1E6B-0D3A-5C23-40B5-72A36BAD0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CAC3E-1D16-4FB1-AEC4-BCF3281FF7D9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17484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9712FC-CB46-486A-DEAE-0C05A36C8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42C9659-994A-14EB-0A8A-712391B67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E30E5F02-3C82-93B2-A9B0-E906A33763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794BD426-9487-5AFC-A01C-F1A959F44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9721-00DE-4D8E-996B-DF137ECCCAED}" type="datetimeFigureOut">
              <a:rPr lang="uk-UA" smtClean="0"/>
              <a:t>17.03.2026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8B52492A-0993-AAD9-887F-03B9D4542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1B812B3D-2B4C-F884-16F9-2C5562FF2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CAC3E-1D16-4FB1-AEC4-BCF3281FF7D9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21271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D8258D-9A26-66BD-3DD6-B963CDB40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108D3A31-B42E-2B9C-7AA6-8DFCF8EE1B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0B7551EA-A2FA-5E37-A37B-4BFE83ACF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C15D2425-4192-62FD-1150-12354D220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9721-00DE-4D8E-996B-DF137ECCCAED}" type="datetimeFigureOut">
              <a:rPr lang="uk-UA" smtClean="0"/>
              <a:t>17.03.2026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088B7D65-2E2A-5B7E-069C-084FFFF42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E5E2D6FB-4B0A-1C27-F9D0-C24B437DB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CAC3E-1D16-4FB1-AEC4-BCF3281FF7D9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10842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A35E0D-33F6-D152-5815-726FE50B9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DA0A9591-0517-3237-0A1D-26429D7F03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E209BA5-4308-0FCF-5BD8-127E2572A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9721-00DE-4D8E-996B-DF137ECCCAED}" type="datetimeFigureOut">
              <a:rPr lang="uk-UA" smtClean="0"/>
              <a:t>17.03.2026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B2D4FEE-598E-6787-F67A-94C479606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5F8766F-E62B-8D59-F908-9FFEA4A7E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CAC3E-1D16-4FB1-AEC4-BCF3281FF7D9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64402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AE9C6B4F-CE42-591E-B541-121CD607E3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99CE8430-6FAF-AD88-B900-BDF595FAC3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C9E7C39-EF28-C720-7C4A-499E86F10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9721-00DE-4D8E-996B-DF137ECCCAED}" type="datetimeFigureOut">
              <a:rPr lang="uk-UA" smtClean="0"/>
              <a:t>17.03.2026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257A5EA-67FE-6365-C365-AA0D04FE8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106648B-C716-C53F-810D-7D38EFD9D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CAC3E-1D16-4FB1-AEC4-BCF3281FF7D9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19712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879B3112-549F-9BD0-DC17-C780AAA00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CB8E62C9-15DC-B74D-639E-C1B28691C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D452979-1453-8375-4762-D15EFC9880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659721-00DE-4D8E-996B-DF137ECCCAED}" type="datetimeFigureOut">
              <a:rPr lang="uk-UA" smtClean="0"/>
              <a:t>17.03.2026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D31A214-B997-0DE5-B222-D9637689E8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C9F65A3-D8DB-D2EE-74DB-EEB1886CA9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ACAC3E-1D16-4FB1-AEC4-BCF3281FF7D9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20044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microsoft.com/office/2007/relationships/hdphoto" Target="../media/hdphoto2.wdp"/><Relationship Id="rId9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4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microsoft.com/office/2007/relationships/hdphoto" Target="../media/hdphoto3.wdp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package" Target="../embeddings/Microsoft_Excel_Worksheet.xlsx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emf"/><Relationship Id="rId5" Type="http://schemas.openxmlformats.org/officeDocument/2006/relationships/package" Target="../embeddings/Microsoft_Excel_Worksheet1.xlsx"/><Relationship Id="rId4" Type="http://schemas.openxmlformats.org/officeDocument/2006/relationships/image" Target="../media/image29.e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3459EAB-388D-3B4B-8498-FC6BBE14C22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109893" y="0"/>
            <a:ext cx="12411785" cy="71469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F937F7-04F4-6544-A0F1-B1F085233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9837" y="2639422"/>
            <a:ext cx="6629883" cy="1381849"/>
          </a:xfrm>
        </p:spPr>
        <p:txBody>
          <a:bodyPr anchor="b">
            <a:noAutofit/>
          </a:bodyPr>
          <a:lstStyle/>
          <a:p>
            <a:pPr algn="ctr"/>
            <a:r>
              <a:rPr lang="uk-UA" sz="5500" b="1" dirty="0"/>
              <a:t>Напівавтоматичний </a:t>
            </a:r>
            <a:r>
              <a:rPr lang="uk-UA" sz="5500" b="1" dirty="0" err="1"/>
              <a:t>коагулометр</a:t>
            </a:r>
            <a:r>
              <a:rPr lang="uk-UA" sz="5500" b="1" dirty="0"/>
              <a:t> </a:t>
            </a:r>
            <a:r>
              <a:rPr lang="en-US" sz="5500" b="1" dirty="0"/>
              <a:t>DC1040 </a:t>
            </a:r>
            <a:endParaRPr lang="uk-UA" sz="5500" b="1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Місце для вмісту 4">
            <a:extLst>
              <a:ext uri="{FF2B5EF4-FFF2-40B4-BE49-F238E27FC236}">
                <a16:creationId xmlns:a16="http://schemas.microsoft.com/office/drawing/2014/main" id="{707FBEE4-058C-0A68-6064-C5881342E2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-3"/>
          <a:stretch>
            <a:fillRect/>
          </a:stretch>
        </p:blipFill>
        <p:spPr>
          <a:xfrm>
            <a:off x="422753" y="703679"/>
            <a:ext cx="5386956" cy="5386956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16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F61BC2B-C667-2275-23EC-1AE2768AF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2183" y="4374359"/>
            <a:ext cx="4673001" cy="2913872"/>
          </a:xfrm>
        </p:spPr>
        <p:txBody>
          <a:bodyPr anchor="t">
            <a:normAutofit/>
          </a:bodyPr>
          <a:lstStyle/>
          <a:p>
            <a:pPr marL="0" indent="0" algn="r">
              <a:buNone/>
            </a:pPr>
            <a:r>
              <a:rPr lang="uk-UA" sz="2500" b="1" dirty="0">
                <a:solidFill>
                  <a:schemeClr val="tx1">
                    <a:alpha val="80000"/>
                  </a:schemeClr>
                </a:solidFill>
              </a:rPr>
              <a:t>Шлапак Інна</a:t>
            </a:r>
            <a:br>
              <a:rPr lang="uk-UA" sz="2500" b="1" dirty="0">
                <a:solidFill>
                  <a:schemeClr val="tx1">
                    <a:alpha val="80000"/>
                  </a:schemeClr>
                </a:solidFill>
              </a:rPr>
            </a:br>
            <a:r>
              <a:rPr lang="uk-UA" sz="2500" b="1" dirty="0">
                <a:solidFill>
                  <a:schemeClr val="tx1">
                    <a:alpha val="80000"/>
                  </a:schemeClr>
                </a:solidFill>
              </a:rPr>
              <a:t>менеджер з продукту</a:t>
            </a:r>
            <a:endParaRPr lang="en-US" sz="2500" b="1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20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2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10" descr="Экспресс-диагностика в практике врача | Health-ua">
            <a:extLst>
              <a:ext uri="{FF2B5EF4-FFF2-40B4-BE49-F238E27FC236}">
                <a16:creationId xmlns:a16="http://schemas.microsoft.com/office/drawing/2014/main" id="{D9AAB1BC-5D54-D3DA-BFD0-C45C027A9B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63" b="98367" l="642" r="98396">
                        <a14:foregroundMark x1="30160" y1="23775" x2="30160" y2="23775"/>
                        <a14:foregroundMark x1="40107" y1="4537" x2="40107" y2="4537"/>
                        <a14:foregroundMark x1="2781" y1="29583" x2="2781" y2="29583"/>
                        <a14:foregroundMark x1="642" y1="64428" x2="642" y2="64428"/>
                        <a14:foregroundMark x1="3957" y1="67877" x2="3957" y2="67877"/>
                        <a14:foregroundMark x1="22781" y1="51180" x2="22781" y2="51180"/>
                        <a14:foregroundMark x1="29947" y1="57713" x2="29947" y2="57713"/>
                        <a14:foregroundMark x1="41711" y1="52813" x2="41711" y2="52813"/>
                        <a14:foregroundMark x1="49198" y1="51906" x2="49198" y2="51906"/>
                        <a14:foregroundMark x1="60214" y1="54265" x2="60214" y2="54265"/>
                        <a14:foregroundMark x1="69947" y1="60617" x2="69947" y2="60617"/>
                        <a14:foregroundMark x1="73797" y1="56261" x2="73797" y2="56261"/>
                        <a14:foregroundMark x1="80214" y1="56987" x2="80214" y2="56987"/>
                        <a14:foregroundMark x1="93369" y1="56261" x2="93369" y2="56261"/>
                        <a14:foregroundMark x1="97112" y1="57713" x2="97112" y2="57713"/>
                        <a14:foregroundMark x1="98182" y1="58802" x2="98182" y2="58802"/>
                        <a14:foregroundMark x1="27273" y1="51543" x2="27273" y2="51543"/>
                        <a14:foregroundMark x1="96257" y1="29220" x2="96257" y2="29220"/>
                        <a14:foregroundMark x1="94866" y1="29038" x2="94866" y2="29038"/>
                        <a14:foregroundMark x1="55829" y1="54991" x2="55829" y2="54991"/>
                        <a14:foregroundMark x1="57326" y1="56806" x2="57326" y2="56806"/>
                        <a14:foregroundMark x1="44920" y1="544" x2="44920" y2="544"/>
                        <a14:foregroundMark x1="43529" y1="1270" x2="43529" y2="1270"/>
                        <a14:foregroundMark x1="2888" y1="90926" x2="2888" y2="90926"/>
                        <a14:foregroundMark x1="4492" y1="91833" x2="4492" y2="91833"/>
                        <a14:foregroundMark x1="4171" y1="95100" x2="4171" y2="95100"/>
                        <a14:foregroundMark x1="4492" y1="97822" x2="4492" y2="97822"/>
                        <a14:foregroundMark x1="1711" y1="92922" x2="1711" y2="92922"/>
                        <a14:foregroundMark x1="7594" y1="91470" x2="7487" y2="92015"/>
                        <a14:foregroundMark x1="8449" y1="90563" x2="8984" y2="91107"/>
                        <a14:foregroundMark x1="9519" y1="94918" x2="9519" y2="95670"/>
                        <a14:foregroundMark x1="9519" y1="94192" x2="9519" y2="94918"/>
                        <a14:foregroundMark x1="8663" y1="96915" x2="8663" y2="96915"/>
                        <a14:foregroundMark x1="8770" y1="97096" x2="8770" y2="97096"/>
                        <a14:foregroundMark x1="8770" y1="97096" x2="8342" y2="96915"/>
                        <a14:foregroundMark x1="12513" y1="94555" x2="13048" y2="94555"/>
                        <a14:foregroundMark x1="19251" y1="91107" x2="19251" y2="91107"/>
                        <a14:foregroundMark x1="24599" y1="90381" x2="24599" y2="90381"/>
                        <a14:foregroundMark x1="31230" y1="91470" x2="31230" y2="91470"/>
                        <a14:foregroundMark x1="36257" y1="90563" x2="36257" y2="90563"/>
                        <a14:foregroundMark x1="34225" y1="90018" x2="34225" y2="90018"/>
                        <a14:foregroundMark x1="35508" y1="93285" x2="35508" y2="93285"/>
                        <a14:foregroundMark x1="41283" y1="90563" x2="41497" y2="90381"/>
                        <a14:foregroundMark x1="45561" y1="93648" x2="45561" y2="93648"/>
                        <a14:foregroundMark x1="35401" y1="98004" x2="35401" y2="98004"/>
                        <a14:foregroundMark x1="50802" y1="94737" x2="50802" y2="94737"/>
                        <a14:foregroundMark x1="55508" y1="94918" x2="55508" y2="94918"/>
                        <a14:foregroundMark x1="61176" y1="94374" x2="61176" y2="94374"/>
                        <a14:foregroundMark x1="68770" y1="94555" x2="68770" y2="94555"/>
                        <a14:foregroundMark x1="73797" y1="95281" x2="73797" y2="95281"/>
                        <a14:foregroundMark x1="73904" y1="91107" x2="73904" y2="91107"/>
                        <a14:foregroundMark x1="81925" y1="98367" x2="81925" y2="98367"/>
                        <a14:foregroundMark x1="87487" y1="94192" x2="87487" y2="94192"/>
                        <a14:foregroundMark x1="96150" y1="94011" x2="96150" y2="94011"/>
                        <a14:foregroundMark x1="98396" y1="93466" x2="98396" y2="93466"/>
                        <a14:foregroundMark x1="4064" y1="68058" x2="3484" y2="67763"/>
                        <a14:foregroundMark x1="21007" y1="7435" x2="21007" y2="7435"/>
                        <a14:foregroundMark x1="96499" y1="31599" x2="96499" y2="31599"/>
                        <a14:foregroundMark x1="96718" y1="29368" x2="96718" y2="29368"/>
                        <a14:backgroundMark x1="97112" y1="29038" x2="97112" y2="29038"/>
                        <a14:backgroundMark x1="8449" y1="94918" x2="8449" y2="94918"/>
                        <a14:backgroundMark x1="8235" y1="99093" x2="8556" y2="99093"/>
                        <a14:backgroundMark x1="2032" y1="66425" x2="3102" y2="66788"/>
                        <a14:backgroundMark x1="3209" y1="66788" x2="3850" y2="66788"/>
                        <a14:backgroundMark x1="14118" y1="96915" x2="14118" y2="96915"/>
                        <a14:backgroundMark x1="25668" y1="92015" x2="25668" y2="92015"/>
                        <a14:backgroundMark x1="31123" y1="94737" x2="31123" y2="94737"/>
                        <a14:backgroundMark x1="31551" y1="99456" x2="31551" y2="99456"/>
                        <a14:backgroundMark x1="46524" y1="92922" x2="46952" y2="92740"/>
                        <a14:backgroundMark x1="55401" y1="92196" x2="55401" y2="92196"/>
                        <a14:backgroundMark x1="54973" y1="98548" x2="54973" y2="98548"/>
                        <a14:backgroundMark x1="62460" y1="92740" x2="62460" y2="92740"/>
                        <a14:backgroundMark x1="62567" y1="97278" x2="62567" y2="97278"/>
                        <a14:backgroundMark x1="70160" y1="99637" x2="70695" y2="99637"/>
                        <a14:backgroundMark x1="76043" y1="98911" x2="76043" y2="98911"/>
                        <a14:backgroundMark x1="8972" y1="44981" x2="12473" y2="46097"/>
                        <a14:backgroundMark x1="11379" y1="46468" x2="12254" y2="47212"/>
                        <a14:backgroundMark x1="7659" y1="46468" x2="7659" y2="46468"/>
                        <a14:backgroundMark x1="8315" y1="46468" x2="8315" y2="46468"/>
                        <a14:backgroundMark x1="7440" y1="45353" x2="7440" y2="45353"/>
                        <a14:backgroundMark x1="6783" y1="45353" x2="6783" y2="45353"/>
                        <a14:backgroundMark x1="7002" y1="44238" x2="9190" y2="44238"/>
                        <a14:backgroundMark x1="6565" y1="44238" x2="7002" y2="44610"/>
                        <a14:backgroundMark x1="12473" y1="46097" x2="12910" y2="47584"/>
                        <a14:backgroundMark x1="5033" y1="65799" x2="5033" y2="65799"/>
                        <a14:backgroundMark x1="4595" y1="66171" x2="4158" y2="66543"/>
                        <a14:backgroundMark x1="94530" y1="98141" x2="94530" y2="98141"/>
                        <a14:backgroundMark x1="99125" y1="29740" x2="99125" y2="29740"/>
                        <a14:backgroundMark x1="96718" y1="32714" x2="96718" y2="32714"/>
                        <a14:backgroundMark x1="96061" y1="30112" x2="96061" y2="30112"/>
                        <a14:backgroundMark x1="95624" y1="28625" x2="95624" y2="286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1581" y="5456255"/>
            <a:ext cx="2133604" cy="1257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9747869-DE21-6689-B2A8-E5DA46B0B88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235" y="875194"/>
            <a:ext cx="3068381" cy="907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227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4ED7A-BE77-DC95-6495-43FEDF2F2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277898C8-453D-E573-FBB6-1CE9900C3F0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r="1162" b="4042"/>
          <a:stretch>
            <a:fillRect/>
          </a:stretch>
        </p:blipFill>
        <p:spPr>
          <a:xfrm>
            <a:off x="-75480" y="1"/>
            <a:ext cx="12267480" cy="685799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4F44C0-0502-C09A-B27C-5EEDF4E03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6" y="-62275"/>
            <a:ext cx="12123174" cy="1325563"/>
          </a:xfrm>
        </p:spPr>
        <p:txBody>
          <a:bodyPr>
            <a:normAutofit/>
          </a:bodyPr>
          <a:lstStyle/>
          <a:p>
            <a:pPr algn="ctr"/>
            <a:r>
              <a:rPr lang="uk-UA" sz="4000" b="1" dirty="0"/>
              <a:t>Будова напівавтоматичного </a:t>
            </a:r>
            <a:r>
              <a:rPr lang="uk-UA" sz="4000" b="1" dirty="0" err="1"/>
              <a:t>коагулометра</a:t>
            </a:r>
            <a:r>
              <a:rPr lang="uk-UA" sz="4000" b="1" dirty="0"/>
              <a:t> </a:t>
            </a:r>
            <a:r>
              <a:rPr lang="en-US" sz="4000" b="1" dirty="0"/>
              <a:t>DC1040 </a:t>
            </a:r>
            <a:r>
              <a:rPr lang="uk-UA" sz="4000" b="1" dirty="0"/>
              <a:t> </a:t>
            </a:r>
          </a:p>
        </p:txBody>
      </p:sp>
      <p:grpSp>
        <p:nvGrpSpPr>
          <p:cNvPr id="7" name="组合 34">
            <a:extLst>
              <a:ext uri="{FF2B5EF4-FFF2-40B4-BE49-F238E27FC236}">
                <a16:creationId xmlns:a16="http://schemas.microsoft.com/office/drawing/2014/main" id="{ADC6D297-DCE9-EA68-296A-6CF0D81EA631}"/>
              </a:ext>
            </a:extLst>
          </p:cNvPr>
          <p:cNvGrpSpPr/>
          <p:nvPr/>
        </p:nvGrpSpPr>
        <p:grpSpPr>
          <a:xfrm>
            <a:off x="-42183" y="1958947"/>
            <a:ext cx="6919860" cy="3288370"/>
            <a:chOff x="50022" y="1176066"/>
            <a:chExt cx="7869783" cy="3272247"/>
          </a:xfrm>
        </p:grpSpPr>
        <p:pic>
          <p:nvPicPr>
            <p:cNvPr id="8" name="图片 2">
              <a:extLst>
                <a:ext uri="{FF2B5EF4-FFF2-40B4-BE49-F238E27FC236}">
                  <a16:creationId xmlns:a16="http://schemas.microsoft.com/office/drawing/2014/main" id="{9E37D501-2BAB-2C58-B23F-7B1ADC529A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3136" b="72966" l="25678" r="94153">
                          <a14:foregroundMark x1="73390" y1="47542" x2="80765" y2="58209"/>
                          <a14:foregroundMark x1="85424" y1="58220" x2="92458" y2="65085"/>
                          <a14:foregroundMark x1="92458" y1="65085" x2="92507" y2="65527"/>
                          <a14:foregroundMark x1="52119" y1="33305" x2="25678" y2="33136"/>
                          <a14:foregroundMark x1="29153" y1="37542" x2="36102" y2="63814"/>
                          <a14:foregroundMark x1="88475" y1="65763" x2="90847" y2="68559"/>
                          <a14:foregroundMark x1="92542" y1="70678" x2="92658" y2="71372"/>
                          <a14:foregroundMark x1="91610" y1="69915" x2="92542" y2="70593"/>
                          <a14:foregroundMark x1="93051" y1="71102" x2="93051" y2="71356"/>
                          <a14:foregroundMark x1="93390" y1="71780" x2="94153" y2="72966"/>
                          <a14:backgroundMark x1="82712" y1="60424" x2="81695" y2="59492"/>
                          <a14:backgroundMark x1="81610" y1="60085" x2="83475" y2="61525"/>
                          <a14:backgroundMark x1="83051" y1="62288" x2="83305" y2="61610"/>
                          <a14:backgroundMark x1="81610" y1="59831" x2="81017" y2="59576"/>
                          <a14:backgroundMark x1="83136" y1="60932" x2="83475" y2="62119"/>
                          <a14:backgroundMark x1="92542" y1="65508" x2="92881" y2="66102"/>
                          <a14:backgroundMark x1="92542" y1="71441" x2="93051" y2="7220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46" t="29429" r="5822" b="25646"/>
            <a:stretch/>
          </p:blipFill>
          <p:spPr>
            <a:xfrm>
              <a:off x="2625266" y="1696800"/>
              <a:ext cx="3994709" cy="2593570"/>
            </a:xfrm>
            <a:prstGeom prst="round1Rect">
              <a:avLst/>
            </a:prstGeom>
          </p:spPr>
        </p:pic>
        <p:pic>
          <p:nvPicPr>
            <p:cNvPr id="9" name="图片 3">
              <a:extLst>
                <a:ext uri="{FF2B5EF4-FFF2-40B4-BE49-F238E27FC236}">
                  <a16:creationId xmlns:a16="http://schemas.microsoft.com/office/drawing/2014/main" id="{EE71103C-7609-D600-2F09-35AE6472927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800308" y="1538857"/>
              <a:ext cx="3840480" cy="2909456"/>
            </a:xfrm>
            <a:prstGeom prst="rect">
              <a:avLst/>
            </a:prstGeom>
          </p:spPr>
        </p:pic>
        <p:sp>
          <p:nvSpPr>
            <p:cNvPr id="10" name="矩形 4">
              <a:extLst>
                <a:ext uri="{FF2B5EF4-FFF2-40B4-BE49-F238E27FC236}">
                  <a16:creationId xmlns:a16="http://schemas.microsoft.com/office/drawing/2014/main" id="{03C41633-6871-C119-BAE0-172088E94677}"/>
                </a:ext>
              </a:extLst>
            </p:cNvPr>
            <p:cNvSpPr/>
            <p:nvPr/>
          </p:nvSpPr>
          <p:spPr>
            <a:xfrm>
              <a:off x="5604448" y="1176066"/>
              <a:ext cx="2038152" cy="583344"/>
            </a:xfrm>
            <a:prstGeom prst="rect">
              <a:avLst/>
            </a:prstGeom>
          </p:spPr>
          <p:txBody>
            <a:bodyPr vertOverflow="overflow" wrap="square">
              <a:spAutoFit/>
            </a:bodyPr>
            <a:lstStyle/>
            <a:p>
              <a:pPr algn="ctr"/>
              <a:r>
                <a:rPr lang="uk-UA" sz="1200" b="1" dirty="0">
                  <a:latin typeface="Inter" panose="020B0502030000000004" pitchFamily="34" charset="0"/>
                  <a:ea typeface="Inter" panose="020B0502030000000004" pitchFamily="34" charset="0"/>
                  <a:cs typeface="Times New Roman"/>
                  <a:sym typeface="Inter" panose="020B0502030000000004" pitchFamily="34" charset="0"/>
                </a:rPr>
                <a:t>Кольоровий сенсорний екран</a:t>
              </a:r>
              <a:endParaRPr lang="en-US" altLang="zh-CN" sz="1200" b="1" dirty="0">
                <a:latin typeface="Inter" panose="020B0502030000000004" pitchFamily="34" charset="0"/>
                <a:ea typeface="Inter" panose="020B0502030000000004" pitchFamily="34" charset="0"/>
                <a:cs typeface="OPPOSans B" panose="00020600040101010101" pitchFamily="18" charset="-122"/>
                <a:sym typeface="Inter" panose="020B0502030000000004" pitchFamily="34" charset="0"/>
              </a:endParaRPr>
            </a:p>
          </p:txBody>
        </p:sp>
        <p:cxnSp>
          <p:nvCxnSpPr>
            <p:cNvPr id="11" name="直接连接符 6">
              <a:extLst>
                <a:ext uri="{FF2B5EF4-FFF2-40B4-BE49-F238E27FC236}">
                  <a16:creationId xmlns:a16="http://schemas.microsoft.com/office/drawing/2014/main" id="{35AD73DD-8335-C255-DE78-20D54563D332}"/>
                </a:ext>
              </a:extLst>
            </p:cNvPr>
            <p:cNvCxnSpPr>
              <a:cxnSpLocks/>
              <a:endCxn id="10" idx="1"/>
            </p:cNvCxnSpPr>
            <p:nvPr/>
          </p:nvCxnSpPr>
          <p:spPr>
            <a:xfrm flipV="1">
              <a:off x="4909933" y="1467738"/>
              <a:ext cx="694516" cy="52008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矩形 7">
              <a:extLst>
                <a:ext uri="{FF2B5EF4-FFF2-40B4-BE49-F238E27FC236}">
                  <a16:creationId xmlns:a16="http://schemas.microsoft.com/office/drawing/2014/main" id="{0354B04A-78A9-1645-1CD8-1A124049EBDD}"/>
                </a:ext>
              </a:extLst>
            </p:cNvPr>
            <p:cNvSpPr/>
            <p:nvPr/>
          </p:nvSpPr>
          <p:spPr>
            <a:xfrm>
              <a:off x="50022" y="3053038"/>
              <a:ext cx="1609132" cy="504104"/>
            </a:xfrm>
            <a:prstGeom prst="rect">
              <a:avLst/>
            </a:prstGeom>
          </p:spPr>
          <p:txBody>
            <a:bodyPr vertOverflow="overflow" wrap="square">
              <a:spAutoFit/>
            </a:bodyPr>
            <a:lstStyle/>
            <a:p>
              <a:pPr algn="ctr"/>
              <a:r>
                <a:rPr lang="uk-UA" altLang="zh-CN" sz="1200" b="1" dirty="0">
                  <a:latin typeface="Inter" panose="020B0502030000000004" pitchFamily="34" charset="0"/>
                  <a:ea typeface="Times New Roman"/>
                  <a:cs typeface="Times New Roman"/>
                  <a:sym typeface="Inter" panose="020B0502030000000004" pitchFamily="34" charset="0"/>
                </a:rPr>
                <a:t>Індикатор живлення</a:t>
              </a:r>
              <a:endParaRPr lang="en-US" altLang="zh-CN" sz="1200" b="1" dirty="0">
                <a:latin typeface="Inter" panose="020B0502030000000004" pitchFamily="34" charset="0"/>
                <a:ea typeface="Inter" panose="020B0502030000000004" pitchFamily="34" charset="0"/>
                <a:cs typeface="OPPOSans B" panose="00020600040101010101" pitchFamily="18" charset="-122"/>
                <a:sym typeface="Inter" panose="020B0502030000000004" pitchFamily="34" charset="0"/>
              </a:endParaRPr>
            </a:p>
          </p:txBody>
        </p:sp>
        <p:cxnSp>
          <p:nvCxnSpPr>
            <p:cNvPr id="13" name="直接连接符 8">
              <a:extLst>
                <a:ext uri="{FF2B5EF4-FFF2-40B4-BE49-F238E27FC236}">
                  <a16:creationId xmlns:a16="http://schemas.microsoft.com/office/drawing/2014/main" id="{DBE45914-009A-FB04-3B58-0DA77850CB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13639" y="3487231"/>
              <a:ext cx="67372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9">
              <a:extLst>
                <a:ext uri="{FF2B5EF4-FFF2-40B4-BE49-F238E27FC236}">
                  <a16:creationId xmlns:a16="http://schemas.microsoft.com/office/drawing/2014/main" id="{34D5A031-96A1-53D5-7013-ADADF2CE9BBD}"/>
                </a:ext>
              </a:extLst>
            </p:cNvPr>
            <p:cNvSpPr/>
            <p:nvPr/>
          </p:nvSpPr>
          <p:spPr>
            <a:xfrm>
              <a:off x="70677" y="1436109"/>
              <a:ext cx="1500883" cy="583344"/>
            </a:xfrm>
            <a:prstGeom prst="rect">
              <a:avLst/>
            </a:prstGeom>
          </p:spPr>
          <p:txBody>
            <a:bodyPr vertOverflow="overflow" wrap="square">
              <a:spAutoFit/>
            </a:bodyPr>
            <a:lstStyle/>
            <a:p>
              <a:pPr algn="ctr"/>
              <a:r>
                <a:rPr lang="uk-UA" altLang="zh-CN" sz="1200" b="1" dirty="0">
                  <a:latin typeface="Inter" panose="020B0502030000000004" pitchFamily="34" charset="0"/>
                  <a:ea typeface="Inter" panose="020B0502030000000004" pitchFamily="34" charset="0"/>
                  <a:cs typeface="Times New Roman"/>
                  <a:sym typeface="Inter" panose="020B0502030000000004" pitchFamily="34" charset="0"/>
                </a:rPr>
                <a:t>Вбудований </a:t>
              </a:r>
              <a:r>
                <a:rPr lang="uk-UA" altLang="zh-CN" sz="1200" b="1" dirty="0" err="1">
                  <a:latin typeface="Inter" panose="020B0502030000000004" pitchFamily="34" charset="0"/>
                  <a:ea typeface="Inter" panose="020B0502030000000004" pitchFamily="34" charset="0"/>
                  <a:cs typeface="Times New Roman"/>
                  <a:sym typeface="Inter" panose="020B0502030000000004" pitchFamily="34" charset="0"/>
                </a:rPr>
                <a:t>термопринтер</a:t>
              </a:r>
              <a:endParaRPr lang="en-US" altLang="zh-CN" sz="1200" b="1" dirty="0">
                <a:latin typeface="Inter" panose="020B0502030000000004" pitchFamily="34" charset="0"/>
                <a:ea typeface="Inter" panose="020B0502030000000004" pitchFamily="34" charset="0"/>
                <a:cs typeface="OPPOSans B" panose="00020600040101010101" pitchFamily="18" charset="-122"/>
                <a:sym typeface="Inter" panose="020B0502030000000004" pitchFamily="34" charset="0"/>
              </a:endParaRPr>
            </a:p>
          </p:txBody>
        </p:sp>
        <p:cxnSp>
          <p:nvCxnSpPr>
            <p:cNvPr id="15" name="直接连接符 10">
              <a:extLst>
                <a:ext uri="{FF2B5EF4-FFF2-40B4-BE49-F238E27FC236}">
                  <a16:creationId xmlns:a16="http://schemas.microsoft.com/office/drawing/2014/main" id="{FDAB6AFC-CA43-6E49-07EF-F8DAB04342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68708" y="1736611"/>
              <a:ext cx="887606" cy="23014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矩形 11">
              <a:extLst>
                <a:ext uri="{FF2B5EF4-FFF2-40B4-BE49-F238E27FC236}">
                  <a16:creationId xmlns:a16="http://schemas.microsoft.com/office/drawing/2014/main" id="{BB7936F1-26A9-0FCE-002B-C5B0D270375D}"/>
                </a:ext>
              </a:extLst>
            </p:cNvPr>
            <p:cNvSpPr/>
            <p:nvPr/>
          </p:nvSpPr>
          <p:spPr>
            <a:xfrm>
              <a:off x="6139278" y="2009945"/>
              <a:ext cx="1780527" cy="1109029"/>
            </a:xfrm>
            <a:prstGeom prst="rect">
              <a:avLst/>
            </a:prstGeom>
          </p:spPr>
          <p:txBody>
            <a:bodyPr vertOverflow="overflow" wrap="square">
              <a:spAutoFit/>
            </a:bodyPr>
            <a:lstStyle/>
            <a:p>
              <a:r>
                <a:rPr lang="uk-UA" altLang="zh-CN" sz="1200" b="1" dirty="0">
                  <a:latin typeface="Inter" panose="020B0502030000000004" pitchFamily="34" charset="0"/>
                  <a:ea typeface="Times New Roman"/>
                  <a:cs typeface="Times New Roman"/>
                  <a:sym typeface="Inter" panose="020B0502030000000004" pitchFamily="34" charset="0"/>
                </a:rPr>
                <a:t>Стартова </a:t>
              </a:r>
              <a:r>
                <a:rPr lang="ru-RU" altLang="zh-CN" sz="1200" b="1" dirty="0" err="1">
                  <a:latin typeface="Inter" panose="020B0502030000000004" pitchFamily="34" charset="0"/>
                  <a:ea typeface="Inter" panose="020B0502030000000004" pitchFamily="34" charset="0"/>
                  <a:cs typeface="OPPOSans B" panose="00020600040101010101" pitchFamily="18" charset="-122"/>
                  <a:sym typeface="Inter" panose="020B0502030000000004" pitchFamily="34" charset="0"/>
                </a:rPr>
                <a:t>піпетка</a:t>
              </a:r>
              <a:br>
                <a:rPr lang="ru-RU" altLang="zh-CN" sz="1200" b="1" dirty="0">
                  <a:latin typeface="Inter" panose="020B0502030000000004" pitchFamily="34" charset="0"/>
                  <a:ea typeface="Inter" panose="020B0502030000000004" pitchFamily="34" charset="0"/>
                  <a:cs typeface="OPPOSans B" panose="00020600040101010101" pitchFamily="18" charset="-122"/>
                  <a:sym typeface="Inter" panose="020B0502030000000004" pitchFamily="34" charset="0"/>
                </a:rPr>
              </a:br>
              <a:r>
                <a:rPr lang="ru-RU" altLang="zh-CN" sz="1200" dirty="0" err="1">
                  <a:latin typeface="Inter" panose="020B0502030000000004" pitchFamily="34" charset="0"/>
                  <a:ea typeface="Inter" panose="020B0502030000000004" pitchFamily="34" charset="0"/>
                  <a:cs typeface="OPPOSans B" panose="00020600040101010101" pitchFamily="18" charset="-122"/>
                  <a:sym typeface="Inter" panose="020B0502030000000004" pitchFamily="34" charset="0"/>
                </a:rPr>
                <a:t>Одночасний</a:t>
              </a:r>
              <a:r>
                <a:rPr lang="ru-RU" altLang="zh-CN" sz="1200" dirty="0">
                  <a:latin typeface="Inter" panose="020B0502030000000004" pitchFamily="34" charset="0"/>
                  <a:ea typeface="Inter" panose="020B0502030000000004" pitchFamily="34" charset="0"/>
                  <a:cs typeface="OPPOSans B" panose="00020600040101010101" pitchFamily="18" charset="-122"/>
                  <a:sym typeface="Inter" panose="020B0502030000000004" pitchFamily="34" charset="0"/>
                </a:rPr>
                <a:t> запуск </a:t>
              </a:r>
              <a:r>
                <a:rPr lang="ru-RU" altLang="zh-CN" sz="1200" dirty="0" err="1">
                  <a:latin typeface="Inter" panose="020B0502030000000004" pitchFamily="34" charset="0"/>
                  <a:ea typeface="Inter" panose="020B0502030000000004" pitchFamily="34" charset="0"/>
                  <a:cs typeface="OPPOSans B" panose="00020600040101010101" pitchFamily="18" charset="-122"/>
                  <a:sym typeface="Inter" panose="020B0502030000000004" pitchFamily="34" charset="0"/>
                </a:rPr>
                <a:t>вимірювання</a:t>
              </a:r>
              <a:r>
                <a:rPr lang="ru-RU" altLang="zh-CN" sz="1200" dirty="0">
                  <a:latin typeface="Inter" panose="020B0502030000000004" pitchFamily="34" charset="0"/>
                  <a:ea typeface="Inter" panose="020B0502030000000004" pitchFamily="34" charset="0"/>
                  <a:cs typeface="OPPOSans B" panose="00020600040101010101" pitchFamily="18" charset="-122"/>
                  <a:sym typeface="Inter" panose="020B0502030000000004" pitchFamily="34" charset="0"/>
                </a:rPr>
                <a:t> </a:t>
              </a:r>
              <a:r>
                <a:rPr lang="ru-RU" altLang="zh-CN" sz="1200" dirty="0" err="1">
                  <a:latin typeface="Inter" panose="020B0502030000000004" pitchFamily="34" charset="0"/>
                  <a:ea typeface="Inter" panose="020B0502030000000004" pitchFamily="34" charset="0"/>
                  <a:cs typeface="OPPOSans B" panose="00020600040101010101" pitchFamily="18" charset="-122"/>
                  <a:sym typeface="Inter" panose="020B0502030000000004" pitchFamily="34" charset="0"/>
                </a:rPr>
                <a:t>під</a:t>
              </a:r>
              <a:r>
                <a:rPr lang="ru-RU" altLang="zh-CN" sz="1200" dirty="0">
                  <a:latin typeface="Inter" panose="020B0502030000000004" pitchFamily="34" charset="0"/>
                  <a:ea typeface="Inter" panose="020B0502030000000004" pitchFamily="34" charset="0"/>
                  <a:cs typeface="OPPOSans B" panose="00020600040101010101" pitchFamily="18" charset="-122"/>
                  <a:sym typeface="Inter" panose="020B0502030000000004" pitchFamily="34" charset="0"/>
                </a:rPr>
                <a:t> час </a:t>
              </a:r>
              <a:r>
                <a:rPr lang="ru-RU" altLang="zh-CN" sz="1200" dirty="0" err="1">
                  <a:latin typeface="Inter" panose="020B0502030000000004" pitchFamily="34" charset="0"/>
                  <a:ea typeface="Inter" panose="020B0502030000000004" pitchFamily="34" charset="0"/>
                  <a:cs typeface="OPPOSans B" panose="00020600040101010101" pitchFamily="18" charset="-122"/>
                  <a:sym typeface="Inter" panose="020B0502030000000004" pitchFamily="34" charset="0"/>
                </a:rPr>
                <a:t>додавання</a:t>
              </a:r>
              <a:r>
                <a:rPr lang="ru-RU" altLang="zh-CN" sz="1200" dirty="0">
                  <a:latin typeface="Inter" panose="020B0502030000000004" pitchFamily="34" charset="0"/>
                  <a:ea typeface="Inter" panose="020B0502030000000004" pitchFamily="34" charset="0"/>
                  <a:cs typeface="OPPOSans B" panose="00020600040101010101" pitchFamily="18" charset="-122"/>
                  <a:sym typeface="Inter" panose="020B0502030000000004" pitchFamily="34" charset="0"/>
                </a:rPr>
                <a:t> реагенту</a:t>
              </a:r>
              <a:endParaRPr lang="en-US" altLang="zh-CN" sz="1200" dirty="0">
                <a:latin typeface="Inter" panose="020B0502030000000004" pitchFamily="34" charset="0"/>
                <a:ea typeface="Inter" panose="020B0502030000000004" pitchFamily="34" charset="0"/>
                <a:cs typeface="OPPOSans B" panose="00020600040101010101" pitchFamily="18" charset="-122"/>
                <a:sym typeface="Inter" panose="020B0502030000000004" pitchFamily="34" charset="0"/>
              </a:endParaRPr>
            </a:p>
          </p:txBody>
        </p:sp>
        <p:cxnSp>
          <p:nvCxnSpPr>
            <p:cNvPr id="17" name="直接连接符 12">
              <a:extLst>
                <a:ext uri="{FF2B5EF4-FFF2-40B4-BE49-F238E27FC236}">
                  <a16:creationId xmlns:a16="http://schemas.microsoft.com/office/drawing/2014/main" id="{56B32110-8A7D-4123-BB21-206992D4E314}"/>
                </a:ext>
              </a:extLst>
            </p:cNvPr>
            <p:cNvCxnSpPr>
              <a:cxnSpLocks/>
              <a:endCxn id="16" idx="1"/>
            </p:cNvCxnSpPr>
            <p:nvPr/>
          </p:nvCxnSpPr>
          <p:spPr>
            <a:xfrm flipV="1">
              <a:off x="5726296" y="2564460"/>
              <a:ext cx="412982" cy="19516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矩形 21">
              <a:extLst>
                <a:ext uri="{FF2B5EF4-FFF2-40B4-BE49-F238E27FC236}">
                  <a16:creationId xmlns:a16="http://schemas.microsoft.com/office/drawing/2014/main" id="{59627ADF-8080-1E03-4DD2-D65011E3FBF2}"/>
                </a:ext>
              </a:extLst>
            </p:cNvPr>
            <p:cNvSpPr/>
            <p:nvPr/>
          </p:nvSpPr>
          <p:spPr>
            <a:xfrm>
              <a:off x="105667" y="3715353"/>
              <a:ext cx="1609133" cy="583344"/>
            </a:xfrm>
            <a:prstGeom prst="rect">
              <a:avLst/>
            </a:prstGeom>
          </p:spPr>
          <p:txBody>
            <a:bodyPr vertOverflow="overflow" wrap="square">
              <a:spAutoFit/>
            </a:bodyPr>
            <a:lstStyle/>
            <a:p>
              <a:pPr algn="ctr"/>
              <a:r>
                <a:rPr lang="uk-UA" altLang="zh-CN" sz="1200" b="1" dirty="0">
                  <a:latin typeface="Inter" panose="020B0502030000000004" pitchFamily="34" charset="0"/>
                  <a:ea typeface="Times New Roman"/>
                  <a:cs typeface="Times New Roman"/>
                  <a:sym typeface="Inter" panose="020B0502030000000004" pitchFamily="34" charset="0"/>
                </a:rPr>
                <a:t>Індикатор інкубації</a:t>
              </a:r>
              <a:endParaRPr lang="en-US" altLang="zh-CN" sz="1200" b="1" dirty="0">
                <a:latin typeface="Inter" panose="020B0502030000000004" pitchFamily="34" charset="0"/>
                <a:ea typeface="Inter" panose="020B0502030000000004" pitchFamily="34" charset="0"/>
                <a:cs typeface="OPPOSans B" panose="00020600040101010101" pitchFamily="18" charset="-122"/>
                <a:sym typeface="Inter" panose="020B0502030000000004" pitchFamily="34" charset="0"/>
              </a:endParaRPr>
            </a:p>
          </p:txBody>
        </p:sp>
        <p:cxnSp>
          <p:nvCxnSpPr>
            <p:cNvPr id="19" name="直接连接符 22">
              <a:extLst>
                <a:ext uri="{FF2B5EF4-FFF2-40B4-BE49-F238E27FC236}">
                  <a16:creationId xmlns:a16="http://schemas.microsoft.com/office/drawing/2014/main" id="{FF438C09-D4C5-3EDD-0608-337AEC909F41}"/>
                </a:ext>
              </a:extLst>
            </p:cNvPr>
            <p:cNvCxnSpPr>
              <a:cxnSpLocks/>
              <a:endCxn id="18" idx="3"/>
            </p:cNvCxnSpPr>
            <p:nvPr/>
          </p:nvCxnSpPr>
          <p:spPr>
            <a:xfrm flipH="1">
              <a:off x="1714800" y="3557411"/>
              <a:ext cx="1199689" cy="4496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42988D6-CB68-AE51-A484-A5181C0406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1290" y="809094"/>
            <a:ext cx="3109418" cy="919554"/>
          </a:xfrm>
          <a:prstGeom prst="rect">
            <a:avLst/>
          </a:prstGeom>
        </p:spPr>
      </p:pic>
      <p:grpSp>
        <p:nvGrpSpPr>
          <p:cNvPr id="30" name="组合 60">
            <a:extLst>
              <a:ext uri="{FF2B5EF4-FFF2-40B4-BE49-F238E27FC236}">
                <a16:creationId xmlns:a16="http://schemas.microsoft.com/office/drawing/2014/main" id="{A0F75499-26C3-9A30-125A-FBAFCCCD0D71}"/>
              </a:ext>
            </a:extLst>
          </p:cNvPr>
          <p:cNvGrpSpPr/>
          <p:nvPr/>
        </p:nvGrpSpPr>
        <p:grpSpPr>
          <a:xfrm>
            <a:off x="6422532" y="1603919"/>
            <a:ext cx="5847016" cy="4737014"/>
            <a:chOff x="6053526" y="1509796"/>
            <a:chExt cx="5260560" cy="4012063"/>
          </a:xfrm>
        </p:grpSpPr>
        <p:pic>
          <p:nvPicPr>
            <p:cNvPr id="31" name="图片 37" descr="桌子上的游戏&#10;&#10;AI 生成的内容可能不正确。">
              <a:extLst>
                <a:ext uri="{FF2B5EF4-FFF2-40B4-BE49-F238E27FC236}">
                  <a16:creationId xmlns:a16="http://schemas.microsoft.com/office/drawing/2014/main" id="{F9947BD6-7679-D24A-C99D-55EA907504A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096000" y="1509796"/>
              <a:ext cx="4860000" cy="3240000"/>
            </a:xfrm>
            <a:prstGeom prst="rect">
              <a:avLst/>
            </a:prstGeom>
          </p:spPr>
        </p:pic>
        <p:sp>
          <p:nvSpPr>
            <p:cNvPr id="32" name="矩形 40">
              <a:extLst>
                <a:ext uri="{FF2B5EF4-FFF2-40B4-BE49-F238E27FC236}">
                  <a16:creationId xmlns:a16="http://schemas.microsoft.com/office/drawing/2014/main" id="{C85C677A-3BA6-F5DD-14A5-2A9884CF1A08}"/>
                </a:ext>
              </a:extLst>
            </p:cNvPr>
            <p:cNvSpPr/>
            <p:nvPr/>
          </p:nvSpPr>
          <p:spPr>
            <a:xfrm>
              <a:off x="10004037" y="3276042"/>
              <a:ext cx="1078698" cy="547417"/>
            </a:xfrm>
            <a:prstGeom prst="rect">
              <a:avLst/>
            </a:prstGeom>
          </p:spPr>
          <p:txBody>
            <a:bodyPr vertOverflow="overflow" wrap="square">
              <a:spAutoFit/>
            </a:bodyPr>
            <a:lstStyle/>
            <a:p>
              <a:r>
                <a:rPr lang="uk-UA" altLang="zh-CN" sz="1200" b="1" dirty="0">
                  <a:latin typeface="Inter" panose="020B0502030000000004" pitchFamily="34" charset="0"/>
                  <a:ea typeface="Times New Roman"/>
                  <a:cs typeface="Times New Roman"/>
                  <a:sym typeface="Inter" panose="020B0502030000000004" pitchFamily="34" charset="0"/>
                </a:rPr>
                <a:t>Роз’єм для під’єднання піпетки</a:t>
              </a:r>
              <a:endParaRPr lang="en-US" altLang="zh-CN" sz="1200" b="1" dirty="0">
                <a:latin typeface="Inter" panose="020B0502030000000004" pitchFamily="34" charset="0"/>
                <a:ea typeface="Inter" panose="020B0502030000000004" pitchFamily="34" charset="0"/>
                <a:cs typeface="OPPOSans B" panose="00020600040101010101" pitchFamily="18" charset="-122"/>
                <a:sym typeface="Inter" panose="020B0502030000000004" pitchFamily="34" charset="0"/>
              </a:endParaRPr>
            </a:p>
          </p:txBody>
        </p:sp>
        <p:cxnSp>
          <p:nvCxnSpPr>
            <p:cNvPr id="33" name="直接连接符 41">
              <a:extLst>
                <a:ext uri="{FF2B5EF4-FFF2-40B4-BE49-F238E27FC236}">
                  <a16:creationId xmlns:a16="http://schemas.microsoft.com/office/drawing/2014/main" id="{694C4241-44C5-901E-470C-39422FE5D2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11139" y="3524476"/>
              <a:ext cx="392897" cy="4367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矩形 43">
              <a:extLst>
                <a:ext uri="{FF2B5EF4-FFF2-40B4-BE49-F238E27FC236}">
                  <a16:creationId xmlns:a16="http://schemas.microsoft.com/office/drawing/2014/main" id="{49BE6ECD-71CF-4A48-747F-AD02233A09E6}"/>
                </a:ext>
              </a:extLst>
            </p:cNvPr>
            <p:cNvSpPr/>
            <p:nvPr/>
          </p:nvSpPr>
          <p:spPr>
            <a:xfrm>
              <a:off x="8206993" y="4661633"/>
              <a:ext cx="3107093" cy="860226"/>
            </a:xfrm>
            <a:prstGeom prst="rect">
              <a:avLst/>
            </a:prstGeom>
          </p:spPr>
          <p:txBody>
            <a:bodyPr vertOverflow="overflow" wrap="square">
              <a:spAutoFit/>
            </a:bodyPr>
            <a:lstStyle/>
            <a:p>
              <a:pPr algn="ctr"/>
              <a:r>
                <a:rPr lang="ru-RU" altLang="zh-CN" sz="1200" b="1" dirty="0">
                  <a:latin typeface="Inter" panose="020B0502030000000004" pitchFamily="34" charset="0"/>
                  <a:ea typeface="Inter" panose="020B0502030000000004" pitchFamily="34" charset="0"/>
                  <a:cs typeface="OPPOSans R" panose="00020600040101010101" pitchFamily="18" charset="-122"/>
                  <a:sym typeface="Inter" panose="020B0502030000000004" pitchFamily="34" charset="0"/>
                </a:rPr>
                <a:t>4 </a:t>
              </a:r>
              <a:r>
                <a:rPr lang="ru-RU" altLang="zh-CN" sz="1200" b="1" dirty="0" err="1">
                  <a:latin typeface="Inter" panose="020B0502030000000004" pitchFamily="34" charset="0"/>
                  <a:ea typeface="Inter" panose="020B0502030000000004" pitchFamily="34" charset="0"/>
                  <a:cs typeface="OPPOSans R" panose="00020600040101010101" pitchFamily="18" charset="-122"/>
                  <a:sym typeface="Inter" panose="020B0502030000000004" pitchFamily="34" charset="0"/>
                </a:rPr>
                <a:t>вимірювальні</a:t>
              </a:r>
              <a:r>
                <a:rPr lang="ru-RU" altLang="zh-CN" sz="1200" b="1" dirty="0">
                  <a:latin typeface="Inter" panose="020B0502030000000004" pitchFamily="34" charset="0"/>
                  <a:ea typeface="Inter" panose="020B0502030000000004" pitchFamily="34" charset="0"/>
                  <a:cs typeface="OPPOSans R" panose="00020600040101010101" pitchFamily="18" charset="-122"/>
                  <a:sym typeface="Inter" panose="020B0502030000000004" pitchFamily="34" charset="0"/>
                </a:rPr>
                <a:t> </a:t>
              </a:r>
              <a:r>
                <a:rPr lang="ru-RU" altLang="zh-CN" sz="1200" b="1" dirty="0" err="1">
                  <a:latin typeface="Inter" panose="020B0502030000000004" pitchFamily="34" charset="0"/>
                  <a:ea typeface="Inter" panose="020B0502030000000004" pitchFamily="34" charset="0"/>
                  <a:cs typeface="OPPOSans R" panose="00020600040101010101" pitchFamily="18" charset="-122"/>
                  <a:sym typeface="Inter" panose="020B0502030000000004" pitchFamily="34" charset="0"/>
                </a:rPr>
                <a:t>канали</a:t>
              </a:r>
              <a:endParaRPr lang="ru-RU" altLang="zh-CN" sz="1200" b="1" dirty="0">
                <a:latin typeface="Inter" panose="020B0502030000000004" pitchFamily="34" charset="0"/>
                <a:ea typeface="Inter" panose="020B0502030000000004" pitchFamily="34" charset="0"/>
                <a:cs typeface="OPPOSans R" panose="00020600040101010101" pitchFamily="18" charset="-122"/>
                <a:sym typeface="Inter" panose="020B05020300000000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ru-RU" altLang="zh-CN" sz="1200" dirty="0" err="1">
                  <a:latin typeface="Inter" panose="020B0502030000000004" pitchFamily="34" charset="0"/>
                  <a:ea typeface="Inter" panose="020B0502030000000004" pitchFamily="34" charset="0"/>
                  <a:cs typeface="OPPOSans R" panose="00020600040101010101" pitchFamily="18" charset="-122"/>
                  <a:sym typeface="Inter" panose="020B0502030000000004" pitchFamily="34" charset="0"/>
                </a:rPr>
                <a:t>перемикання</a:t>
              </a:r>
              <a:r>
                <a:rPr lang="ru-RU" altLang="zh-CN" sz="1200" dirty="0">
                  <a:latin typeface="Inter" panose="020B0502030000000004" pitchFamily="34" charset="0"/>
                  <a:ea typeface="Inter" panose="020B0502030000000004" pitchFamily="34" charset="0"/>
                  <a:cs typeface="OPPOSans R" panose="00020600040101010101" pitchFamily="18" charset="-122"/>
                  <a:sym typeface="Inter" panose="020B0502030000000004" pitchFamily="34" charset="0"/>
                </a:rPr>
                <a:t> </a:t>
              </a:r>
              <a:r>
                <a:rPr lang="ru-RU" altLang="zh-CN" sz="1200" dirty="0" err="1">
                  <a:latin typeface="Inter" panose="020B0502030000000004" pitchFamily="34" charset="0"/>
                  <a:ea typeface="Inter" panose="020B0502030000000004" pitchFamily="34" charset="0"/>
                  <a:cs typeface="OPPOSans R" panose="00020600040101010101" pitchFamily="18" charset="-122"/>
                  <a:sym typeface="Inter" panose="020B0502030000000004" pitchFamily="34" charset="0"/>
                </a:rPr>
                <a:t>довжини</a:t>
              </a:r>
              <a:r>
                <a:rPr lang="ru-RU" altLang="zh-CN" sz="1200" dirty="0">
                  <a:latin typeface="Inter" panose="020B0502030000000004" pitchFamily="34" charset="0"/>
                  <a:ea typeface="Inter" panose="020B0502030000000004" pitchFamily="34" charset="0"/>
                  <a:cs typeface="OPPOSans R" panose="00020600040101010101" pitchFamily="18" charset="-122"/>
                  <a:sym typeface="Inter" panose="020B0502030000000004" pitchFamily="34" charset="0"/>
                </a:rPr>
                <a:t> </a:t>
              </a:r>
              <a:r>
                <a:rPr lang="ru-RU" altLang="zh-CN" sz="1200" dirty="0" err="1">
                  <a:latin typeface="Inter" panose="020B0502030000000004" pitchFamily="34" charset="0"/>
                  <a:ea typeface="Inter" panose="020B0502030000000004" pitchFamily="34" charset="0"/>
                  <a:cs typeface="OPPOSans R" panose="00020600040101010101" pitchFamily="18" charset="-122"/>
                  <a:sym typeface="Inter" panose="020B0502030000000004" pitchFamily="34" charset="0"/>
                </a:rPr>
                <a:t>хвилі</a:t>
              </a:r>
              <a:r>
                <a:rPr lang="ru-RU" altLang="zh-CN" sz="1200" dirty="0">
                  <a:latin typeface="Inter" panose="020B0502030000000004" pitchFamily="34" charset="0"/>
                  <a:ea typeface="Inter" panose="020B0502030000000004" pitchFamily="34" charset="0"/>
                  <a:cs typeface="OPPOSans R" panose="00020600040101010101" pitchFamily="18" charset="-122"/>
                  <a:sym typeface="Inter" panose="020B0502030000000004" pitchFamily="34" charset="0"/>
                </a:rPr>
                <a:t> 405 нм та 660 нм;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ru-RU" altLang="zh-CN" sz="1200" dirty="0" err="1">
                  <a:latin typeface="Inter" panose="020B0502030000000004" pitchFamily="34" charset="0"/>
                  <a:ea typeface="Inter" panose="020B0502030000000004" pitchFamily="34" charset="0"/>
                  <a:cs typeface="OPPOSans R" panose="00020600040101010101" pitchFamily="18" charset="-122"/>
                  <a:sym typeface="Inter" panose="020B0502030000000004" pitchFamily="34" charset="0"/>
                </a:rPr>
                <a:t>кожен</a:t>
              </a:r>
              <a:r>
                <a:rPr lang="ru-RU" altLang="zh-CN" sz="1200" dirty="0">
                  <a:latin typeface="Inter" panose="020B0502030000000004" pitchFamily="34" charset="0"/>
                  <a:ea typeface="Inter" panose="020B0502030000000004" pitchFamily="34" charset="0"/>
                  <a:cs typeface="OPPOSans R" panose="00020600040101010101" pitchFamily="18" charset="-122"/>
                  <a:sym typeface="Inter" panose="020B0502030000000004" pitchFamily="34" charset="0"/>
                </a:rPr>
                <a:t> </a:t>
              </a:r>
              <a:r>
                <a:rPr lang="ru-RU" altLang="zh-CN" sz="1200" dirty="0" err="1">
                  <a:latin typeface="Inter" panose="020B0502030000000004" pitchFamily="34" charset="0"/>
                  <a:ea typeface="Inter" panose="020B0502030000000004" pitchFamily="34" charset="0"/>
                  <a:cs typeface="OPPOSans R" panose="00020600040101010101" pitchFamily="18" charset="-122"/>
                  <a:sym typeface="Inter" panose="020B0502030000000004" pitchFamily="34" charset="0"/>
                </a:rPr>
                <a:t>вимірювальний</a:t>
              </a:r>
              <a:r>
                <a:rPr lang="ru-RU" altLang="zh-CN" sz="1200" dirty="0">
                  <a:latin typeface="Inter" panose="020B0502030000000004" pitchFamily="34" charset="0"/>
                  <a:ea typeface="Inter" panose="020B0502030000000004" pitchFamily="34" charset="0"/>
                  <a:cs typeface="OPPOSans R" panose="00020600040101010101" pitchFamily="18" charset="-122"/>
                  <a:sym typeface="Inter" panose="020B0502030000000004" pitchFamily="34" charset="0"/>
                </a:rPr>
                <a:t> канал оснащений </a:t>
              </a:r>
              <a:r>
                <a:rPr lang="ru-RU" altLang="zh-CN" sz="1200" dirty="0" err="1">
                  <a:latin typeface="Inter" panose="020B0502030000000004" pitchFamily="34" charset="0"/>
                  <a:ea typeface="Inter" panose="020B0502030000000004" pitchFamily="34" charset="0"/>
                  <a:cs typeface="OPPOSans R" panose="00020600040101010101" pitchFamily="18" charset="-122"/>
                  <a:sym typeface="Inter" panose="020B0502030000000004" pitchFamily="34" charset="0"/>
                </a:rPr>
                <a:t>світлозахисною</a:t>
              </a:r>
              <a:r>
                <a:rPr lang="ru-RU" altLang="zh-CN" sz="1200" dirty="0">
                  <a:latin typeface="Inter" panose="020B0502030000000004" pitchFamily="34" charset="0"/>
                  <a:ea typeface="Inter" panose="020B0502030000000004" pitchFamily="34" charset="0"/>
                  <a:cs typeface="OPPOSans R" panose="00020600040101010101" pitchFamily="18" charset="-122"/>
                  <a:sym typeface="Inter" panose="020B0502030000000004" pitchFamily="34" charset="0"/>
                </a:rPr>
                <a:t> </a:t>
              </a:r>
              <a:r>
                <a:rPr lang="ru-RU" altLang="zh-CN" sz="1200" dirty="0" err="1">
                  <a:latin typeface="Inter" panose="020B0502030000000004" pitchFamily="34" charset="0"/>
                  <a:ea typeface="Inter" panose="020B0502030000000004" pitchFamily="34" charset="0"/>
                  <a:cs typeface="OPPOSans R" panose="00020600040101010101" pitchFamily="18" charset="-122"/>
                  <a:sym typeface="Inter" panose="020B0502030000000004" pitchFamily="34" charset="0"/>
                </a:rPr>
                <a:t>кришкою</a:t>
              </a:r>
              <a:r>
                <a:rPr lang="ru-RU" altLang="zh-CN" sz="1200" dirty="0">
                  <a:latin typeface="Inter" panose="020B0502030000000004" pitchFamily="34" charset="0"/>
                  <a:ea typeface="Inter" panose="020B0502030000000004" pitchFamily="34" charset="0"/>
                  <a:cs typeface="OPPOSans R" panose="00020600040101010101" pitchFamily="18" charset="-122"/>
                  <a:sym typeface="Inter" panose="020B0502030000000004" pitchFamily="34" charset="0"/>
                </a:rPr>
                <a:t> з </a:t>
              </a:r>
              <a:r>
                <a:rPr lang="ru-RU" altLang="zh-CN" sz="1200" dirty="0" err="1">
                  <a:latin typeface="Inter" panose="020B0502030000000004" pitchFamily="34" charset="0"/>
                  <a:ea typeface="Inter" panose="020B0502030000000004" pitchFamily="34" charset="0"/>
                  <a:cs typeface="OPPOSans R" panose="00020600040101010101" pitchFamily="18" charset="-122"/>
                  <a:sym typeface="Inter" panose="020B0502030000000004" pitchFamily="34" charset="0"/>
                </a:rPr>
                <a:t>позиційним</a:t>
              </a:r>
              <a:r>
                <a:rPr lang="ru-RU" altLang="zh-CN" sz="1200" dirty="0">
                  <a:latin typeface="Inter" panose="020B0502030000000004" pitchFamily="34" charset="0"/>
                  <a:ea typeface="Inter" panose="020B0502030000000004" pitchFamily="34" charset="0"/>
                  <a:cs typeface="OPPOSans R" panose="00020600040101010101" pitchFamily="18" charset="-122"/>
                  <a:sym typeface="Inter" panose="020B0502030000000004" pitchFamily="34" charset="0"/>
                </a:rPr>
                <a:t> </a:t>
              </a:r>
              <a:r>
                <a:rPr lang="ru-RU" altLang="zh-CN" sz="1200" dirty="0" err="1">
                  <a:latin typeface="Inter" panose="020B0502030000000004" pitchFamily="34" charset="0"/>
                  <a:ea typeface="Inter" panose="020B0502030000000004" pitchFamily="34" charset="0"/>
                  <a:cs typeface="OPPOSans R" panose="00020600040101010101" pitchFamily="18" charset="-122"/>
                  <a:sym typeface="Inter" panose="020B0502030000000004" pitchFamily="34" charset="0"/>
                </a:rPr>
                <a:t>отвором</a:t>
              </a:r>
              <a:r>
                <a:rPr lang="ru-RU" altLang="zh-CN" sz="1200" dirty="0">
                  <a:latin typeface="Inter" panose="020B0502030000000004" pitchFamily="34" charset="0"/>
                  <a:ea typeface="Inter" panose="020B0502030000000004" pitchFamily="34" charset="0"/>
                  <a:cs typeface="OPPOSans R" panose="00020600040101010101" pitchFamily="18" charset="-122"/>
                  <a:sym typeface="Inter" panose="020B0502030000000004" pitchFamily="34" charset="0"/>
                </a:rPr>
                <a:t> для </a:t>
              </a:r>
              <a:r>
                <a:rPr lang="ru-RU" altLang="zh-CN" sz="1200" dirty="0" err="1">
                  <a:latin typeface="Inter" panose="020B0502030000000004" pitchFamily="34" charset="0"/>
                  <a:ea typeface="Inter" panose="020B0502030000000004" pitchFamily="34" charset="0"/>
                  <a:cs typeface="OPPOSans R" panose="00020600040101010101" pitchFamily="18" charset="-122"/>
                  <a:sym typeface="Inter" panose="020B0502030000000004" pitchFamily="34" charset="0"/>
                </a:rPr>
                <a:t>піпетування</a:t>
              </a:r>
              <a:r>
                <a:rPr lang="ru-RU" altLang="zh-CN" sz="1200" dirty="0">
                  <a:latin typeface="Inter" panose="020B0502030000000004" pitchFamily="34" charset="0"/>
                  <a:ea typeface="Inter" panose="020B0502030000000004" pitchFamily="34" charset="0"/>
                  <a:cs typeface="OPPOSans R" panose="00020600040101010101" pitchFamily="18" charset="-122"/>
                  <a:sym typeface="Inter" panose="020B0502030000000004" pitchFamily="34" charset="0"/>
                </a:rPr>
                <a:t>.</a:t>
              </a:r>
              <a:endParaRPr lang="en-US" altLang="zh-CN" sz="1200" dirty="0">
                <a:latin typeface="Inter" panose="020B0502030000000004" pitchFamily="34" charset="0"/>
                <a:ea typeface="Inter" panose="020B0502030000000004" pitchFamily="34" charset="0"/>
                <a:cs typeface="OPPOSans R" panose="00020600040101010101" pitchFamily="18" charset="-122"/>
                <a:sym typeface="Inter" panose="020B0502030000000004" pitchFamily="34" charset="0"/>
              </a:endParaRPr>
            </a:p>
          </p:txBody>
        </p:sp>
        <p:cxnSp>
          <p:nvCxnSpPr>
            <p:cNvPr id="35" name="直接连接符 44">
              <a:extLst>
                <a:ext uri="{FF2B5EF4-FFF2-40B4-BE49-F238E27FC236}">
                  <a16:creationId xmlns:a16="http://schemas.microsoft.com/office/drawing/2014/main" id="{A146385D-2DC6-514A-A3A6-10C65DA4E85C}"/>
                </a:ext>
              </a:extLst>
            </p:cNvPr>
            <p:cNvCxnSpPr>
              <a:cxnSpLocks/>
            </p:cNvCxnSpPr>
            <p:nvPr/>
          </p:nvCxnSpPr>
          <p:spPr>
            <a:xfrm>
              <a:off x="8925339" y="3568148"/>
              <a:ext cx="1078697" cy="112224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矩形 46">
              <a:extLst>
                <a:ext uri="{FF2B5EF4-FFF2-40B4-BE49-F238E27FC236}">
                  <a16:creationId xmlns:a16="http://schemas.microsoft.com/office/drawing/2014/main" id="{DED57C6D-4A1B-2E41-EE0B-87BAA5EEF9C3}"/>
                </a:ext>
              </a:extLst>
            </p:cNvPr>
            <p:cNvSpPr/>
            <p:nvPr/>
          </p:nvSpPr>
          <p:spPr>
            <a:xfrm>
              <a:off x="6053526" y="4367645"/>
              <a:ext cx="2215137" cy="234607"/>
            </a:xfrm>
            <a:prstGeom prst="rect">
              <a:avLst/>
            </a:prstGeom>
          </p:spPr>
          <p:txBody>
            <a:bodyPr vertOverflow="overflow" wrap="square">
              <a:spAutoFit/>
            </a:bodyPr>
            <a:lstStyle/>
            <a:p>
              <a:r>
                <a:rPr lang="en-US" altLang="zh-CN" sz="1200" b="1" dirty="0">
                  <a:latin typeface="Inter" panose="020B0502030000000004" pitchFamily="34" charset="0"/>
                  <a:ea typeface="Times New Roman"/>
                  <a:cs typeface="Times New Roman"/>
                  <a:sym typeface="Inter" panose="020B0502030000000004" pitchFamily="34" charset="0"/>
                </a:rPr>
                <a:t>24</a:t>
              </a:r>
              <a:r>
                <a:rPr lang="uk-UA" altLang="zh-CN" sz="1200" b="1" dirty="0">
                  <a:latin typeface="Inter" panose="020B0502030000000004" pitchFamily="34" charset="0"/>
                  <a:ea typeface="Times New Roman"/>
                  <a:cs typeface="Times New Roman"/>
                  <a:sym typeface="Inter" panose="020B0502030000000004" pitchFamily="34" charset="0"/>
                </a:rPr>
                <a:t> позиції для інкубації зразків</a:t>
              </a:r>
              <a:endParaRPr lang="en-US" altLang="zh-CN" sz="1200" b="1" dirty="0">
                <a:latin typeface="Inter" panose="020B0502030000000004" pitchFamily="34" charset="0"/>
                <a:ea typeface="Inter" panose="020B0502030000000004" pitchFamily="34" charset="0"/>
                <a:cs typeface="OPPOSans B" panose="00020600040101010101" pitchFamily="18" charset="-122"/>
                <a:sym typeface="Inter" panose="020B0502030000000004" pitchFamily="34" charset="0"/>
              </a:endParaRPr>
            </a:p>
          </p:txBody>
        </p:sp>
        <p:cxnSp>
          <p:nvCxnSpPr>
            <p:cNvPr id="37" name="直接连接符 47">
              <a:extLst>
                <a:ext uri="{FF2B5EF4-FFF2-40B4-BE49-F238E27FC236}">
                  <a16:creationId xmlns:a16="http://schemas.microsoft.com/office/drawing/2014/main" id="{327C7946-BB99-09C3-87AA-53AE5B535941}"/>
                </a:ext>
              </a:extLst>
            </p:cNvPr>
            <p:cNvCxnSpPr>
              <a:cxnSpLocks/>
              <a:endCxn id="36" idx="0"/>
            </p:cNvCxnSpPr>
            <p:nvPr/>
          </p:nvCxnSpPr>
          <p:spPr>
            <a:xfrm flipH="1">
              <a:off x="7161095" y="3568148"/>
              <a:ext cx="852377" cy="7994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矩形 51">
              <a:extLst>
                <a:ext uri="{FF2B5EF4-FFF2-40B4-BE49-F238E27FC236}">
                  <a16:creationId xmlns:a16="http://schemas.microsoft.com/office/drawing/2014/main" id="{407F1B12-6657-6085-39E8-B76CF0C5B4DE}"/>
                </a:ext>
              </a:extLst>
            </p:cNvPr>
            <p:cNvSpPr/>
            <p:nvPr/>
          </p:nvSpPr>
          <p:spPr>
            <a:xfrm>
              <a:off x="7843761" y="1695663"/>
              <a:ext cx="2673039" cy="234607"/>
            </a:xfrm>
            <a:prstGeom prst="rect">
              <a:avLst/>
            </a:prstGeom>
          </p:spPr>
          <p:txBody>
            <a:bodyPr vertOverflow="overflow" wrap="square">
              <a:spAutoFit/>
            </a:bodyPr>
            <a:lstStyle/>
            <a:p>
              <a:r>
                <a:rPr lang="uk-UA" altLang="zh-CN" sz="1200" b="1" dirty="0">
                  <a:latin typeface="Inter" panose="020B0502030000000004" pitchFamily="34" charset="0"/>
                  <a:ea typeface="Times New Roman"/>
                  <a:cs typeface="Times New Roman"/>
                  <a:sym typeface="Inter" panose="020B0502030000000004" pitchFamily="34" charset="0"/>
                </a:rPr>
                <a:t>6 позицій для інкубації реагентів</a:t>
              </a:r>
              <a:endParaRPr lang="en-US" altLang="zh-CN" sz="1200" b="1" dirty="0">
                <a:latin typeface="Inter" panose="020B0502030000000004" pitchFamily="34" charset="0"/>
                <a:ea typeface="Inter" panose="020B0502030000000004" pitchFamily="34" charset="0"/>
                <a:cs typeface="OPPOSans B" panose="00020600040101010101" pitchFamily="18" charset="-122"/>
                <a:sym typeface="Inter" panose="020B0502030000000004" pitchFamily="34" charset="0"/>
              </a:endParaRPr>
            </a:p>
          </p:txBody>
        </p:sp>
        <p:cxnSp>
          <p:nvCxnSpPr>
            <p:cNvPr id="39" name="直接连接符 52">
              <a:extLst>
                <a:ext uri="{FF2B5EF4-FFF2-40B4-BE49-F238E27FC236}">
                  <a16:creationId xmlns:a16="http://schemas.microsoft.com/office/drawing/2014/main" id="{CFFE7ACF-41EB-5831-C449-5466D6011F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78687" y="2067093"/>
              <a:ext cx="81821" cy="91513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10" descr="Экспресс-диагностика в практике врача | Health-ua">
            <a:extLst>
              <a:ext uri="{FF2B5EF4-FFF2-40B4-BE49-F238E27FC236}">
                <a16:creationId xmlns:a16="http://schemas.microsoft.com/office/drawing/2014/main" id="{024C83F3-9FDB-2C97-F3FD-5F64F0647C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363" b="98367" l="642" r="98396">
                        <a14:foregroundMark x1="30160" y1="23775" x2="30160" y2="23775"/>
                        <a14:foregroundMark x1="40107" y1="4537" x2="40107" y2="4537"/>
                        <a14:foregroundMark x1="2781" y1="29583" x2="2781" y2="29583"/>
                        <a14:foregroundMark x1="642" y1="64428" x2="642" y2="64428"/>
                        <a14:foregroundMark x1="3957" y1="67877" x2="3957" y2="67877"/>
                        <a14:foregroundMark x1="22781" y1="51180" x2="22781" y2="51180"/>
                        <a14:foregroundMark x1="29947" y1="57713" x2="29947" y2="57713"/>
                        <a14:foregroundMark x1="41711" y1="52813" x2="41711" y2="52813"/>
                        <a14:foregroundMark x1="49198" y1="51906" x2="49198" y2="51906"/>
                        <a14:foregroundMark x1="60214" y1="54265" x2="60214" y2="54265"/>
                        <a14:foregroundMark x1="69947" y1="60617" x2="69947" y2="60617"/>
                        <a14:foregroundMark x1="73797" y1="56261" x2="73797" y2="56261"/>
                        <a14:foregroundMark x1="80214" y1="56987" x2="80214" y2="56987"/>
                        <a14:foregroundMark x1="93369" y1="56261" x2="93369" y2="56261"/>
                        <a14:foregroundMark x1="97112" y1="57713" x2="97112" y2="57713"/>
                        <a14:foregroundMark x1="98182" y1="58802" x2="98182" y2="58802"/>
                        <a14:foregroundMark x1="27273" y1="51543" x2="27273" y2="51543"/>
                        <a14:foregroundMark x1="96257" y1="29220" x2="96257" y2="29220"/>
                        <a14:foregroundMark x1="94866" y1="29038" x2="94866" y2="29038"/>
                        <a14:foregroundMark x1="55829" y1="54991" x2="55829" y2="54991"/>
                        <a14:foregroundMark x1="57326" y1="56806" x2="57326" y2="56806"/>
                        <a14:foregroundMark x1="44920" y1="544" x2="44920" y2="544"/>
                        <a14:foregroundMark x1="43529" y1="1270" x2="43529" y2="1270"/>
                        <a14:foregroundMark x1="2888" y1="90926" x2="2888" y2="90926"/>
                        <a14:foregroundMark x1="4492" y1="91833" x2="4492" y2="91833"/>
                        <a14:foregroundMark x1="4171" y1="95100" x2="4171" y2="95100"/>
                        <a14:foregroundMark x1="4492" y1="97822" x2="4492" y2="97822"/>
                        <a14:foregroundMark x1="1711" y1="92922" x2="1711" y2="92922"/>
                        <a14:foregroundMark x1="7594" y1="91470" x2="7487" y2="92015"/>
                        <a14:foregroundMark x1="8449" y1="90563" x2="8984" y2="91107"/>
                        <a14:foregroundMark x1="9519" y1="94918" x2="9519" y2="95670"/>
                        <a14:foregroundMark x1="9519" y1="94192" x2="9519" y2="94918"/>
                        <a14:foregroundMark x1="8663" y1="96915" x2="8663" y2="96915"/>
                        <a14:foregroundMark x1="8770" y1="97096" x2="8770" y2="97096"/>
                        <a14:foregroundMark x1="8770" y1="97096" x2="8342" y2="96915"/>
                        <a14:foregroundMark x1="12513" y1="94555" x2="13048" y2="94555"/>
                        <a14:foregroundMark x1="19251" y1="91107" x2="19251" y2="91107"/>
                        <a14:foregroundMark x1="24599" y1="90381" x2="24599" y2="90381"/>
                        <a14:foregroundMark x1="31230" y1="91470" x2="31230" y2="91470"/>
                        <a14:foregroundMark x1="36257" y1="90563" x2="36257" y2="90563"/>
                        <a14:foregroundMark x1="34225" y1="90018" x2="34225" y2="90018"/>
                        <a14:foregroundMark x1="35508" y1="93285" x2="35508" y2="93285"/>
                        <a14:foregroundMark x1="41283" y1="90563" x2="41497" y2="90381"/>
                        <a14:foregroundMark x1="45561" y1="93648" x2="45561" y2="93648"/>
                        <a14:foregroundMark x1="35401" y1="98004" x2="35401" y2="98004"/>
                        <a14:foregroundMark x1="50802" y1="94737" x2="50802" y2="94737"/>
                        <a14:foregroundMark x1="55508" y1="94918" x2="55508" y2="94918"/>
                        <a14:foregroundMark x1="61176" y1="94374" x2="61176" y2="94374"/>
                        <a14:foregroundMark x1="68770" y1="94555" x2="68770" y2="94555"/>
                        <a14:foregroundMark x1="73797" y1="95281" x2="73797" y2="95281"/>
                        <a14:foregroundMark x1="73904" y1="91107" x2="73904" y2="91107"/>
                        <a14:foregroundMark x1="81925" y1="98367" x2="81925" y2="98367"/>
                        <a14:foregroundMark x1="87487" y1="94192" x2="87487" y2="94192"/>
                        <a14:foregroundMark x1="96150" y1="94011" x2="96150" y2="94011"/>
                        <a14:foregroundMark x1="98396" y1="93466" x2="98396" y2="93466"/>
                        <a14:foregroundMark x1="4064" y1="68058" x2="3484" y2="67763"/>
                        <a14:foregroundMark x1="21007" y1="7435" x2="21007" y2="7435"/>
                        <a14:foregroundMark x1="96499" y1="31599" x2="96499" y2="31599"/>
                        <a14:foregroundMark x1="96718" y1="29368" x2="96718" y2="29368"/>
                        <a14:backgroundMark x1="97112" y1="29038" x2="97112" y2="29038"/>
                        <a14:backgroundMark x1="8449" y1="94918" x2="8449" y2="94918"/>
                        <a14:backgroundMark x1="8235" y1="99093" x2="8556" y2="99093"/>
                        <a14:backgroundMark x1="2032" y1="66425" x2="3102" y2="66788"/>
                        <a14:backgroundMark x1="3209" y1="66788" x2="3850" y2="66788"/>
                        <a14:backgroundMark x1="14118" y1="96915" x2="14118" y2="96915"/>
                        <a14:backgroundMark x1="25668" y1="92015" x2="25668" y2="92015"/>
                        <a14:backgroundMark x1="31123" y1="94737" x2="31123" y2="94737"/>
                        <a14:backgroundMark x1="31551" y1="99456" x2="31551" y2="99456"/>
                        <a14:backgroundMark x1="46524" y1="92922" x2="46952" y2="92740"/>
                        <a14:backgroundMark x1="55401" y1="92196" x2="55401" y2="92196"/>
                        <a14:backgroundMark x1="54973" y1="98548" x2="54973" y2="98548"/>
                        <a14:backgroundMark x1="62460" y1="92740" x2="62460" y2="92740"/>
                        <a14:backgroundMark x1="62567" y1="97278" x2="62567" y2="97278"/>
                        <a14:backgroundMark x1="70160" y1="99637" x2="70695" y2="99637"/>
                        <a14:backgroundMark x1="76043" y1="98911" x2="76043" y2="98911"/>
                        <a14:backgroundMark x1="8972" y1="44981" x2="12473" y2="46097"/>
                        <a14:backgroundMark x1="11379" y1="46468" x2="12254" y2="47212"/>
                        <a14:backgroundMark x1="7659" y1="46468" x2="7659" y2="46468"/>
                        <a14:backgroundMark x1="8315" y1="46468" x2="8315" y2="46468"/>
                        <a14:backgroundMark x1="7440" y1="45353" x2="7440" y2="45353"/>
                        <a14:backgroundMark x1="6783" y1="45353" x2="6783" y2="45353"/>
                        <a14:backgroundMark x1="7002" y1="44238" x2="9190" y2="44238"/>
                        <a14:backgroundMark x1="6565" y1="44238" x2="7002" y2="44610"/>
                        <a14:backgroundMark x1="12473" y1="46097" x2="12910" y2="47584"/>
                        <a14:backgroundMark x1="5033" y1="65799" x2="5033" y2="65799"/>
                        <a14:backgroundMark x1="4595" y1="66171" x2="4158" y2="66543"/>
                        <a14:backgroundMark x1="94530" y1="98141" x2="94530" y2="98141"/>
                        <a14:backgroundMark x1="99125" y1="29740" x2="99125" y2="29740"/>
                        <a14:backgroundMark x1="96718" y1="32714" x2="96718" y2="32714"/>
                        <a14:backgroundMark x1="96061" y1="30112" x2="96061" y2="30112"/>
                        <a14:backgroundMark x1="95624" y1="28625" x2="95624" y2="286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639" y="5733167"/>
            <a:ext cx="1532162" cy="902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5577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ECE9131-D9D2-A270-5018-3A29CEF7F93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109893" y="0"/>
            <a:ext cx="12411785" cy="71469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B79785-EC7E-F446-10C9-033C04C45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321" y="1122078"/>
            <a:ext cx="3831377" cy="855664"/>
          </a:xfrm>
        </p:spPr>
        <p:txBody>
          <a:bodyPr>
            <a:noAutofit/>
          </a:bodyPr>
          <a:lstStyle/>
          <a:p>
            <a:pPr algn="ctr"/>
            <a:r>
              <a:rPr lang="uk-UA" sz="3100" b="1" dirty="0"/>
              <a:t>Напівавтоматичний </a:t>
            </a:r>
            <a:r>
              <a:rPr lang="uk-UA" sz="3100" b="1" dirty="0" err="1"/>
              <a:t>коагулометр</a:t>
            </a:r>
            <a:r>
              <a:rPr lang="uk-UA" sz="3100" b="1" dirty="0"/>
              <a:t> </a:t>
            </a:r>
            <a:r>
              <a:rPr lang="en-US" sz="3100" b="1" dirty="0"/>
              <a:t>DC1040</a:t>
            </a:r>
            <a:endParaRPr lang="uk-UA" sz="3100" dirty="0"/>
          </a:p>
        </p:txBody>
      </p:sp>
      <p:grpSp>
        <p:nvGrpSpPr>
          <p:cNvPr id="5" name="组合 34">
            <a:extLst>
              <a:ext uri="{FF2B5EF4-FFF2-40B4-BE49-F238E27FC236}">
                <a16:creationId xmlns:a16="http://schemas.microsoft.com/office/drawing/2014/main" id="{57B6D1C1-DC32-03FB-624E-EF55BF6CEC38}"/>
              </a:ext>
            </a:extLst>
          </p:cNvPr>
          <p:cNvGrpSpPr/>
          <p:nvPr/>
        </p:nvGrpSpPr>
        <p:grpSpPr>
          <a:xfrm>
            <a:off x="40055" y="2268879"/>
            <a:ext cx="4237909" cy="2923792"/>
            <a:chOff x="1800308" y="1538857"/>
            <a:chExt cx="4819667" cy="2909456"/>
          </a:xfrm>
        </p:grpSpPr>
        <p:pic>
          <p:nvPicPr>
            <p:cNvPr id="6" name="图片 2">
              <a:extLst>
                <a:ext uri="{FF2B5EF4-FFF2-40B4-BE49-F238E27FC236}">
                  <a16:creationId xmlns:a16="http://schemas.microsoft.com/office/drawing/2014/main" id="{EE5CA40E-45D8-F27E-5C1F-CD7A9DDE3BC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3136" b="72966" l="25678" r="94153">
                          <a14:foregroundMark x1="73390" y1="47542" x2="80765" y2="58209"/>
                          <a14:foregroundMark x1="85424" y1="58220" x2="92458" y2="65085"/>
                          <a14:foregroundMark x1="92458" y1="65085" x2="92507" y2="65527"/>
                          <a14:foregroundMark x1="52119" y1="33305" x2="25678" y2="33136"/>
                          <a14:foregroundMark x1="29153" y1="37542" x2="36102" y2="63814"/>
                          <a14:foregroundMark x1="88475" y1="65763" x2="90847" y2="68559"/>
                          <a14:foregroundMark x1="92542" y1="70678" x2="92658" y2="71372"/>
                          <a14:foregroundMark x1="91610" y1="69915" x2="92542" y2="70593"/>
                          <a14:foregroundMark x1="93051" y1="71102" x2="93051" y2="71356"/>
                          <a14:foregroundMark x1="93390" y1="71780" x2="94153" y2="72966"/>
                          <a14:backgroundMark x1="82712" y1="60424" x2="81695" y2="59492"/>
                          <a14:backgroundMark x1="81610" y1="60085" x2="83475" y2="61525"/>
                          <a14:backgroundMark x1="83051" y1="62288" x2="83305" y2="61610"/>
                          <a14:backgroundMark x1="81610" y1="59831" x2="81017" y2="59576"/>
                          <a14:backgroundMark x1="83136" y1="60932" x2="83475" y2="62119"/>
                          <a14:backgroundMark x1="92542" y1="65508" x2="92881" y2="66102"/>
                          <a14:backgroundMark x1="92542" y1="71441" x2="93051" y2="7220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46" t="29429" r="5822" b="25646"/>
            <a:stretch/>
          </p:blipFill>
          <p:spPr>
            <a:xfrm>
              <a:off x="2625266" y="1696800"/>
              <a:ext cx="3994709" cy="2593570"/>
            </a:xfrm>
            <a:prstGeom prst="round1Rect">
              <a:avLst/>
            </a:prstGeom>
          </p:spPr>
        </p:pic>
        <p:pic>
          <p:nvPicPr>
            <p:cNvPr id="7" name="图片 3">
              <a:extLst>
                <a:ext uri="{FF2B5EF4-FFF2-40B4-BE49-F238E27FC236}">
                  <a16:creationId xmlns:a16="http://schemas.microsoft.com/office/drawing/2014/main" id="{C9E74BD8-FFAA-FDE6-4563-9A5C899D90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800308" y="1538857"/>
              <a:ext cx="3840480" cy="2909456"/>
            </a:xfrm>
            <a:prstGeom prst="rect">
              <a:avLst/>
            </a:prstGeom>
          </p:spPr>
        </p:pic>
      </p:grpSp>
      <p:pic>
        <p:nvPicPr>
          <p:cNvPr id="18" name="Picture 10" descr="Экспресс-диагностика в практике врача | Health-ua">
            <a:extLst>
              <a:ext uri="{FF2B5EF4-FFF2-40B4-BE49-F238E27FC236}">
                <a16:creationId xmlns:a16="http://schemas.microsoft.com/office/drawing/2014/main" id="{0E246E13-8FAA-67E6-482B-AFBECBF9C8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63" b="98367" l="642" r="98396">
                        <a14:foregroundMark x1="30160" y1="23775" x2="30160" y2="23775"/>
                        <a14:foregroundMark x1="40107" y1="4537" x2="40107" y2="4537"/>
                        <a14:foregroundMark x1="2781" y1="29583" x2="2781" y2="29583"/>
                        <a14:foregroundMark x1="642" y1="64428" x2="642" y2="64428"/>
                        <a14:foregroundMark x1="3957" y1="67877" x2="3957" y2="67877"/>
                        <a14:foregroundMark x1="22781" y1="51180" x2="22781" y2="51180"/>
                        <a14:foregroundMark x1="29947" y1="57713" x2="29947" y2="57713"/>
                        <a14:foregroundMark x1="41711" y1="52813" x2="41711" y2="52813"/>
                        <a14:foregroundMark x1="49198" y1="51906" x2="49198" y2="51906"/>
                        <a14:foregroundMark x1="60214" y1="54265" x2="60214" y2="54265"/>
                        <a14:foregroundMark x1="69947" y1="60617" x2="69947" y2="60617"/>
                        <a14:foregroundMark x1="73797" y1="56261" x2="73797" y2="56261"/>
                        <a14:foregroundMark x1="80214" y1="56987" x2="80214" y2="56987"/>
                        <a14:foregroundMark x1="93369" y1="56261" x2="93369" y2="56261"/>
                        <a14:foregroundMark x1="97112" y1="57713" x2="97112" y2="57713"/>
                        <a14:foregroundMark x1="98182" y1="58802" x2="98182" y2="58802"/>
                        <a14:foregroundMark x1="27273" y1="51543" x2="27273" y2="51543"/>
                        <a14:foregroundMark x1="96257" y1="29220" x2="96257" y2="29220"/>
                        <a14:foregroundMark x1="94866" y1="29038" x2="94866" y2="29038"/>
                        <a14:foregroundMark x1="55829" y1="54991" x2="55829" y2="54991"/>
                        <a14:foregroundMark x1="57326" y1="56806" x2="57326" y2="56806"/>
                        <a14:foregroundMark x1="44920" y1="544" x2="44920" y2="544"/>
                        <a14:foregroundMark x1="43529" y1="1270" x2="43529" y2="1270"/>
                        <a14:foregroundMark x1="2888" y1="90926" x2="2888" y2="90926"/>
                        <a14:foregroundMark x1="4492" y1="91833" x2="4492" y2="91833"/>
                        <a14:foregroundMark x1="4171" y1="95100" x2="4171" y2="95100"/>
                        <a14:foregroundMark x1="4492" y1="97822" x2="4492" y2="97822"/>
                        <a14:foregroundMark x1="1711" y1="92922" x2="1711" y2="92922"/>
                        <a14:foregroundMark x1="7594" y1="91470" x2="7487" y2="92015"/>
                        <a14:foregroundMark x1="8449" y1="90563" x2="8984" y2="91107"/>
                        <a14:foregroundMark x1="9519" y1="94918" x2="9519" y2="95670"/>
                        <a14:foregroundMark x1="9519" y1="94192" x2="9519" y2="94918"/>
                        <a14:foregroundMark x1="8663" y1="96915" x2="8663" y2="96915"/>
                        <a14:foregroundMark x1="8770" y1="97096" x2="8770" y2="97096"/>
                        <a14:foregroundMark x1="8770" y1="97096" x2="8342" y2="96915"/>
                        <a14:foregroundMark x1="12513" y1="94555" x2="13048" y2="94555"/>
                        <a14:foregroundMark x1="19251" y1="91107" x2="19251" y2="91107"/>
                        <a14:foregroundMark x1="24599" y1="90381" x2="24599" y2="90381"/>
                        <a14:foregroundMark x1="31230" y1="91470" x2="31230" y2="91470"/>
                        <a14:foregroundMark x1="36257" y1="90563" x2="36257" y2="90563"/>
                        <a14:foregroundMark x1="34225" y1="90018" x2="34225" y2="90018"/>
                        <a14:foregroundMark x1="35508" y1="93285" x2="35508" y2="93285"/>
                        <a14:foregroundMark x1="41283" y1="90563" x2="41497" y2="90381"/>
                        <a14:foregroundMark x1="45561" y1="93648" x2="45561" y2="93648"/>
                        <a14:foregroundMark x1="35401" y1="98004" x2="35401" y2="98004"/>
                        <a14:foregroundMark x1="50802" y1="94737" x2="50802" y2="94737"/>
                        <a14:foregroundMark x1="55508" y1="94918" x2="55508" y2="94918"/>
                        <a14:foregroundMark x1="61176" y1="94374" x2="61176" y2="94374"/>
                        <a14:foregroundMark x1="68770" y1="94555" x2="68770" y2="94555"/>
                        <a14:foregroundMark x1="73797" y1="95281" x2="73797" y2="95281"/>
                        <a14:foregroundMark x1="73904" y1="91107" x2="73904" y2="91107"/>
                        <a14:foregroundMark x1="81925" y1="98367" x2="81925" y2="98367"/>
                        <a14:foregroundMark x1="87487" y1="94192" x2="87487" y2="94192"/>
                        <a14:foregroundMark x1="96150" y1="94011" x2="96150" y2="94011"/>
                        <a14:foregroundMark x1="98396" y1="93466" x2="98396" y2="93466"/>
                        <a14:foregroundMark x1="4064" y1="68058" x2="3484" y2="67763"/>
                        <a14:foregroundMark x1="21007" y1="7435" x2="21007" y2="7435"/>
                        <a14:foregroundMark x1="96499" y1="31599" x2="96499" y2="31599"/>
                        <a14:foregroundMark x1="96718" y1="29368" x2="96718" y2="29368"/>
                        <a14:backgroundMark x1="97112" y1="29038" x2="97112" y2="29038"/>
                        <a14:backgroundMark x1="8449" y1="94918" x2="8449" y2="94918"/>
                        <a14:backgroundMark x1="8235" y1="99093" x2="8556" y2="99093"/>
                        <a14:backgroundMark x1="2032" y1="66425" x2="3102" y2="66788"/>
                        <a14:backgroundMark x1="3209" y1="66788" x2="3850" y2="66788"/>
                        <a14:backgroundMark x1="14118" y1="96915" x2="14118" y2="96915"/>
                        <a14:backgroundMark x1="25668" y1="92015" x2="25668" y2="92015"/>
                        <a14:backgroundMark x1="31123" y1="94737" x2="31123" y2="94737"/>
                        <a14:backgroundMark x1="31551" y1="99456" x2="31551" y2="99456"/>
                        <a14:backgroundMark x1="46524" y1="92922" x2="46952" y2="92740"/>
                        <a14:backgroundMark x1="55401" y1="92196" x2="55401" y2="92196"/>
                        <a14:backgroundMark x1="54973" y1="98548" x2="54973" y2="98548"/>
                        <a14:backgroundMark x1="62460" y1="92740" x2="62460" y2="92740"/>
                        <a14:backgroundMark x1="62567" y1="97278" x2="62567" y2="97278"/>
                        <a14:backgroundMark x1="70160" y1="99637" x2="70695" y2="99637"/>
                        <a14:backgroundMark x1="76043" y1="98911" x2="76043" y2="98911"/>
                        <a14:backgroundMark x1="8972" y1="44981" x2="12473" y2="46097"/>
                        <a14:backgroundMark x1="11379" y1="46468" x2="12254" y2="47212"/>
                        <a14:backgroundMark x1="7659" y1="46468" x2="7659" y2="46468"/>
                        <a14:backgroundMark x1="8315" y1="46468" x2="8315" y2="46468"/>
                        <a14:backgroundMark x1="7440" y1="45353" x2="7440" y2="45353"/>
                        <a14:backgroundMark x1="6783" y1="45353" x2="6783" y2="45353"/>
                        <a14:backgroundMark x1="7002" y1="44238" x2="9190" y2="44238"/>
                        <a14:backgroundMark x1="6565" y1="44238" x2="7002" y2="44610"/>
                        <a14:backgroundMark x1="12473" y1="46097" x2="12910" y2="47584"/>
                        <a14:backgroundMark x1="5033" y1="65799" x2="5033" y2="65799"/>
                        <a14:backgroundMark x1="4595" y1="66171" x2="4158" y2="66543"/>
                        <a14:backgroundMark x1="94530" y1="98141" x2="94530" y2="98141"/>
                        <a14:backgroundMark x1="99125" y1="29740" x2="99125" y2="29740"/>
                        <a14:backgroundMark x1="96718" y1="32714" x2="96718" y2="32714"/>
                        <a14:backgroundMark x1="96061" y1="30112" x2="96061" y2="30112"/>
                        <a14:backgroundMark x1="95624" y1="28625" x2="95624" y2="286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49" y="5797702"/>
            <a:ext cx="1532162" cy="902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9" name="表格 6">
            <a:extLst>
              <a:ext uri="{FF2B5EF4-FFF2-40B4-BE49-F238E27FC236}">
                <a16:creationId xmlns:a16="http://schemas.microsoft.com/office/drawing/2014/main" id="{30994391-8F77-F03E-3520-D3EF6E4D3E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3043779"/>
              </p:ext>
            </p:extLst>
          </p:nvPr>
        </p:nvGraphicFramePr>
        <p:xfrm>
          <a:off x="4408714" y="129540"/>
          <a:ext cx="7682975" cy="6754709"/>
        </p:xfrm>
        <a:graphic>
          <a:graphicData uri="http://schemas.openxmlformats.org/drawingml/2006/table">
            <a:tbl>
              <a:tblPr bandRow="1">
                <a:tableStyleId>{0E3FDE45-AF77-4B5C-9715-49D594BDF05E}</a:tableStyleId>
              </a:tblPr>
              <a:tblGrid>
                <a:gridCol w="3041482">
                  <a:extLst>
                    <a:ext uri="{9D8B030D-6E8A-4147-A177-3AD203B41FA5}">
                      <a16:colId xmlns:a16="http://schemas.microsoft.com/office/drawing/2014/main" val="2911536685"/>
                    </a:ext>
                  </a:extLst>
                </a:gridCol>
                <a:gridCol w="4641493">
                  <a:extLst>
                    <a:ext uri="{9D8B030D-6E8A-4147-A177-3AD203B41FA5}">
                      <a16:colId xmlns:a16="http://schemas.microsoft.com/office/drawing/2014/main" val="2419987932"/>
                    </a:ext>
                  </a:extLst>
                </a:gridCol>
              </a:tblGrid>
              <a:tr h="471387">
                <a:tc>
                  <a:txBody>
                    <a:bodyPr/>
                    <a:lstStyle/>
                    <a:p>
                      <a:r>
                        <a:rPr lang="uk-UA" altLang="zh-CN" sz="1300" b="1" dirty="0">
                          <a:latin typeface="+mn-lt"/>
                          <a:ea typeface="Times New Roman"/>
                          <a:cs typeface="Times New Roman"/>
                          <a:sym typeface="Inter" panose="020B0502030000000004" pitchFamily="34" charset="0"/>
                        </a:rPr>
                        <a:t>Будова</a:t>
                      </a:r>
                      <a:endParaRPr lang="zh-CN" altLang="en-US" sz="1300" b="1" dirty="0">
                        <a:latin typeface="+mn-lt"/>
                        <a:ea typeface="Times New Roman"/>
                        <a:cs typeface="Times New Roman"/>
                        <a:sym typeface="Inter" panose="020B05020300000000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altLang="zh-CN" sz="1300" dirty="0">
                          <a:latin typeface="+mn-lt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Inter" panose="020B0502030000000004" pitchFamily="34" charset="0"/>
                        </a:rPr>
                        <a:t>Модуль </a:t>
                      </a:r>
                      <a:r>
                        <a:rPr lang="ru-RU" altLang="zh-CN" sz="1300" dirty="0" err="1">
                          <a:latin typeface="+mn-lt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Inter" panose="020B0502030000000004" pitchFamily="34" charset="0"/>
                        </a:rPr>
                        <a:t>нагрівання</a:t>
                      </a:r>
                      <a:r>
                        <a:rPr lang="ru-RU" altLang="zh-CN" sz="1300" dirty="0">
                          <a:latin typeface="+mn-lt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Inter" panose="020B0502030000000004" pitchFamily="34" charset="0"/>
                        </a:rPr>
                        <a:t>, </a:t>
                      </a:r>
                      <a:r>
                        <a:rPr lang="ru-RU" altLang="zh-CN" sz="1300" dirty="0" err="1">
                          <a:latin typeface="+mn-lt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Inter" panose="020B0502030000000004" pitchFamily="34" charset="0"/>
                        </a:rPr>
                        <a:t>сенсорний</a:t>
                      </a:r>
                      <a:r>
                        <a:rPr lang="ru-RU" altLang="zh-CN" sz="1300" dirty="0">
                          <a:latin typeface="+mn-lt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Inter" panose="020B0502030000000004" pitchFamily="34" charset="0"/>
                        </a:rPr>
                        <a:t> </a:t>
                      </a:r>
                      <a:r>
                        <a:rPr lang="ru-RU" altLang="zh-CN" sz="1300" dirty="0" err="1">
                          <a:latin typeface="+mn-lt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Inter" panose="020B0502030000000004" pitchFamily="34" charset="0"/>
                        </a:rPr>
                        <a:t>екран</a:t>
                      </a:r>
                      <a:r>
                        <a:rPr lang="ru-RU" altLang="zh-CN" sz="1300" dirty="0">
                          <a:latin typeface="+mn-lt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Inter" panose="020B0502030000000004" pitchFamily="34" charset="0"/>
                        </a:rPr>
                        <a:t>, </a:t>
                      </a:r>
                      <a:r>
                        <a:rPr lang="ru-RU" altLang="zh-CN" sz="1300" dirty="0" err="1">
                          <a:latin typeface="+mn-lt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Inter" panose="020B0502030000000004" pitchFamily="34" charset="0"/>
                        </a:rPr>
                        <a:t>стартова</a:t>
                      </a:r>
                      <a:r>
                        <a:rPr lang="ru-RU" altLang="zh-CN" sz="1300" dirty="0">
                          <a:latin typeface="+mn-lt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Inter" panose="020B0502030000000004" pitchFamily="34" charset="0"/>
                        </a:rPr>
                        <a:t> </a:t>
                      </a:r>
                      <a:r>
                        <a:rPr lang="ru-RU" altLang="zh-CN" sz="1300" dirty="0" err="1">
                          <a:latin typeface="+mn-lt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Inter" panose="020B0502030000000004" pitchFamily="34" charset="0"/>
                        </a:rPr>
                        <a:t>піпетка</a:t>
                      </a:r>
                      <a:r>
                        <a:rPr lang="ru-RU" altLang="zh-CN" sz="1300" dirty="0">
                          <a:latin typeface="+mn-lt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Inter" panose="020B0502030000000004" pitchFamily="34" charset="0"/>
                        </a:rPr>
                        <a:t>, </a:t>
                      </a:r>
                      <a:r>
                        <a:rPr lang="ru-RU" altLang="zh-CN" sz="1300" dirty="0" err="1">
                          <a:latin typeface="+mn-lt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Inter" panose="020B0502030000000004" pitchFamily="34" charset="0"/>
                        </a:rPr>
                        <a:t>вимірювальні</a:t>
                      </a:r>
                      <a:r>
                        <a:rPr lang="ru-RU" altLang="zh-CN" sz="1300" dirty="0">
                          <a:latin typeface="+mn-lt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Inter" panose="020B0502030000000004" pitchFamily="34" charset="0"/>
                        </a:rPr>
                        <a:t> </a:t>
                      </a:r>
                      <a:r>
                        <a:rPr lang="ru-RU" altLang="zh-CN" sz="1300" dirty="0" err="1">
                          <a:latin typeface="+mn-lt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Inter" panose="020B0502030000000004" pitchFamily="34" charset="0"/>
                        </a:rPr>
                        <a:t>канали</a:t>
                      </a:r>
                      <a:r>
                        <a:rPr lang="ru-RU" altLang="zh-CN" sz="1300" dirty="0">
                          <a:latin typeface="+mn-lt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Inter" panose="020B0502030000000004" pitchFamily="34" charset="0"/>
                        </a:rPr>
                        <a:t>, принтер</a:t>
                      </a:r>
                      <a:endParaRPr lang="zh-CN" altLang="en-US" sz="1300" dirty="0">
                        <a:latin typeface="+mn-lt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Inter" panose="020B05020300000000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4833337"/>
                  </a:ext>
                </a:extLst>
              </a:tr>
              <a:tr h="279886">
                <a:tc>
                  <a:txBody>
                    <a:bodyPr/>
                    <a:lstStyle/>
                    <a:p>
                      <a:r>
                        <a:rPr lang="uk-UA" altLang="zh-CN" sz="1300" b="1" dirty="0">
                          <a:latin typeface="+mn-lt"/>
                          <a:ea typeface="Times New Roman"/>
                          <a:cs typeface="Times New Roman"/>
                          <a:sym typeface="Inter" panose="020B0502030000000004" pitchFamily="34" charset="0"/>
                        </a:rPr>
                        <a:t>Кількість вимірювальних каналів</a:t>
                      </a:r>
                      <a:endParaRPr lang="zh-CN" altLang="en-US" sz="1300" b="1" dirty="0">
                        <a:latin typeface="+mn-lt"/>
                        <a:ea typeface="Times New Roman"/>
                        <a:cs typeface="Times New Roman"/>
                        <a:sym typeface="Inter" panose="020B05020300000000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300" dirty="0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4</a:t>
                      </a:r>
                      <a:r>
                        <a:rPr lang="uk-UA" altLang="zh-CN" sz="1300" dirty="0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 </a:t>
                      </a:r>
                      <a:endParaRPr lang="zh-CN" altLang="en-US" sz="1300" dirty="0">
                        <a:latin typeface="+mn-lt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Inter" panose="020B05020300000000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2878495"/>
                  </a:ext>
                </a:extLst>
              </a:tr>
              <a:tr h="279886">
                <a:tc>
                  <a:txBody>
                    <a:bodyPr/>
                    <a:lstStyle/>
                    <a:p>
                      <a:r>
                        <a:rPr lang="uk-UA" altLang="zh-CN" sz="1300" b="1" dirty="0">
                          <a:latin typeface="+mn-lt"/>
                          <a:ea typeface="Times New Roman"/>
                          <a:cs typeface="Times New Roman"/>
                          <a:sym typeface="Inter" panose="020B0502030000000004" pitchFamily="34" charset="0"/>
                        </a:rPr>
                        <a:t>Метод дослідження</a:t>
                      </a:r>
                      <a:endParaRPr lang="zh-CN" altLang="en-US" sz="1300" b="1" dirty="0">
                        <a:latin typeface="+mn-lt"/>
                        <a:ea typeface="Times New Roman"/>
                        <a:cs typeface="Times New Roman"/>
                        <a:sym typeface="Inter" panose="020B05020300000000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altLang="zh-CN" sz="1300" u="none" strike="noStrike" dirty="0" err="1">
                          <a:effectLst/>
                          <a:latin typeface="+mn-lt"/>
                          <a:ea typeface="Times New Roman"/>
                          <a:cs typeface="Times New Roman"/>
                          <a:sym typeface="Inter" panose="020B0502030000000004" pitchFamily="34" charset="0"/>
                        </a:rPr>
                        <a:t>Клотинговий</a:t>
                      </a:r>
                      <a:r>
                        <a:rPr lang="uk-UA" altLang="zh-CN" sz="1300" u="none" strike="noStrike" dirty="0">
                          <a:effectLst/>
                          <a:latin typeface="+mn-lt"/>
                          <a:ea typeface="Times New Roman"/>
                          <a:cs typeface="Times New Roman"/>
                          <a:sym typeface="Inter" panose="020B0502030000000004" pitchFamily="34" charset="0"/>
                        </a:rPr>
                        <a:t> (оптичний) метод</a:t>
                      </a:r>
                      <a:endParaRPr lang="zh-CN" alt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Inter" panose="020B05020300000000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7869404"/>
                  </a:ext>
                </a:extLst>
              </a:tr>
              <a:tr h="471387">
                <a:tc>
                  <a:txBody>
                    <a:bodyPr/>
                    <a:lstStyle/>
                    <a:p>
                      <a:r>
                        <a:rPr lang="uk-UA" altLang="zh-CN" sz="1300" b="1" dirty="0">
                          <a:latin typeface="+mn-lt"/>
                          <a:ea typeface="Times New Roman"/>
                          <a:cs typeface="Times New Roman"/>
                          <a:sym typeface="Inter" panose="020B0502030000000004" pitchFamily="34" charset="0"/>
                        </a:rPr>
                        <a:t>Довжини хвиль</a:t>
                      </a:r>
                      <a:endParaRPr lang="zh-CN" altLang="en-US" sz="1300" b="1" dirty="0">
                        <a:latin typeface="+mn-lt"/>
                        <a:ea typeface="Times New Roman"/>
                        <a:cs typeface="Times New Roman"/>
                        <a:sym typeface="Inter" panose="020B05020300000000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300" dirty="0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405</a:t>
                      </a:r>
                      <a:r>
                        <a:rPr lang="uk-UA" altLang="zh-CN" sz="1300" dirty="0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 нм</a:t>
                      </a:r>
                      <a:r>
                        <a:rPr lang="en-US" altLang="zh-CN" sz="1300" dirty="0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, 660</a:t>
                      </a:r>
                      <a:r>
                        <a:rPr lang="uk-UA" altLang="zh-CN" sz="1300" dirty="0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 нм</a:t>
                      </a:r>
                      <a:r>
                        <a:rPr lang="en-US" altLang="zh-CN" sz="1300" dirty="0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, </a:t>
                      </a:r>
                      <a:r>
                        <a:rPr lang="uk-UA" altLang="zh-CN" sz="1300" dirty="0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хвилі можна перемикати на кожному каналі вимірювання </a:t>
                      </a:r>
                      <a:r>
                        <a:rPr lang="ru-RU" altLang="zh-CN" sz="1300" dirty="0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для </a:t>
                      </a:r>
                      <a:r>
                        <a:rPr lang="ru-RU" altLang="zh-CN" sz="1300" dirty="0" err="1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покращеної</a:t>
                      </a:r>
                      <a:r>
                        <a:rPr lang="ru-RU" altLang="zh-CN" sz="1300" dirty="0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 </a:t>
                      </a:r>
                      <a:r>
                        <a:rPr lang="ru-RU" altLang="zh-CN" sz="1300" dirty="0" err="1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сумісності</a:t>
                      </a:r>
                      <a:r>
                        <a:rPr lang="ru-RU" altLang="zh-CN" sz="1300" dirty="0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 </a:t>
                      </a:r>
                      <a:r>
                        <a:rPr lang="ru-RU" altLang="zh-CN" sz="1300" dirty="0" err="1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різних</a:t>
                      </a:r>
                      <a:r>
                        <a:rPr lang="ru-RU" altLang="zh-CN" sz="1300" dirty="0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 </a:t>
                      </a:r>
                      <a:r>
                        <a:rPr lang="ru-RU" altLang="zh-CN" sz="1300" dirty="0" err="1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реагентів</a:t>
                      </a:r>
                      <a:endParaRPr lang="en-US" altLang="zh-CN" sz="1300" dirty="0">
                        <a:latin typeface="+mn-lt"/>
                        <a:ea typeface="Inter" panose="020B0502030000000004" pitchFamily="34" charset="0"/>
                        <a:cs typeface="Times New Roman"/>
                        <a:sym typeface="Inter" panose="020B05020300000000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927413"/>
                  </a:ext>
                </a:extLst>
              </a:tr>
              <a:tr h="226523">
                <a:tc>
                  <a:txBody>
                    <a:bodyPr/>
                    <a:lstStyle/>
                    <a:p>
                      <a:r>
                        <a:rPr lang="uk-UA" altLang="zh-CN" sz="1300" b="1" dirty="0">
                          <a:latin typeface="+mn-lt"/>
                          <a:ea typeface="Times New Roman"/>
                          <a:cs typeface="Times New Roman"/>
                          <a:sym typeface="Inter" panose="020B0502030000000004" pitchFamily="34" charset="0"/>
                        </a:rPr>
                        <a:t>Параметри дослідження</a:t>
                      </a:r>
                      <a:endParaRPr lang="zh-CN" altLang="en-US" sz="1300" b="1" dirty="0">
                        <a:latin typeface="+mn-lt"/>
                        <a:ea typeface="Times New Roman"/>
                        <a:cs typeface="Times New Roman"/>
                        <a:sym typeface="Inter" panose="020B05020300000000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altLang="zh-CN" sz="1300" dirty="0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ПТ</a:t>
                      </a:r>
                      <a:r>
                        <a:rPr lang="en-US" altLang="zh-CN" sz="1300" dirty="0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, </a:t>
                      </a:r>
                      <a:r>
                        <a:rPr lang="uk-UA" altLang="zh-CN" sz="1300" dirty="0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АЧТЧ</a:t>
                      </a:r>
                      <a:r>
                        <a:rPr lang="en-US" altLang="zh-CN" sz="1300" dirty="0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, T</a:t>
                      </a:r>
                      <a:r>
                        <a:rPr lang="uk-UA" altLang="zh-CN" sz="1300" dirty="0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Ч</a:t>
                      </a:r>
                      <a:r>
                        <a:rPr lang="en-US" altLang="zh-CN" sz="1300" dirty="0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, </a:t>
                      </a:r>
                      <a:r>
                        <a:rPr lang="uk-UA" altLang="zh-CN" sz="1300" dirty="0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ФІБ</a:t>
                      </a:r>
                      <a:r>
                        <a:rPr lang="en-US" altLang="zh-CN" sz="1300" dirty="0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, </a:t>
                      </a:r>
                      <a:r>
                        <a:rPr lang="uk-UA" altLang="zh-CN" sz="1300" dirty="0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фактори згортання крові</a:t>
                      </a:r>
                      <a:endParaRPr lang="en-US" altLang="zh-CN" sz="1300" dirty="0">
                        <a:latin typeface="+mn-lt"/>
                        <a:ea typeface="Inter" panose="020B0502030000000004" pitchFamily="34" charset="0"/>
                        <a:cs typeface="Times New Roman"/>
                        <a:sym typeface="Inter" panose="020B05020300000000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369371"/>
                  </a:ext>
                </a:extLst>
              </a:tr>
              <a:tr h="677619">
                <a:tc>
                  <a:txBody>
                    <a:bodyPr/>
                    <a:lstStyle/>
                    <a:p>
                      <a:r>
                        <a:rPr lang="uk-UA" altLang="zh-CN" sz="1300" b="1" dirty="0">
                          <a:latin typeface="+mn-lt"/>
                          <a:ea typeface="Times New Roman"/>
                          <a:cs typeface="Times New Roman"/>
                          <a:sym typeface="Inter" panose="020B0502030000000004" pitchFamily="34" charset="0"/>
                        </a:rPr>
                        <a:t>Обчислювані параметри</a:t>
                      </a:r>
                      <a:endParaRPr lang="zh-CN" altLang="en-US" sz="1300" b="1" dirty="0">
                        <a:latin typeface="+mn-lt"/>
                        <a:ea typeface="Times New Roman"/>
                        <a:cs typeface="Times New Roman"/>
                        <a:sym typeface="Inter" panose="020B05020300000000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altLang="zh-CN" sz="1300" dirty="0" err="1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Міжнародне</a:t>
                      </a:r>
                      <a:r>
                        <a:rPr lang="ru-RU" altLang="zh-CN" sz="1300" dirty="0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 </a:t>
                      </a:r>
                      <a:r>
                        <a:rPr lang="ru-RU" altLang="zh-CN" sz="1300" dirty="0" err="1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нормалізоване</a:t>
                      </a:r>
                      <a:r>
                        <a:rPr lang="ru-RU" altLang="zh-CN" sz="1300" dirty="0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 </a:t>
                      </a:r>
                      <a:r>
                        <a:rPr lang="ru-RU" altLang="zh-CN" sz="1300" dirty="0" err="1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відношення</a:t>
                      </a:r>
                      <a:r>
                        <a:rPr lang="ru-RU" altLang="zh-CN" sz="1300" dirty="0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 (МНВ), </a:t>
                      </a:r>
                      <a:r>
                        <a:rPr lang="ru-RU" altLang="zh-CN" sz="1300" dirty="0" err="1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протромбін</a:t>
                      </a:r>
                      <a:r>
                        <a:rPr lang="ru-RU" altLang="zh-CN" sz="1300" dirty="0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 за </a:t>
                      </a:r>
                      <a:r>
                        <a:rPr lang="ru-RU" altLang="zh-CN" sz="1300" dirty="0" err="1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Квіком</a:t>
                      </a:r>
                      <a:r>
                        <a:rPr lang="ru-RU" altLang="zh-CN" sz="1300" dirty="0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 (ПЧ %), </a:t>
                      </a:r>
                      <a:r>
                        <a:rPr lang="ru-RU" altLang="zh-CN" sz="1300" dirty="0" err="1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протромбінове</a:t>
                      </a:r>
                      <a:r>
                        <a:rPr lang="ru-RU" altLang="zh-CN" sz="1300" dirty="0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 </a:t>
                      </a:r>
                      <a:r>
                        <a:rPr lang="ru-RU" altLang="zh-CN" sz="1300" dirty="0" err="1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відношення</a:t>
                      </a:r>
                      <a:r>
                        <a:rPr lang="ru-RU" altLang="zh-CN" sz="1300" dirty="0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 (ПВ), </a:t>
                      </a:r>
                      <a:r>
                        <a:rPr lang="ru-RU" altLang="zh-CN" sz="1300" dirty="0" err="1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фібриноген</a:t>
                      </a:r>
                      <a:r>
                        <a:rPr lang="ru-RU" altLang="zh-CN" sz="1300" dirty="0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 </a:t>
                      </a:r>
                      <a:r>
                        <a:rPr lang="uk-UA" sz="1300" dirty="0"/>
                        <a:t>за </a:t>
                      </a:r>
                      <a:r>
                        <a:rPr lang="uk-UA" sz="1300" dirty="0" err="1"/>
                        <a:t>протромбіновим</a:t>
                      </a:r>
                      <a:r>
                        <a:rPr lang="uk-UA" sz="1300" dirty="0"/>
                        <a:t> часом</a:t>
                      </a:r>
                      <a:r>
                        <a:rPr lang="ru-RU" sz="1300" dirty="0">
                          <a:latin typeface="+mn-lt"/>
                          <a:cs typeface="Times New Roman"/>
                          <a:sym typeface="Inter" panose="020B0502030000000004" pitchFamily="34" charset="0"/>
                        </a:rPr>
                        <a:t>.</a:t>
                      </a:r>
                      <a:endParaRPr lang="en-US" altLang="zh-CN" sz="1300" dirty="0">
                        <a:latin typeface="+mn-lt"/>
                        <a:ea typeface="Inter" panose="020B0502030000000004" pitchFamily="34" charset="0"/>
                        <a:cs typeface="Times New Roman"/>
                        <a:sym typeface="Inter" panose="020B05020300000000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1992996"/>
                  </a:ext>
                </a:extLst>
              </a:tr>
              <a:tr h="279886">
                <a:tc>
                  <a:txBody>
                    <a:bodyPr/>
                    <a:lstStyle/>
                    <a:p>
                      <a:r>
                        <a:rPr lang="uk-UA" altLang="zh-CN" sz="1300" b="1" dirty="0">
                          <a:latin typeface="+mn-lt"/>
                          <a:ea typeface="Times New Roman"/>
                          <a:cs typeface="Times New Roman"/>
                          <a:sym typeface="Inter" panose="020B0502030000000004" pitchFamily="34" charset="0"/>
                        </a:rPr>
                        <a:t>Одиниці вимірювання</a:t>
                      </a:r>
                      <a:endParaRPr lang="zh-CN" altLang="en-US" sz="1300" b="1" dirty="0">
                        <a:latin typeface="+mn-lt"/>
                        <a:ea typeface="Times New Roman"/>
                        <a:cs typeface="Times New Roman"/>
                        <a:sym typeface="Inter" panose="020B05020300000000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1300" dirty="0">
                          <a:latin typeface="+mn-lt"/>
                        </a:rPr>
                        <a:t>с, г/л, мг/</a:t>
                      </a:r>
                      <a:r>
                        <a:rPr lang="uk-UA" sz="1300" dirty="0" err="1">
                          <a:latin typeface="+mn-lt"/>
                        </a:rPr>
                        <a:t>дл</a:t>
                      </a:r>
                      <a:r>
                        <a:rPr lang="uk-UA" sz="1300" dirty="0">
                          <a:latin typeface="+mn-lt"/>
                        </a:rPr>
                        <a:t>, %, </a:t>
                      </a:r>
                      <a:r>
                        <a:rPr lang="uk-UA" sz="1300" dirty="0" err="1">
                          <a:latin typeface="+mn-lt"/>
                        </a:rPr>
                        <a:t>нг</a:t>
                      </a:r>
                      <a:r>
                        <a:rPr lang="uk-UA" sz="1300" dirty="0">
                          <a:latin typeface="+mn-lt"/>
                        </a:rPr>
                        <a:t>/мл, </a:t>
                      </a:r>
                      <a:r>
                        <a:rPr lang="uk-UA" sz="1300" dirty="0" err="1">
                          <a:latin typeface="+mn-lt"/>
                        </a:rPr>
                        <a:t>мкг</a:t>
                      </a:r>
                      <a:r>
                        <a:rPr lang="uk-UA" sz="1300" dirty="0">
                          <a:latin typeface="+mn-lt"/>
                        </a:rPr>
                        <a:t>/мл</a:t>
                      </a:r>
                      <a:endParaRPr lang="en-US" altLang="zh-CN" sz="1300" dirty="0">
                        <a:latin typeface="+mn-lt"/>
                        <a:ea typeface="Inter" panose="020B0502030000000004" pitchFamily="34" charset="0"/>
                        <a:cs typeface="Times New Roman"/>
                        <a:sym typeface="Inter" panose="020B05020300000000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316278"/>
                  </a:ext>
                </a:extLst>
              </a:tr>
              <a:tr h="279886">
                <a:tc>
                  <a:txBody>
                    <a:bodyPr/>
                    <a:lstStyle/>
                    <a:p>
                      <a:r>
                        <a:rPr lang="uk-UA" altLang="zh-CN" sz="1300" b="1" dirty="0">
                          <a:latin typeface="+mn-lt"/>
                          <a:ea typeface="Times New Roman"/>
                          <a:cs typeface="Times New Roman"/>
                          <a:sym typeface="Inter" panose="020B0502030000000004" pitchFamily="34" charset="0"/>
                        </a:rPr>
                        <a:t>Позицій для інкубації реагентів</a:t>
                      </a:r>
                      <a:endParaRPr lang="zh-CN" altLang="en-US" sz="1300" b="1" dirty="0">
                        <a:latin typeface="+mn-lt"/>
                        <a:ea typeface="Times New Roman"/>
                        <a:cs typeface="Times New Roman"/>
                        <a:sym typeface="Inter" panose="020B05020300000000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300" dirty="0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6 </a:t>
                      </a:r>
                      <a:endParaRPr lang="zh-CN" altLang="en-US" sz="1300" dirty="0">
                        <a:latin typeface="+mn-lt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Inter" panose="020B05020300000000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518621"/>
                  </a:ext>
                </a:extLst>
              </a:tr>
              <a:tr h="279886">
                <a:tc>
                  <a:txBody>
                    <a:bodyPr/>
                    <a:lstStyle/>
                    <a:p>
                      <a:r>
                        <a:rPr lang="uk-UA" altLang="zh-CN" sz="1300" b="1" dirty="0">
                          <a:latin typeface="+mn-lt"/>
                          <a:ea typeface="Times New Roman"/>
                          <a:cs typeface="Times New Roman"/>
                          <a:sym typeface="Inter" panose="020B0502030000000004" pitchFamily="34" charset="0"/>
                        </a:rPr>
                        <a:t>Позиції для інкубації зразків</a:t>
                      </a:r>
                      <a:endParaRPr lang="en-US" altLang="zh-CN" sz="1300" b="1" dirty="0">
                        <a:latin typeface="+mn-lt"/>
                        <a:ea typeface="Inter" panose="020B0502030000000004" pitchFamily="34" charset="0"/>
                        <a:cs typeface="Times New Roman" panose="02020603050405020304" pitchFamily="18" charset="0"/>
                        <a:sym typeface="Inter" panose="020B05020300000000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300" dirty="0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24 </a:t>
                      </a:r>
                      <a:endParaRPr lang="zh-CN" altLang="en-US" sz="1300" dirty="0">
                        <a:latin typeface="+mn-lt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Inter" panose="020B05020300000000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532860"/>
                  </a:ext>
                </a:extLst>
              </a:tr>
              <a:tr h="279886">
                <a:tc>
                  <a:txBody>
                    <a:bodyPr/>
                    <a:lstStyle/>
                    <a:p>
                      <a:r>
                        <a:rPr lang="uk-UA" altLang="zh-CN" sz="1300" b="1" dirty="0">
                          <a:latin typeface="+mn-lt"/>
                          <a:ea typeface="Times New Roman"/>
                          <a:cs typeface="Times New Roman"/>
                          <a:sym typeface="Inter" panose="020B0502030000000004" pitchFamily="34" charset="0"/>
                        </a:rPr>
                        <a:t>Змішування</a:t>
                      </a:r>
                      <a:endParaRPr lang="zh-CN" altLang="en-US" sz="1300" b="1" dirty="0">
                        <a:latin typeface="+mn-lt"/>
                        <a:ea typeface="Times New Roman"/>
                        <a:cs typeface="Times New Roman"/>
                        <a:sym typeface="Inter" panose="020B05020300000000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altLang="zh-CN" sz="1300" dirty="0">
                          <a:latin typeface="+mn-lt"/>
                          <a:ea typeface="Times New Roman"/>
                          <a:cs typeface="Times New Roman"/>
                          <a:sym typeface="Inter" panose="020B0502030000000004" pitchFamily="34" charset="0"/>
                        </a:rPr>
                        <a:t>Магнітна мішалка, 4 системи перемішування</a:t>
                      </a:r>
                      <a:endParaRPr lang="zh-CN" altLang="en-US" sz="1300" dirty="0">
                        <a:latin typeface="+mn-lt"/>
                        <a:ea typeface="Times New Roman"/>
                        <a:cs typeface="Times New Roman"/>
                        <a:sym typeface="Inter" panose="020B05020300000000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145298"/>
                  </a:ext>
                </a:extLst>
              </a:tr>
              <a:tr h="471387">
                <a:tc>
                  <a:txBody>
                    <a:bodyPr/>
                    <a:lstStyle/>
                    <a:p>
                      <a:r>
                        <a:rPr lang="uk-UA" altLang="zh-CN" sz="1300" b="1" dirty="0">
                          <a:latin typeface="+mn-lt"/>
                          <a:ea typeface="Times New Roman"/>
                          <a:cs typeface="Times New Roman"/>
                          <a:sym typeface="Inter" panose="020B0502030000000004" pitchFamily="34" charset="0"/>
                        </a:rPr>
                        <a:t>Контроль якості</a:t>
                      </a:r>
                      <a:endParaRPr lang="zh-CN" altLang="en-US" sz="1300" b="1" dirty="0">
                        <a:latin typeface="+mn-lt"/>
                        <a:ea typeface="Times New Roman"/>
                        <a:cs typeface="Times New Roman"/>
                        <a:sym typeface="Inter" panose="020B05020300000000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altLang="zh-CN" sz="1300" dirty="0" err="1">
                          <a:latin typeface="+mn-lt"/>
                          <a:ea typeface="Times New Roman"/>
                          <a:cs typeface="Times New Roman"/>
                          <a:sym typeface="Inter" panose="020B0502030000000004" pitchFamily="34" charset="0"/>
                        </a:rPr>
                        <a:t>Побудова</a:t>
                      </a:r>
                      <a:r>
                        <a:rPr lang="ru-RU" altLang="zh-CN" sz="1300" dirty="0">
                          <a:latin typeface="+mn-lt"/>
                          <a:ea typeface="Times New Roman"/>
                          <a:cs typeface="Times New Roman"/>
                          <a:sym typeface="Inter" panose="020B0502030000000004" pitchFamily="34" charset="0"/>
                        </a:rPr>
                        <a:t> </a:t>
                      </a:r>
                      <a:r>
                        <a:rPr lang="ru-RU" altLang="zh-CN" sz="1300" dirty="0" err="1">
                          <a:latin typeface="+mn-lt"/>
                          <a:ea typeface="Times New Roman"/>
                          <a:cs typeface="Times New Roman"/>
                          <a:sym typeface="Inter" panose="020B0502030000000004" pitchFamily="34" charset="0"/>
                        </a:rPr>
                        <a:t>контрольних</a:t>
                      </a:r>
                      <a:r>
                        <a:rPr lang="ru-RU" altLang="zh-CN" sz="1300" dirty="0">
                          <a:latin typeface="+mn-lt"/>
                          <a:ea typeface="Times New Roman"/>
                          <a:cs typeface="Times New Roman"/>
                          <a:sym typeface="Inter" panose="020B0502030000000004" pitchFamily="34" charset="0"/>
                        </a:rPr>
                        <a:t> карт та </a:t>
                      </a:r>
                      <a:r>
                        <a:rPr lang="ru-RU" altLang="zh-CN" sz="1300" dirty="0" err="1">
                          <a:latin typeface="+mn-lt"/>
                          <a:ea typeface="Times New Roman"/>
                          <a:cs typeface="Times New Roman"/>
                          <a:sym typeface="Inter" panose="020B0502030000000004" pitchFamily="34" charset="0"/>
                        </a:rPr>
                        <a:t>формування</a:t>
                      </a:r>
                      <a:r>
                        <a:rPr lang="ru-RU" altLang="zh-CN" sz="1300" dirty="0">
                          <a:latin typeface="+mn-lt"/>
                          <a:ea typeface="Times New Roman"/>
                          <a:cs typeface="Times New Roman"/>
                          <a:sym typeface="Inter" panose="020B0502030000000004" pitchFamily="34" charset="0"/>
                        </a:rPr>
                        <a:t> </a:t>
                      </a:r>
                      <a:r>
                        <a:rPr lang="ru-RU" altLang="zh-CN" sz="1300" dirty="0" err="1">
                          <a:latin typeface="+mn-lt"/>
                          <a:ea typeface="Times New Roman"/>
                          <a:cs typeface="Times New Roman"/>
                          <a:sym typeface="Inter" panose="020B0502030000000004" pitchFamily="34" charset="0"/>
                        </a:rPr>
                        <a:t>звітів</a:t>
                      </a:r>
                      <a:r>
                        <a:rPr lang="ru-RU" altLang="zh-CN" sz="1300" dirty="0">
                          <a:latin typeface="+mn-lt"/>
                          <a:ea typeface="Times New Roman"/>
                          <a:cs typeface="Times New Roman"/>
                          <a:sym typeface="Inter" panose="020B0502030000000004" pitchFamily="34" charset="0"/>
                        </a:rPr>
                        <a:t> контролю </a:t>
                      </a:r>
                      <a:r>
                        <a:rPr lang="ru-RU" altLang="zh-CN" sz="1300" dirty="0" err="1">
                          <a:latin typeface="+mn-lt"/>
                          <a:ea typeface="Times New Roman"/>
                          <a:cs typeface="Times New Roman"/>
                          <a:sym typeface="Inter" panose="020B0502030000000004" pitchFamily="34" charset="0"/>
                        </a:rPr>
                        <a:t>якості</a:t>
                      </a:r>
                      <a:endParaRPr lang="zh-CN" altLang="en-US" sz="1300" dirty="0">
                        <a:latin typeface="+mn-lt"/>
                        <a:ea typeface="Times New Roman"/>
                        <a:cs typeface="Times New Roman"/>
                        <a:sym typeface="Inter" panose="020B05020300000000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237520"/>
                  </a:ext>
                </a:extLst>
              </a:tr>
              <a:tr h="279886">
                <a:tc>
                  <a:txBody>
                    <a:bodyPr/>
                    <a:lstStyle/>
                    <a:p>
                      <a:r>
                        <a:rPr lang="uk-UA" altLang="zh-CN" sz="1300" b="1" dirty="0">
                          <a:latin typeface="+mn-lt"/>
                          <a:ea typeface="Times New Roman"/>
                          <a:cs typeface="Times New Roman"/>
                          <a:sym typeface="Inter" panose="020B0502030000000004" pitchFamily="34" charset="0"/>
                        </a:rPr>
                        <a:t>Друк</a:t>
                      </a:r>
                      <a:endParaRPr lang="zh-CN" altLang="en-US" sz="1300" b="1" dirty="0">
                        <a:latin typeface="+mn-lt"/>
                        <a:ea typeface="Times New Roman"/>
                        <a:cs typeface="Times New Roman"/>
                        <a:sym typeface="Inter" panose="020B05020300000000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altLang="zh-CN" sz="1300" dirty="0">
                          <a:latin typeface="+mn-lt"/>
                          <a:ea typeface="Times New Roman"/>
                          <a:cs typeface="Times New Roman"/>
                          <a:sym typeface="Inter" panose="020B0502030000000004" pitchFamily="34" charset="0"/>
                        </a:rPr>
                        <a:t>Вбудований </a:t>
                      </a:r>
                      <a:r>
                        <a:rPr lang="uk-UA" altLang="zh-CN" sz="1300" dirty="0" err="1">
                          <a:latin typeface="+mn-lt"/>
                          <a:ea typeface="Times New Roman"/>
                          <a:cs typeface="Times New Roman"/>
                          <a:sym typeface="Inter" panose="020B0502030000000004" pitchFamily="34" charset="0"/>
                        </a:rPr>
                        <a:t>термопринтер</a:t>
                      </a:r>
                      <a:endParaRPr lang="zh-CN" altLang="en-US" sz="1300" dirty="0">
                        <a:latin typeface="+mn-lt"/>
                        <a:ea typeface="Times New Roman"/>
                        <a:cs typeface="Times New Roman"/>
                        <a:sym typeface="Inter" panose="020B05020300000000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9147043"/>
                  </a:ext>
                </a:extLst>
              </a:tr>
              <a:tr h="662888">
                <a:tc>
                  <a:txBody>
                    <a:bodyPr/>
                    <a:lstStyle/>
                    <a:p>
                      <a:r>
                        <a:rPr lang="uk-UA" altLang="zh-CN" sz="1300" b="1" dirty="0">
                          <a:latin typeface="+mn-lt"/>
                          <a:ea typeface="Times New Roman"/>
                          <a:cs typeface="Times New Roman"/>
                          <a:sym typeface="Inter" panose="020B0502030000000004" pitchFamily="34" charset="0"/>
                        </a:rPr>
                        <a:t>Піпетка</a:t>
                      </a:r>
                      <a:endParaRPr lang="zh-CN" altLang="en-US" sz="1300" b="1" dirty="0">
                        <a:latin typeface="+mn-lt"/>
                        <a:ea typeface="Times New Roman"/>
                        <a:cs typeface="Times New Roman"/>
                        <a:sym typeface="Inter" panose="020B05020300000000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altLang="zh-CN" sz="1300" dirty="0">
                          <a:latin typeface="+mn-lt"/>
                          <a:ea typeface="Times New Roman"/>
                          <a:cs typeface="Times New Roman"/>
                          <a:sym typeface="Inter" panose="020B0502030000000004" pitchFamily="34" charset="0"/>
                        </a:rPr>
                        <a:t>Під’єднання стартової піпетки до аналізатора, </a:t>
                      </a:r>
                      <a:r>
                        <a:rPr lang="ru-RU" altLang="zh-CN" sz="1300" dirty="0">
                          <a:latin typeface="+mn-lt"/>
                          <a:ea typeface="Inter" panose="020B0502030000000004" pitchFamily="34" charset="0"/>
                          <a:cs typeface="Times New Roman" panose="02020603050405020304" pitchFamily="18" charset="0"/>
                          <a:sym typeface="Inter" panose="020B0502030000000004" pitchFamily="34" charset="0"/>
                        </a:rPr>
                        <a:t>запуск тесту </a:t>
                      </a:r>
                      <a:r>
                        <a:rPr lang="ru-RU" altLang="zh-CN" sz="1300" dirty="0" err="1">
                          <a:latin typeface="+mn-lt"/>
                          <a:ea typeface="Inter" panose="020B0502030000000004" pitchFamily="34" charset="0"/>
                          <a:cs typeface="Times New Roman" panose="02020603050405020304" pitchFamily="18" charset="0"/>
                          <a:sym typeface="Inter" panose="020B0502030000000004" pitchFamily="34" charset="0"/>
                        </a:rPr>
                        <a:t>вимірювання</a:t>
                      </a:r>
                      <a:r>
                        <a:rPr lang="ru-RU" altLang="zh-CN" sz="1300" dirty="0">
                          <a:latin typeface="+mn-lt"/>
                          <a:ea typeface="Inter" panose="020B0502030000000004" pitchFamily="34" charset="0"/>
                          <a:cs typeface="Times New Roman" panose="02020603050405020304" pitchFamily="18" charset="0"/>
                          <a:sym typeface="Inter" panose="020B0502030000000004" pitchFamily="34" charset="0"/>
                        </a:rPr>
                        <a:t> </a:t>
                      </a:r>
                      <a:r>
                        <a:rPr lang="ru-RU" altLang="zh-CN" sz="1300" dirty="0" err="1">
                          <a:latin typeface="+mn-lt"/>
                          <a:ea typeface="Inter" panose="020B0502030000000004" pitchFamily="34" charset="0"/>
                          <a:cs typeface="Times New Roman" panose="02020603050405020304" pitchFamily="18" charset="0"/>
                          <a:sym typeface="Inter" panose="020B0502030000000004" pitchFamily="34" charset="0"/>
                        </a:rPr>
                        <a:t>під</a:t>
                      </a:r>
                      <a:r>
                        <a:rPr lang="ru-RU" altLang="zh-CN" sz="1300" dirty="0">
                          <a:latin typeface="+mn-lt"/>
                          <a:ea typeface="Inter" panose="020B0502030000000004" pitchFamily="34" charset="0"/>
                          <a:cs typeface="Times New Roman" panose="02020603050405020304" pitchFamily="18" charset="0"/>
                          <a:sym typeface="Inter" panose="020B0502030000000004" pitchFamily="34" charset="0"/>
                        </a:rPr>
                        <a:t> час </a:t>
                      </a:r>
                      <a:r>
                        <a:rPr lang="ru-RU" altLang="zh-CN" sz="1300" dirty="0" err="1">
                          <a:latin typeface="+mn-lt"/>
                          <a:ea typeface="Inter" panose="020B0502030000000004" pitchFamily="34" charset="0"/>
                          <a:cs typeface="Times New Roman" panose="02020603050405020304" pitchFamily="18" charset="0"/>
                          <a:sym typeface="Inter" panose="020B0502030000000004" pitchFamily="34" charset="0"/>
                        </a:rPr>
                        <a:t>додавання</a:t>
                      </a:r>
                      <a:r>
                        <a:rPr lang="ru-RU" altLang="zh-CN" sz="1300" dirty="0">
                          <a:latin typeface="+mn-lt"/>
                          <a:ea typeface="Inter" panose="020B0502030000000004" pitchFamily="34" charset="0"/>
                          <a:cs typeface="Times New Roman" panose="02020603050405020304" pitchFamily="18" charset="0"/>
                          <a:sym typeface="Inter" panose="020B0502030000000004" pitchFamily="34" charset="0"/>
                        </a:rPr>
                        <a:t> реагенту для </a:t>
                      </a:r>
                      <a:r>
                        <a:rPr lang="ru-RU" altLang="zh-CN" sz="1300" dirty="0" err="1">
                          <a:latin typeface="+mn-lt"/>
                          <a:ea typeface="Inter" panose="020B0502030000000004" pitchFamily="34" charset="0"/>
                          <a:cs typeface="Times New Roman" panose="02020603050405020304" pitchFamily="18" charset="0"/>
                          <a:sym typeface="Inter" panose="020B0502030000000004" pitchFamily="34" charset="0"/>
                        </a:rPr>
                        <a:t>забезпечення</a:t>
                      </a:r>
                      <a:r>
                        <a:rPr lang="ru-RU" altLang="zh-CN" sz="1300" dirty="0">
                          <a:latin typeface="+mn-lt"/>
                          <a:ea typeface="Inter" panose="020B0502030000000004" pitchFamily="34" charset="0"/>
                          <a:cs typeface="Times New Roman" panose="02020603050405020304" pitchFamily="18" charset="0"/>
                          <a:sym typeface="Inter" panose="020B0502030000000004" pitchFamily="34" charset="0"/>
                        </a:rPr>
                        <a:t> </a:t>
                      </a:r>
                      <a:r>
                        <a:rPr lang="ru-RU" altLang="zh-CN" sz="1300" dirty="0" err="1">
                          <a:latin typeface="+mn-lt"/>
                          <a:ea typeface="Inter" panose="020B0502030000000004" pitchFamily="34" charset="0"/>
                          <a:cs typeface="Times New Roman" panose="02020603050405020304" pitchFamily="18" charset="0"/>
                          <a:sym typeface="Inter" panose="020B0502030000000004" pitchFamily="34" charset="0"/>
                        </a:rPr>
                        <a:t>точних</a:t>
                      </a:r>
                      <a:r>
                        <a:rPr lang="ru-RU" altLang="zh-CN" sz="1300" dirty="0">
                          <a:latin typeface="+mn-lt"/>
                          <a:ea typeface="Inter" panose="020B0502030000000004" pitchFamily="34" charset="0"/>
                          <a:cs typeface="Times New Roman" panose="02020603050405020304" pitchFamily="18" charset="0"/>
                          <a:sym typeface="Inter" panose="020B0502030000000004" pitchFamily="34" charset="0"/>
                        </a:rPr>
                        <a:t> </a:t>
                      </a:r>
                      <a:r>
                        <a:rPr lang="ru-RU" altLang="zh-CN" sz="1300" dirty="0" err="1">
                          <a:latin typeface="+mn-lt"/>
                          <a:ea typeface="Inter" panose="020B0502030000000004" pitchFamily="34" charset="0"/>
                          <a:cs typeface="Times New Roman" panose="02020603050405020304" pitchFamily="18" charset="0"/>
                          <a:sym typeface="Inter" panose="020B0502030000000004" pitchFamily="34" charset="0"/>
                        </a:rPr>
                        <a:t>результатів</a:t>
                      </a:r>
                      <a:endParaRPr lang="zh-CN" altLang="en-US" sz="1300" dirty="0">
                        <a:latin typeface="+mn-lt"/>
                        <a:ea typeface="Times New Roman"/>
                        <a:cs typeface="Times New Roman"/>
                        <a:sym typeface="Inter" panose="020B05020300000000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0776136"/>
                  </a:ext>
                </a:extLst>
              </a:tr>
              <a:tr h="279886">
                <a:tc>
                  <a:txBody>
                    <a:bodyPr/>
                    <a:lstStyle/>
                    <a:p>
                      <a:r>
                        <a:rPr lang="uk-UA" altLang="zh-CN" sz="1300" b="1" dirty="0">
                          <a:latin typeface="+mn-lt"/>
                          <a:ea typeface="Times New Roman"/>
                          <a:cs typeface="Times New Roman"/>
                          <a:sym typeface="Inter" panose="020B0502030000000004" pitchFamily="34" charset="0"/>
                        </a:rPr>
                        <a:t>Дисплей</a:t>
                      </a:r>
                      <a:endParaRPr lang="zh-CN" altLang="en-US" sz="1300" b="1" dirty="0">
                        <a:latin typeface="+mn-lt"/>
                        <a:ea typeface="Times New Roman"/>
                        <a:cs typeface="Times New Roman"/>
                        <a:sym typeface="Inter" panose="020B05020300000000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altLang="zh-CN" sz="1300" dirty="0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7-дюймовий кольоровий сенсорний екран</a:t>
                      </a:r>
                      <a:endParaRPr lang="en-US" altLang="zh-CN" sz="1300" dirty="0">
                        <a:latin typeface="+mn-lt"/>
                        <a:ea typeface="Inter" panose="020B0502030000000004" pitchFamily="34" charset="0"/>
                        <a:cs typeface="Times New Roman"/>
                        <a:sym typeface="Inter" panose="020B05020300000000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8809995"/>
                  </a:ext>
                </a:extLst>
              </a:tr>
              <a:tr h="445349">
                <a:tc>
                  <a:txBody>
                    <a:bodyPr/>
                    <a:lstStyle/>
                    <a:p>
                      <a:r>
                        <a:rPr lang="uk-UA" altLang="zh-CN" sz="1300" b="1" dirty="0">
                          <a:latin typeface="+mn-lt"/>
                          <a:ea typeface="Times New Roman"/>
                          <a:cs typeface="Times New Roman"/>
                          <a:sym typeface="Inter" panose="020B0502030000000004" pitchFamily="34" charset="0"/>
                        </a:rPr>
                        <a:t>ЛІС</a:t>
                      </a:r>
                      <a:endParaRPr lang="zh-CN" altLang="en-US" sz="1300" b="1" dirty="0">
                        <a:latin typeface="+mn-lt"/>
                        <a:ea typeface="Times New Roman"/>
                        <a:cs typeface="Times New Roman"/>
                        <a:sym typeface="Inter" panose="020B05020300000000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altLang="zh-CN" sz="1300" dirty="0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+</a:t>
                      </a:r>
                      <a:endParaRPr lang="en-US" altLang="zh-CN" sz="1300" dirty="0">
                        <a:latin typeface="+mn-lt"/>
                        <a:ea typeface="Inter" panose="020B0502030000000004" pitchFamily="34" charset="0"/>
                        <a:cs typeface="Times New Roman"/>
                        <a:sym typeface="Inter" panose="020B05020300000000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4847270"/>
                  </a:ext>
                </a:extLst>
              </a:tr>
              <a:tr h="279886">
                <a:tc>
                  <a:txBody>
                    <a:bodyPr/>
                    <a:lstStyle/>
                    <a:p>
                      <a:r>
                        <a:rPr lang="uk-UA" altLang="zh-CN" sz="1300" b="1" dirty="0">
                          <a:latin typeface="+mn-lt"/>
                          <a:ea typeface="Times New Roman"/>
                          <a:cs typeface="Times New Roman"/>
                          <a:sym typeface="Inter" panose="020B0502030000000004" pitchFamily="34" charset="0"/>
                        </a:rPr>
                        <a:t>Збереження даних</a:t>
                      </a:r>
                      <a:endParaRPr lang="zh-CN" altLang="en-US" sz="1300" b="1" dirty="0">
                        <a:latin typeface="+mn-lt"/>
                        <a:ea typeface="Times New Roman"/>
                        <a:cs typeface="Times New Roman"/>
                        <a:sym typeface="Inter" panose="020B05020300000000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altLang="zh-CN" sz="1300" dirty="0">
                          <a:latin typeface="+mn-lt"/>
                          <a:ea typeface="Times New Roman"/>
                          <a:cs typeface="Times New Roman"/>
                          <a:sym typeface="Inter" panose="020B0502030000000004" pitchFamily="34" charset="0"/>
                        </a:rPr>
                        <a:t>Більше </a:t>
                      </a:r>
                      <a:r>
                        <a:rPr lang="zh-CN" altLang="en-US" sz="1300" dirty="0">
                          <a:latin typeface="+mn-lt"/>
                          <a:ea typeface="Times New Roman"/>
                          <a:cs typeface="Times New Roman"/>
                          <a:sym typeface="Inter" panose="020B0502030000000004" pitchFamily="34" charset="0"/>
                        </a:rPr>
                        <a:t>10</a:t>
                      </a:r>
                      <a:r>
                        <a:rPr lang="uk-UA" altLang="zh-CN" sz="1300" dirty="0">
                          <a:latin typeface="+mn-lt"/>
                          <a:ea typeface="Times New Roman"/>
                          <a:cs typeface="Times New Roman"/>
                          <a:sym typeface="Inter" panose="020B0502030000000004" pitchFamily="34" charset="0"/>
                        </a:rPr>
                        <a:t> </a:t>
                      </a:r>
                      <a:r>
                        <a:rPr lang="zh-CN" altLang="en-US" sz="1300" dirty="0">
                          <a:latin typeface="+mn-lt"/>
                          <a:ea typeface="Times New Roman"/>
                          <a:cs typeface="Times New Roman"/>
                          <a:sym typeface="Inter" panose="020B0502030000000004" pitchFamily="34" charset="0"/>
                        </a:rPr>
                        <a:t>000 </a:t>
                      </a:r>
                      <a:r>
                        <a:rPr lang="uk-UA" altLang="zh-CN" sz="1300" dirty="0">
                          <a:latin typeface="+mn-lt"/>
                          <a:ea typeface="Times New Roman"/>
                          <a:cs typeface="Times New Roman"/>
                          <a:sym typeface="Inter" panose="020B0502030000000004" pitchFamily="34" charset="0"/>
                        </a:rPr>
                        <a:t>результатів</a:t>
                      </a:r>
                      <a:endParaRPr lang="zh-CN" altLang="en-US" sz="1300" dirty="0">
                        <a:latin typeface="+mn-lt"/>
                        <a:ea typeface="Times New Roman"/>
                        <a:cs typeface="Times New Roman"/>
                        <a:sym typeface="Inter" panose="020B05020300000000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8379527"/>
                  </a:ext>
                </a:extLst>
              </a:tr>
              <a:tr h="279886">
                <a:tc>
                  <a:txBody>
                    <a:bodyPr/>
                    <a:lstStyle/>
                    <a:p>
                      <a:r>
                        <a:rPr lang="uk-UA" altLang="zh-CN" sz="1300" b="1" dirty="0">
                          <a:latin typeface="+mn-lt"/>
                          <a:ea typeface="Times New Roman"/>
                          <a:cs typeface="Times New Roman"/>
                          <a:sym typeface="Inter" panose="020B0502030000000004" pitchFamily="34" charset="0"/>
                        </a:rPr>
                        <a:t>Розмір</a:t>
                      </a:r>
                      <a:endParaRPr lang="zh-CN" altLang="en-US" sz="1300" b="1" dirty="0">
                        <a:latin typeface="+mn-lt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Inter" panose="020B05020300000000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300" dirty="0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39</a:t>
                      </a:r>
                      <a:r>
                        <a:rPr lang="uk-UA" altLang="zh-CN" sz="1300" dirty="0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, </a:t>
                      </a:r>
                      <a:r>
                        <a:rPr lang="en-US" altLang="zh-CN" sz="1300" dirty="0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5</a:t>
                      </a:r>
                      <a:r>
                        <a:rPr lang="uk-UA" altLang="zh-CN" sz="1300" dirty="0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 см</a:t>
                      </a:r>
                      <a:r>
                        <a:rPr lang="en-US" altLang="zh-CN" sz="1300" dirty="0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 x 32</a:t>
                      </a:r>
                      <a:r>
                        <a:rPr lang="uk-UA" altLang="zh-CN" sz="1300" dirty="0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,</a:t>
                      </a:r>
                      <a:r>
                        <a:rPr lang="en-US" altLang="zh-CN" sz="1300" dirty="0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0 </a:t>
                      </a:r>
                      <a:r>
                        <a:rPr lang="uk-UA" altLang="zh-CN" sz="1300" dirty="0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см</a:t>
                      </a:r>
                      <a:r>
                        <a:rPr lang="en-US" altLang="zh-CN" sz="1300" dirty="0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 x 13</a:t>
                      </a:r>
                      <a:r>
                        <a:rPr lang="uk-UA" altLang="zh-CN" sz="1300" dirty="0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,</a:t>
                      </a:r>
                      <a:r>
                        <a:rPr lang="en-US" altLang="zh-CN" sz="1300" dirty="0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5 </a:t>
                      </a:r>
                      <a:r>
                        <a:rPr lang="uk-UA" altLang="zh-CN" sz="1300" dirty="0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см</a:t>
                      </a:r>
                      <a:endParaRPr lang="zh-CN" altLang="en-US" sz="1300" dirty="0">
                        <a:latin typeface="+mn-lt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Inter" panose="020B05020300000000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3226647"/>
                  </a:ext>
                </a:extLst>
              </a:tr>
              <a:tr h="279886">
                <a:tc>
                  <a:txBody>
                    <a:bodyPr/>
                    <a:lstStyle/>
                    <a:p>
                      <a:r>
                        <a:rPr lang="uk-UA" altLang="zh-CN" sz="1300" b="1" dirty="0">
                          <a:latin typeface="+mn-lt"/>
                          <a:ea typeface="Times New Roman"/>
                          <a:cs typeface="Times New Roman"/>
                          <a:sym typeface="Inter" panose="020B0502030000000004" pitchFamily="34" charset="0"/>
                        </a:rPr>
                        <a:t>Вага</a:t>
                      </a:r>
                      <a:endParaRPr lang="zh-CN" altLang="en-US" sz="1300" b="1" dirty="0">
                        <a:latin typeface="+mn-lt"/>
                        <a:ea typeface="Times New Roman"/>
                        <a:cs typeface="Times New Roman"/>
                        <a:sym typeface="Inter" panose="020B05020300000000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300" dirty="0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5</a:t>
                      </a:r>
                      <a:r>
                        <a:rPr lang="uk-UA" altLang="zh-CN" sz="1300" dirty="0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,</a:t>
                      </a:r>
                      <a:r>
                        <a:rPr lang="en-US" altLang="zh-CN" sz="1300" dirty="0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1 </a:t>
                      </a:r>
                      <a:r>
                        <a:rPr lang="uk-UA" altLang="zh-CN" sz="1300" dirty="0">
                          <a:latin typeface="+mn-lt"/>
                          <a:ea typeface="Inter" panose="020B0502030000000004" pitchFamily="34" charset="0"/>
                          <a:cs typeface="Times New Roman"/>
                          <a:sym typeface="Inter" panose="020B0502030000000004" pitchFamily="34" charset="0"/>
                        </a:rPr>
                        <a:t>кг</a:t>
                      </a:r>
                      <a:endParaRPr lang="zh-CN" altLang="en-US" sz="1300" dirty="0">
                        <a:latin typeface="+mn-lt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Inter" panose="020B05020300000000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453697"/>
                  </a:ext>
                </a:extLst>
              </a:tr>
            </a:tbl>
          </a:graphicData>
        </a:graphic>
      </p:graphicFrame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97673D9D-35EA-9D1C-EB66-435C1CD7A6B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628" y="129540"/>
            <a:ext cx="2371748" cy="701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546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2764E-2496-7159-475D-DAF5308AD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D522CFB-9B36-3962-9749-BC4F3EF2199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109893" y="0"/>
            <a:ext cx="12411785" cy="71469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72C6EC-24BF-E325-68B2-6ECBBEDAD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uk-UA" b="1" dirty="0"/>
              <a:t>Додаткові функції </a:t>
            </a:r>
            <a:r>
              <a:rPr lang="uk-UA" b="1" dirty="0" err="1"/>
              <a:t>коагулометра</a:t>
            </a:r>
            <a:r>
              <a:rPr lang="uk-UA" b="1" dirty="0"/>
              <a:t> </a:t>
            </a:r>
            <a:r>
              <a:rPr lang="en-US" b="1" dirty="0"/>
              <a:t>DC1040</a:t>
            </a:r>
            <a:r>
              <a:rPr lang="uk-UA" b="1" dirty="0"/>
              <a:t> </a:t>
            </a:r>
          </a:p>
        </p:txBody>
      </p:sp>
      <p:grpSp>
        <p:nvGrpSpPr>
          <p:cNvPr id="5" name="组合 34">
            <a:extLst>
              <a:ext uri="{FF2B5EF4-FFF2-40B4-BE49-F238E27FC236}">
                <a16:creationId xmlns:a16="http://schemas.microsoft.com/office/drawing/2014/main" id="{ED2BE0D9-8AD2-6D04-AFDE-1B9069C7CF88}"/>
              </a:ext>
            </a:extLst>
          </p:cNvPr>
          <p:cNvGrpSpPr/>
          <p:nvPr/>
        </p:nvGrpSpPr>
        <p:grpSpPr>
          <a:xfrm>
            <a:off x="500270" y="2298529"/>
            <a:ext cx="4237909" cy="2923792"/>
            <a:chOff x="1800308" y="1538857"/>
            <a:chExt cx="4819667" cy="2909456"/>
          </a:xfrm>
        </p:grpSpPr>
        <p:pic>
          <p:nvPicPr>
            <p:cNvPr id="6" name="图片 2">
              <a:extLst>
                <a:ext uri="{FF2B5EF4-FFF2-40B4-BE49-F238E27FC236}">
                  <a16:creationId xmlns:a16="http://schemas.microsoft.com/office/drawing/2014/main" id="{0C086DEA-0C83-C6BD-047C-63C46B2C08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3136" b="72966" l="25678" r="94153">
                          <a14:foregroundMark x1="73390" y1="47542" x2="80765" y2="58209"/>
                          <a14:foregroundMark x1="85424" y1="58220" x2="92458" y2="65085"/>
                          <a14:foregroundMark x1="92458" y1="65085" x2="92507" y2="65527"/>
                          <a14:foregroundMark x1="52119" y1="33305" x2="25678" y2="33136"/>
                          <a14:foregroundMark x1="29153" y1="37542" x2="36102" y2="63814"/>
                          <a14:foregroundMark x1="88475" y1="65763" x2="90847" y2="68559"/>
                          <a14:foregroundMark x1="92542" y1="70678" x2="92658" y2="71372"/>
                          <a14:foregroundMark x1="91610" y1="69915" x2="92542" y2="70593"/>
                          <a14:foregroundMark x1="93051" y1="71102" x2="93051" y2="71356"/>
                          <a14:foregroundMark x1="93390" y1="71780" x2="94153" y2="72966"/>
                          <a14:backgroundMark x1="82712" y1="60424" x2="81695" y2="59492"/>
                          <a14:backgroundMark x1="81610" y1="60085" x2="83475" y2="61525"/>
                          <a14:backgroundMark x1="83051" y1="62288" x2="83305" y2="61610"/>
                          <a14:backgroundMark x1="81610" y1="59831" x2="81017" y2="59576"/>
                          <a14:backgroundMark x1="83136" y1="60932" x2="83475" y2="62119"/>
                          <a14:backgroundMark x1="92542" y1="65508" x2="92881" y2="66102"/>
                          <a14:backgroundMark x1="92542" y1="71441" x2="93051" y2="7220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46" t="29429" r="5822" b="25646"/>
            <a:stretch/>
          </p:blipFill>
          <p:spPr>
            <a:xfrm>
              <a:off x="2625266" y="1696800"/>
              <a:ext cx="3994709" cy="2593570"/>
            </a:xfrm>
            <a:prstGeom prst="round1Rect">
              <a:avLst/>
            </a:prstGeom>
          </p:spPr>
        </p:pic>
        <p:pic>
          <p:nvPicPr>
            <p:cNvPr id="7" name="图片 3">
              <a:extLst>
                <a:ext uri="{FF2B5EF4-FFF2-40B4-BE49-F238E27FC236}">
                  <a16:creationId xmlns:a16="http://schemas.microsoft.com/office/drawing/2014/main" id="{AB407D98-0BC2-6B40-6571-FD9603878A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800308" y="1538857"/>
              <a:ext cx="3840480" cy="2909456"/>
            </a:xfrm>
            <a:prstGeom prst="rect">
              <a:avLst/>
            </a:prstGeom>
          </p:spPr>
        </p:pic>
      </p:grpSp>
      <p:pic>
        <p:nvPicPr>
          <p:cNvPr id="18" name="Picture 10" descr="Экспресс-диагностика в практике врача | Health-ua">
            <a:extLst>
              <a:ext uri="{FF2B5EF4-FFF2-40B4-BE49-F238E27FC236}">
                <a16:creationId xmlns:a16="http://schemas.microsoft.com/office/drawing/2014/main" id="{8D05E832-D842-7968-00EE-F4524AB17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63" b="98367" l="642" r="98396">
                        <a14:foregroundMark x1="30160" y1="23775" x2="30160" y2="23775"/>
                        <a14:foregroundMark x1="40107" y1="4537" x2="40107" y2="4537"/>
                        <a14:foregroundMark x1="2781" y1="29583" x2="2781" y2="29583"/>
                        <a14:foregroundMark x1="642" y1="64428" x2="642" y2="64428"/>
                        <a14:foregroundMark x1="3957" y1="67877" x2="3957" y2="67877"/>
                        <a14:foregroundMark x1="22781" y1="51180" x2="22781" y2="51180"/>
                        <a14:foregroundMark x1="29947" y1="57713" x2="29947" y2="57713"/>
                        <a14:foregroundMark x1="41711" y1="52813" x2="41711" y2="52813"/>
                        <a14:foregroundMark x1="49198" y1="51906" x2="49198" y2="51906"/>
                        <a14:foregroundMark x1="60214" y1="54265" x2="60214" y2="54265"/>
                        <a14:foregroundMark x1="69947" y1="60617" x2="69947" y2="60617"/>
                        <a14:foregroundMark x1="73797" y1="56261" x2="73797" y2="56261"/>
                        <a14:foregroundMark x1="80214" y1="56987" x2="80214" y2="56987"/>
                        <a14:foregroundMark x1="93369" y1="56261" x2="93369" y2="56261"/>
                        <a14:foregroundMark x1="97112" y1="57713" x2="97112" y2="57713"/>
                        <a14:foregroundMark x1="98182" y1="58802" x2="98182" y2="58802"/>
                        <a14:foregroundMark x1="27273" y1="51543" x2="27273" y2="51543"/>
                        <a14:foregroundMark x1="96257" y1="29220" x2="96257" y2="29220"/>
                        <a14:foregroundMark x1="94866" y1="29038" x2="94866" y2="29038"/>
                        <a14:foregroundMark x1="55829" y1="54991" x2="55829" y2="54991"/>
                        <a14:foregroundMark x1="57326" y1="56806" x2="57326" y2="56806"/>
                        <a14:foregroundMark x1="44920" y1="544" x2="44920" y2="544"/>
                        <a14:foregroundMark x1="43529" y1="1270" x2="43529" y2="1270"/>
                        <a14:foregroundMark x1="2888" y1="90926" x2="2888" y2="90926"/>
                        <a14:foregroundMark x1="4492" y1="91833" x2="4492" y2="91833"/>
                        <a14:foregroundMark x1="4171" y1="95100" x2="4171" y2="95100"/>
                        <a14:foregroundMark x1="4492" y1="97822" x2="4492" y2="97822"/>
                        <a14:foregroundMark x1="1711" y1="92922" x2="1711" y2="92922"/>
                        <a14:foregroundMark x1="7594" y1="91470" x2="7487" y2="92015"/>
                        <a14:foregroundMark x1="8449" y1="90563" x2="8984" y2="91107"/>
                        <a14:foregroundMark x1="9519" y1="94918" x2="9519" y2="95670"/>
                        <a14:foregroundMark x1="9519" y1="94192" x2="9519" y2="94918"/>
                        <a14:foregroundMark x1="8663" y1="96915" x2="8663" y2="96915"/>
                        <a14:foregroundMark x1="8770" y1="97096" x2="8770" y2="97096"/>
                        <a14:foregroundMark x1="8770" y1="97096" x2="8342" y2="96915"/>
                        <a14:foregroundMark x1="12513" y1="94555" x2="13048" y2="94555"/>
                        <a14:foregroundMark x1="19251" y1="91107" x2="19251" y2="91107"/>
                        <a14:foregroundMark x1="24599" y1="90381" x2="24599" y2="90381"/>
                        <a14:foregroundMark x1="31230" y1="91470" x2="31230" y2="91470"/>
                        <a14:foregroundMark x1="36257" y1="90563" x2="36257" y2="90563"/>
                        <a14:foregroundMark x1="34225" y1="90018" x2="34225" y2="90018"/>
                        <a14:foregroundMark x1="35508" y1="93285" x2="35508" y2="93285"/>
                        <a14:foregroundMark x1="41283" y1="90563" x2="41497" y2="90381"/>
                        <a14:foregroundMark x1="45561" y1="93648" x2="45561" y2="93648"/>
                        <a14:foregroundMark x1="35401" y1="98004" x2="35401" y2="98004"/>
                        <a14:foregroundMark x1="50802" y1="94737" x2="50802" y2="94737"/>
                        <a14:foregroundMark x1="55508" y1="94918" x2="55508" y2="94918"/>
                        <a14:foregroundMark x1="61176" y1="94374" x2="61176" y2="94374"/>
                        <a14:foregroundMark x1="68770" y1="94555" x2="68770" y2="94555"/>
                        <a14:foregroundMark x1="73797" y1="95281" x2="73797" y2="95281"/>
                        <a14:foregroundMark x1="73904" y1="91107" x2="73904" y2="91107"/>
                        <a14:foregroundMark x1="81925" y1="98367" x2="81925" y2="98367"/>
                        <a14:foregroundMark x1="87487" y1="94192" x2="87487" y2="94192"/>
                        <a14:foregroundMark x1="96150" y1="94011" x2="96150" y2="94011"/>
                        <a14:foregroundMark x1="98396" y1="93466" x2="98396" y2="93466"/>
                        <a14:foregroundMark x1="4064" y1="68058" x2="3484" y2="67763"/>
                        <a14:foregroundMark x1="21007" y1="7435" x2="21007" y2="7435"/>
                        <a14:foregroundMark x1="96499" y1="31599" x2="96499" y2="31599"/>
                        <a14:foregroundMark x1="96718" y1="29368" x2="96718" y2="29368"/>
                        <a14:backgroundMark x1="97112" y1="29038" x2="97112" y2="29038"/>
                        <a14:backgroundMark x1="8449" y1="94918" x2="8449" y2="94918"/>
                        <a14:backgroundMark x1="8235" y1="99093" x2="8556" y2="99093"/>
                        <a14:backgroundMark x1="2032" y1="66425" x2="3102" y2="66788"/>
                        <a14:backgroundMark x1="3209" y1="66788" x2="3850" y2="66788"/>
                        <a14:backgroundMark x1="14118" y1="96915" x2="14118" y2="96915"/>
                        <a14:backgroundMark x1="25668" y1="92015" x2="25668" y2="92015"/>
                        <a14:backgroundMark x1="31123" y1="94737" x2="31123" y2="94737"/>
                        <a14:backgroundMark x1="31551" y1="99456" x2="31551" y2="99456"/>
                        <a14:backgroundMark x1="46524" y1="92922" x2="46952" y2="92740"/>
                        <a14:backgroundMark x1="55401" y1="92196" x2="55401" y2="92196"/>
                        <a14:backgroundMark x1="54973" y1="98548" x2="54973" y2="98548"/>
                        <a14:backgroundMark x1="62460" y1="92740" x2="62460" y2="92740"/>
                        <a14:backgroundMark x1="62567" y1="97278" x2="62567" y2="97278"/>
                        <a14:backgroundMark x1="70160" y1="99637" x2="70695" y2="99637"/>
                        <a14:backgroundMark x1="76043" y1="98911" x2="76043" y2="98911"/>
                        <a14:backgroundMark x1="8972" y1="44981" x2="12473" y2="46097"/>
                        <a14:backgroundMark x1="11379" y1="46468" x2="12254" y2="47212"/>
                        <a14:backgroundMark x1="7659" y1="46468" x2="7659" y2="46468"/>
                        <a14:backgroundMark x1="8315" y1="46468" x2="8315" y2="46468"/>
                        <a14:backgroundMark x1="7440" y1="45353" x2="7440" y2="45353"/>
                        <a14:backgroundMark x1="6783" y1="45353" x2="6783" y2="45353"/>
                        <a14:backgroundMark x1="7002" y1="44238" x2="9190" y2="44238"/>
                        <a14:backgroundMark x1="6565" y1="44238" x2="7002" y2="44610"/>
                        <a14:backgroundMark x1="12473" y1="46097" x2="12910" y2="47584"/>
                        <a14:backgroundMark x1="5033" y1="65799" x2="5033" y2="65799"/>
                        <a14:backgroundMark x1="4595" y1="66171" x2="4158" y2="66543"/>
                        <a14:backgroundMark x1="94530" y1="98141" x2="94530" y2="98141"/>
                        <a14:backgroundMark x1="99125" y1="29740" x2="99125" y2="29740"/>
                        <a14:backgroundMark x1="96718" y1="32714" x2="96718" y2="32714"/>
                        <a14:backgroundMark x1="96061" y1="30112" x2="96061" y2="30112"/>
                        <a14:backgroundMark x1="95624" y1="28625" x2="95624" y2="286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639" y="5733167"/>
            <a:ext cx="1532162" cy="902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Місце для вмісту 2">
            <a:extLst>
              <a:ext uri="{FF2B5EF4-FFF2-40B4-BE49-F238E27FC236}">
                <a16:creationId xmlns:a16="http://schemas.microsoft.com/office/drawing/2014/main" id="{DEFC7636-67B0-8B4B-9EAD-C5B1F2D31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6809" y="1577919"/>
            <a:ext cx="6866452" cy="4606704"/>
          </a:xfrm>
        </p:spPr>
        <p:txBody>
          <a:bodyPr>
            <a:noAutofit/>
          </a:bodyPr>
          <a:lstStyle/>
          <a:p>
            <a:pPr algn="just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uk-UA" sz="2600" dirty="0"/>
              <a:t>Відкрита система;</a:t>
            </a:r>
          </a:p>
          <a:p>
            <a:pPr algn="just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uk-UA" sz="2600" dirty="0"/>
              <a:t>Наявність режиму самодіагностики при запуску;</a:t>
            </a:r>
          </a:p>
          <a:p>
            <a:pPr algn="just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ru-RU" sz="2600" dirty="0" err="1"/>
              <a:t>Наявність</a:t>
            </a:r>
            <a:r>
              <a:rPr lang="ru-RU" sz="2600" dirty="0"/>
              <a:t> </a:t>
            </a:r>
            <a:r>
              <a:rPr lang="ru-RU" sz="2600" dirty="0" err="1"/>
              <a:t>функції</a:t>
            </a:r>
            <a:r>
              <a:rPr lang="ru-RU" sz="2600" dirty="0"/>
              <a:t> </a:t>
            </a:r>
            <a:r>
              <a:rPr lang="ru-RU" sz="2600" dirty="0" err="1"/>
              <a:t>моніторингу</a:t>
            </a:r>
            <a:r>
              <a:rPr lang="ru-RU" sz="2600" dirty="0"/>
              <a:t> </a:t>
            </a:r>
            <a:r>
              <a:rPr lang="ru-RU" sz="2600" dirty="0" err="1"/>
              <a:t>поточної</a:t>
            </a:r>
            <a:r>
              <a:rPr lang="ru-RU" sz="2600" dirty="0"/>
              <a:t> </a:t>
            </a:r>
            <a:r>
              <a:rPr lang="ru-RU" sz="2600" dirty="0" err="1"/>
              <a:t>температури</a:t>
            </a:r>
            <a:r>
              <a:rPr lang="ru-RU" sz="2600" dirty="0"/>
              <a:t> </a:t>
            </a:r>
            <a:r>
              <a:rPr lang="ru-RU" sz="2600" dirty="0" err="1"/>
              <a:t>зони</a:t>
            </a:r>
            <a:r>
              <a:rPr lang="ru-RU" sz="2600" dirty="0"/>
              <a:t> </a:t>
            </a:r>
            <a:r>
              <a:rPr lang="ru-RU" sz="2600" dirty="0" err="1"/>
              <a:t>інкубації</a:t>
            </a:r>
            <a:r>
              <a:rPr lang="ru-RU" sz="2600" dirty="0"/>
              <a:t>;</a:t>
            </a:r>
          </a:p>
          <a:p>
            <a:pPr algn="just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uk-UA" sz="2600" dirty="0"/>
              <a:t>Наявність функції переходу в режим очікування, що д</a:t>
            </a:r>
            <a:r>
              <a:rPr lang="ru-RU" sz="2600" dirty="0" err="1"/>
              <a:t>озволяє</a:t>
            </a:r>
            <a:r>
              <a:rPr lang="ru-RU" sz="2600" dirty="0"/>
              <a:t> </a:t>
            </a:r>
            <a:r>
              <a:rPr lang="ru-RU" sz="2600" dirty="0" err="1"/>
              <a:t>подовжити</a:t>
            </a:r>
            <a:r>
              <a:rPr lang="ru-RU" sz="2600" dirty="0"/>
              <a:t> </a:t>
            </a:r>
            <a:r>
              <a:rPr lang="ru-RU" sz="2600" dirty="0" err="1"/>
              <a:t>термін</a:t>
            </a:r>
            <a:r>
              <a:rPr lang="ru-RU" sz="2600" dirty="0"/>
              <a:t> </a:t>
            </a:r>
            <a:r>
              <a:rPr lang="ru-RU" sz="2600" dirty="0" err="1"/>
              <a:t>служби</a:t>
            </a:r>
            <a:r>
              <a:rPr lang="ru-RU" sz="2600" dirty="0"/>
              <a:t> </a:t>
            </a:r>
            <a:r>
              <a:rPr lang="ru-RU" sz="2600" dirty="0" err="1"/>
              <a:t>лампи</a:t>
            </a:r>
            <a:r>
              <a:rPr lang="ru-RU" sz="2600" dirty="0"/>
              <a:t> (</a:t>
            </a:r>
            <a:r>
              <a:rPr lang="ru-RU" sz="2600" dirty="0" err="1"/>
              <a:t>джерела</a:t>
            </a:r>
            <a:r>
              <a:rPr lang="ru-RU" sz="2600" dirty="0"/>
              <a:t> </a:t>
            </a:r>
            <a:r>
              <a:rPr lang="ru-RU" sz="2600" dirty="0" err="1"/>
              <a:t>світла</a:t>
            </a:r>
            <a:r>
              <a:rPr lang="ru-RU" sz="2600" dirty="0"/>
              <a:t>);</a:t>
            </a:r>
          </a:p>
          <a:p>
            <a:pPr algn="just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uk-UA" sz="2600" dirty="0"/>
              <a:t>Можна встановлювати до 32 параметрів;</a:t>
            </a:r>
          </a:p>
          <a:p>
            <a:pPr algn="just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uk-UA" sz="2600" dirty="0"/>
              <a:t>Наявність перегляду кривої реакції в реальному часі.</a:t>
            </a:r>
          </a:p>
        </p:txBody>
      </p:sp>
    </p:spTree>
    <p:extLst>
      <p:ext uri="{BB962C8B-B14F-4D97-AF65-F5344CB8AC3E}">
        <p14:creationId xmlns:p14="http://schemas.microsoft.com/office/powerpoint/2010/main" val="1560194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Місце для вмісту 6">
            <a:extLst>
              <a:ext uri="{FF2B5EF4-FFF2-40B4-BE49-F238E27FC236}">
                <a16:creationId xmlns:a16="http://schemas.microsoft.com/office/drawing/2014/main" id="{5B1A21F0-9689-6003-54A2-ADCCB4C707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84" r="-1" b="-1"/>
          <a:stretch>
            <a:fillRect/>
          </a:stretch>
        </p:blipFill>
        <p:spPr>
          <a:xfrm>
            <a:off x="-407505" y="-88510"/>
            <a:ext cx="9919251" cy="703502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2CC8AC-7C8D-5F64-6D20-7BC82FE12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1973" y="267145"/>
            <a:ext cx="7066978" cy="1899912"/>
          </a:xfrm>
        </p:spPr>
        <p:txBody>
          <a:bodyPr>
            <a:noAutofit/>
          </a:bodyPr>
          <a:lstStyle/>
          <a:p>
            <a:pPr algn="ctr"/>
            <a:r>
              <a:rPr lang="uk-UA" sz="5000" b="1"/>
              <a:t>Напівавтоматичний коагулометр </a:t>
            </a:r>
            <a:r>
              <a:rPr lang="en-US" sz="5000" b="1"/>
              <a:t>DC1040 </a:t>
            </a:r>
            <a:endParaRPr lang="uk-UA" sz="5000" dirty="0"/>
          </a:p>
        </p:txBody>
      </p:sp>
      <p:sp>
        <p:nvSpPr>
          <p:cNvPr id="22" name="Content Placeholder 10">
            <a:extLst>
              <a:ext uri="{FF2B5EF4-FFF2-40B4-BE49-F238E27FC236}">
                <a16:creationId xmlns:a16="http://schemas.microsoft.com/office/drawing/2014/main" id="{DF143C4C-9444-A969-7C6E-E0D915284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3858" y="2523653"/>
            <a:ext cx="4514616" cy="290311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uk-UA" sz="4800" b="1" dirty="0"/>
              <a:t>Вартість аналізатору  </a:t>
            </a:r>
          </a:p>
          <a:p>
            <a:pPr marL="0" indent="0" algn="ctr">
              <a:buNone/>
            </a:pPr>
            <a:r>
              <a:rPr lang="uk-UA" sz="4800" b="1" dirty="0"/>
              <a:t>120 000 грн 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8" name="Picture 10" descr="Экспресс-диагностика в практике врача | Health-ua">
            <a:extLst>
              <a:ext uri="{FF2B5EF4-FFF2-40B4-BE49-F238E27FC236}">
                <a16:creationId xmlns:a16="http://schemas.microsoft.com/office/drawing/2014/main" id="{9FD193A8-D608-53EC-5DE3-647506B78A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63" b="98367" l="642" r="98396">
                        <a14:foregroundMark x1="30160" y1="23775" x2="30160" y2="23775"/>
                        <a14:foregroundMark x1="40107" y1="4537" x2="40107" y2="4537"/>
                        <a14:foregroundMark x1="2781" y1="29583" x2="2781" y2="29583"/>
                        <a14:foregroundMark x1="642" y1="64428" x2="642" y2="64428"/>
                        <a14:foregroundMark x1="3957" y1="67877" x2="3957" y2="67877"/>
                        <a14:foregroundMark x1="22781" y1="51180" x2="22781" y2="51180"/>
                        <a14:foregroundMark x1="29947" y1="57713" x2="29947" y2="57713"/>
                        <a14:foregroundMark x1="41711" y1="52813" x2="41711" y2="52813"/>
                        <a14:foregroundMark x1="49198" y1="51906" x2="49198" y2="51906"/>
                        <a14:foregroundMark x1="60214" y1="54265" x2="60214" y2="54265"/>
                        <a14:foregroundMark x1="69947" y1="60617" x2="69947" y2="60617"/>
                        <a14:foregroundMark x1="73797" y1="56261" x2="73797" y2="56261"/>
                        <a14:foregroundMark x1="80214" y1="56987" x2="80214" y2="56987"/>
                        <a14:foregroundMark x1="93369" y1="56261" x2="93369" y2="56261"/>
                        <a14:foregroundMark x1="97112" y1="57713" x2="97112" y2="57713"/>
                        <a14:foregroundMark x1="98182" y1="58802" x2="98182" y2="58802"/>
                        <a14:foregroundMark x1="27273" y1="51543" x2="27273" y2="51543"/>
                        <a14:foregroundMark x1="96257" y1="29220" x2="96257" y2="29220"/>
                        <a14:foregroundMark x1="94866" y1="29038" x2="94866" y2="29038"/>
                        <a14:foregroundMark x1="55829" y1="54991" x2="55829" y2="54991"/>
                        <a14:foregroundMark x1="57326" y1="56806" x2="57326" y2="56806"/>
                        <a14:foregroundMark x1="44920" y1="544" x2="44920" y2="544"/>
                        <a14:foregroundMark x1="43529" y1="1270" x2="43529" y2="1270"/>
                        <a14:foregroundMark x1="2888" y1="90926" x2="2888" y2="90926"/>
                        <a14:foregroundMark x1="4492" y1="91833" x2="4492" y2="91833"/>
                        <a14:foregroundMark x1="4171" y1="95100" x2="4171" y2="95100"/>
                        <a14:foregroundMark x1="4492" y1="97822" x2="4492" y2="97822"/>
                        <a14:foregroundMark x1="1711" y1="92922" x2="1711" y2="92922"/>
                        <a14:foregroundMark x1="7594" y1="91470" x2="7487" y2="92015"/>
                        <a14:foregroundMark x1="8449" y1="90563" x2="8984" y2="91107"/>
                        <a14:foregroundMark x1="9519" y1="94918" x2="9519" y2="95670"/>
                        <a14:foregroundMark x1="9519" y1="94192" x2="9519" y2="94918"/>
                        <a14:foregroundMark x1="8663" y1="96915" x2="8663" y2="96915"/>
                        <a14:foregroundMark x1="8770" y1="97096" x2="8770" y2="97096"/>
                        <a14:foregroundMark x1="8770" y1="97096" x2="8342" y2="96915"/>
                        <a14:foregroundMark x1="12513" y1="94555" x2="13048" y2="94555"/>
                        <a14:foregroundMark x1="19251" y1="91107" x2="19251" y2="91107"/>
                        <a14:foregroundMark x1="24599" y1="90381" x2="24599" y2="90381"/>
                        <a14:foregroundMark x1="31230" y1="91470" x2="31230" y2="91470"/>
                        <a14:foregroundMark x1="36257" y1="90563" x2="36257" y2="90563"/>
                        <a14:foregroundMark x1="34225" y1="90018" x2="34225" y2="90018"/>
                        <a14:foregroundMark x1="35508" y1="93285" x2="35508" y2="93285"/>
                        <a14:foregroundMark x1="41283" y1="90563" x2="41497" y2="90381"/>
                        <a14:foregroundMark x1="45561" y1="93648" x2="45561" y2="93648"/>
                        <a14:foregroundMark x1="35401" y1="98004" x2="35401" y2="98004"/>
                        <a14:foregroundMark x1="50802" y1="94737" x2="50802" y2="94737"/>
                        <a14:foregroundMark x1="55508" y1="94918" x2="55508" y2="94918"/>
                        <a14:foregroundMark x1="61176" y1="94374" x2="61176" y2="94374"/>
                        <a14:foregroundMark x1="68770" y1="94555" x2="68770" y2="94555"/>
                        <a14:foregroundMark x1="73797" y1="95281" x2="73797" y2="95281"/>
                        <a14:foregroundMark x1="73904" y1="91107" x2="73904" y2="91107"/>
                        <a14:foregroundMark x1="81925" y1="98367" x2="81925" y2="98367"/>
                        <a14:foregroundMark x1="87487" y1="94192" x2="87487" y2="94192"/>
                        <a14:foregroundMark x1="96150" y1="94011" x2="96150" y2="94011"/>
                        <a14:foregroundMark x1="98396" y1="93466" x2="98396" y2="93466"/>
                        <a14:foregroundMark x1="4064" y1="68058" x2="3484" y2="67763"/>
                        <a14:foregroundMark x1="21007" y1="7435" x2="21007" y2="7435"/>
                        <a14:foregroundMark x1="96499" y1="31599" x2="96499" y2="31599"/>
                        <a14:foregroundMark x1="96718" y1="29368" x2="96718" y2="29368"/>
                        <a14:backgroundMark x1="97112" y1="29038" x2="97112" y2="29038"/>
                        <a14:backgroundMark x1="8449" y1="94918" x2="8449" y2="94918"/>
                        <a14:backgroundMark x1="8235" y1="99093" x2="8556" y2="99093"/>
                        <a14:backgroundMark x1="2032" y1="66425" x2="3102" y2="66788"/>
                        <a14:backgroundMark x1="3209" y1="66788" x2="3850" y2="66788"/>
                        <a14:backgroundMark x1="14118" y1="96915" x2="14118" y2="96915"/>
                        <a14:backgroundMark x1="25668" y1="92015" x2="25668" y2="92015"/>
                        <a14:backgroundMark x1="31123" y1="94737" x2="31123" y2="94737"/>
                        <a14:backgroundMark x1="31551" y1="99456" x2="31551" y2="99456"/>
                        <a14:backgroundMark x1="46524" y1="92922" x2="46952" y2="92740"/>
                        <a14:backgroundMark x1="55401" y1="92196" x2="55401" y2="92196"/>
                        <a14:backgroundMark x1="54973" y1="98548" x2="54973" y2="98548"/>
                        <a14:backgroundMark x1="62460" y1="92740" x2="62460" y2="92740"/>
                        <a14:backgroundMark x1="62567" y1="97278" x2="62567" y2="97278"/>
                        <a14:backgroundMark x1="70160" y1="99637" x2="70695" y2="99637"/>
                        <a14:backgroundMark x1="76043" y1="98911" x2="76043" y2="98911"/>
                        <a14:backgroundMark x1="8972" y1="44981" x2="12473" y2="46097"/>
                        <a14:backgroundMark x1="11379" y1="46468" x2="12254" y2="47212"/>
                        <a14:backgroundMark x1="7659" y1="46468" x2="7659" y2="46468"/>
                        <a14:backgroundMark x1="8315" y1="46468" x2="8315" y2="46468"/>
                        <a14:backgroundMark x1="7440" y1="45353" x2="7440" y2="45353"/>
                        <a14:backgroundMark x1="6783" y1="45353" x2="6783" y2="45353"/>
                        <a14:backgroundMark x1="7002" y1="44238" x2="9190" y2="44238"/>
                        <a14:backgroundMark x1="6565" y1="44238" x2="7002" y2="44610"/>
                        <a14:backgroundMark x1="12473" y1="46097" x2="12910" y2="47584"/>
                        <a14:backgroundMark x1="5033" y1="65799" x2="5033" y2="65799"/>
                        <a14:backgroundMark x1="4595" y1="66171" x2="4158" y2="66543"/>
                        <a14:backgroundMark x1="94530" y1="98141" x2="94530" y2="98141"/>
                        <a14:backgroundMark x1="99125" y1="29740" x2="99125" y2="29740"/>
                        <a14:backgroundMark x1="96718" y1="32714" x2="96718" y2="32714"/>
                        <a14:backgroundMark x1="96061" y1="30112" x2="96061" y2="30112"/>
                        <a14:backgroundMark x1="95624" y1="28625" x2="95624" y2="286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6312" y="5690926"/>
            <a:ext cx="1532162" cy="902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6298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60A9CA5-39CD-561F-8028-8B1BA2228F3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109893" y="0"/>
            <a:ext cx="12411785" cy="71469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12D8C5-3686-6906-A6BA-2AD1A5E2C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0461"/>
            <a:ext cx="12192000" cy="900647"/>
          </a:xfrm>
        </p:spPr>
        <p:txBody>
          <a:bodyPr>
            <a:normAutofit/>
          </a:bodyPr>
          <a:lstStyle/>
          <a:p>
            <a:pPr algn="ctr"/>
            <a:r>
              <a:rPr lang="uk-UA" b="1" dirty="0"/>
              <a:t>Реагенти та витратні матеріали для </a:t>
            </a:r>
            <a:r>
              <a:rPr lang="en-US" b="1" dirty="0"/>
              <a:t>DC1040</a:t>
            </a:r>
            <a:endParaRPr lang="uk-UA" b="1" dirty="0"/>
          </a:p>
        </p:txBody>
      </p:sp>
      <p:graphicFrame>
        <p:nvGraphicFramePr>
          <p:cNvPr id="9" name="Місце для вмісту 8">
            <a:extLst>
              <a:ext uri="{FF2B5EF4-FFF2-40B4-BE49-F238E27FC236}">
                <a16:creationId xmlns:a16="http://schemas.microsoft.com/office/drawing/2014/main" id="{89E0DC55-C7C7-E586-C9A0-CF9B30A4C1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1371827"/>
              </p:ext>
            </p:extLst>
          </p:nvPr>
        </p:nvGraphicFramePr>
        <p:xfrm>
          <a:off x="385968" y="907195"/>
          <a:ext cx="11420061" cy="2947207"/>
        </p:xfrm>
        <a:graphic>
          <a:graphicData uri="http://schemas.openxmlformats.org/drawingml/2006/table">
            <a:tbl>
              <a:tblPr/>
              <a:tblGrid>
                <a:gridCol w="1125920">
                  <a:extLst>
                    <a:ext uri="{9D8B030D-6E8A-4147-A177-3AD203B41FA5}">
                      <a16:colId xmlns:a16="http://schemas.microsoft.com/office/drawing/2014/main" val="2956314920"/>
                    </a:ext>
                  </a:extLst>
                </a:gridCol>
                <a:gridCol w="3334873">
                  <a:extLst>
                    <a:ext uri="{9D8B030D-6E8A-4147-A177-3AD203B41FA5}">
                      <a16:colId xmlns:a16="http://schemas.microsoft.com/office/drawing/2014/main" val="3112625445"/>
                    </a:ext>
                  </a:extLst>
                </a:gridCol>
                <a:gridCol w="1715690">
                  <a:extLst>
                    <a:ext uri="{9D8B030D-6E8A-4147-A177-3AD203B41FA5}">
                      <a16:colId xmlns:a16="http://schemas.microsoft.com/office/drawing/2014/main" val="3080098176"/>
                    </a:ext>
                  </a:extLst>
                </a:gridCol>
                <a:gridCol w="1050861">
                  <a:extLst>
                    <a:ext uri="{9D8B030D-6E8A-4147-A177-3AD203B41FA5}">
                      <a16:colId xmlns:a16="http://schemas.microsoft.com/office/drawing/2014/main" val="4033106972"/>
                    </a:ext>
                  </a:extLst>
                </a:gridCol>
                <a:gridCol w="1104475">
                  <a:extLst>
                    <a:ext uri="{9D8B030D-6E8A-4147-A177-3AD203B41FA5}">
                      <a16:colId xmlns:a16="http://schemas.microsoft.com/office/drawing/2014/main" val="585070117"/>
                    </a:ext>
                  </a:extLst>
                </a:gridCol>
                <a:gridCol w="1233151">
                  <a:extLst>
                    <a:ext uri="{9D8B030D-6E8A-4147-A177-3AD203B41FA5}">
                      <a16:colId xmlns:a16="http://schemas.microsoft.com/office/drawing/2014/main" val="1261699578"/>
                    </a:ext>
                  </a:extLst>
                </a:gridCol>
                <a:gridCol w="1855091">
                  <a:extLst>
                    <a:ext uri="{9D8B030D-6E8A-4147-A177-3AD203B41FA5}">
                      <a16:colId xmlns:a16="http://schemas.microsoft.com/office/drawing/2014/main" val="1884080965"/>
                    </a:ext>
                  </a:extLst>
                </a:gridCol>
              </a:tblGrid>
              <a:tr h="489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Скорочена назва</a:t>
                      </a:r>
                    </a:p>
                  </a:txBody>
                  <a:tcPr marL="3492" marR="3492" marT="3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Назва набору</a:t>
                      </a:r>
                    </a:p>
                  </a:txBody>
                  <a:tcPr marL="3492" marR="3492" marT="3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Фасовка</a:t>
                      </a:r>
                      <a:r>
                        <a:rPr lang="uk-UA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набору</a:t>
                      </a:r>
                    </a:p>
                  </a:txBody>
                  <a:tcPr marL="3492" marR="3492" marT="3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Ціна</a:t>
                      </a:r>
                      <a:r>
                        <a:rPr lang="ru-RU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, грн., (в т.ч. ПДВ)</a:t>
                      </a:r>
                    </a:p>
                  </a:txBody>
                  <a:tcPr marL="3492" marR="3492" marT="3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К-сть тестів в наборі</a:t>
                      </a:r>
                    </a:p>
                  </a:txBody>
                  <a:tcPr marL="3492" marR="3492" marT="3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Вартість 1 тесту</a:t>
                      </a:r>
                    </a:p>
                  </a:txBody>
                  <a:tcPr marL="3492" marR="3492" marT="3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Загальна вартість 1 тесту (+кювета та магнітний змішувач)</a:t>
                      </a:r>
                    </a:p>
                  </a:txBody>
                  <a:tcPr marL="3492" marR="3492" marT="3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4580061"/>
                  </a:ext>
                </a:extLst>
              </a:tr>
              <a:tr h="57648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uk-U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Реагент ПЧ</a:t>
                      </a:r>
                    </a:p>
                  </a:txBody>
                  <a:tcPr marL="3492" marR="3492" marT="349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Реагент для </a:t>
                      </a:r>
                      <a:r>
                        <a:rPr lang="ru-RU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визначення</a:t>
                      </a:r>
                      <a:r>
                        <a:rPr lang="ru-RU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протромбінового</a:t>
                      </a:r>
                      <a:r>
                        <a:rPr lang="ru-RU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часу (метод </a:t>
                      </a:r>
                      <a:r>
                        <a:rPr lang="ru-RU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коагуляції</a:t>
                      </a:r>
                      <a:r>
                        <a:rPr lang="ru-RU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</a:p>
                  </a:txBody>
                  <a:tcPr marL="3492" marR="3492" marT="3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Реагент 1 (10х2 мл)</a:t>
                      </a:r>
                    </a:p>
                  </a:txBody>
                  <a:tcPr marL="3492" marR="3492" marT="3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2 950,00  </a:t>
                      </a:r>
                    </a:p>
                  </a:txBody>
                  <a:tcPr marL="3492" marR="3492" marT="3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200  </a:t>
                      </a:r>
                    </a:p>
                  </a:txBody>
                  <a:tcPr marL="3492" marR="3492" marT="3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14,75</a:t>
                      </a:r>
                    </a:p>
                  </a:txBody>
                  <a:tcPr marL="3492" marR="3492" marT="3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25,83</a:t>
                      </a:r>
                    </a:p>
                  </a:txBody>
                  <a:tcPr marL="3492" marR="3492" marT="3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5652740"/>
                  </a:ext>
                </a:extLst>
              </a:tr>
              <a:tr h="58767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uk-U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Реагент АЧТЧ</a:t>
                      </a:r>
                    </a:p>
                  </a:txBody>
                  <a:tcPr marL="3492" marR="3492" marT="349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Набір</a:t>
                      </a:r>
                      <a:r>
                        <a:rPr lang="ru-RU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для </a:t>
                      </a:r>
                      <a:r>
                        <a:rPr lang="ru-RU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визначення</a:t>
                      </a:r>
                      <a:r>
                        <a:rPr lang="ru-RU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активованого</a:t>
                      </a:r>
                      <a:r>
                        <a:rPr lang="ru-RU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часткового</a:t>
                      </a:r>
                      <a:r>
                        <a:rPr lang="ru-RU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тромбопластинового часу (метод </a:t>
                      </a:r>
                      <a:r>
                        <a:rPr lang="ru-RU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коагуляції</a:t>
                      </a:r>
                      <a:r>
                        <a:rPr lang="ru-RU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</a:p>
                  </a:txBody>
                  <a:tcPr marL="3492" marR="3492" marT="3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Реагент 1 (10х2 мл); Реагент 2 (10х2 мл) </a:t>
                      </a:r>
                    </a:p>
                  </a:txBody>
                  <a:tcPr marL="3492" marR="3492" marT="3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3 950,00  </a:t>
                      </a:r>
                    </a:p>
                  </a:txBody>
                  <a:tcPr marL="3492" marR="3492" marT="3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400  </a:t>
                      </a:r>
                    </a:p>
                  </a:txBody>
                  <a:tcPr marL="3492" marR="3492" marT="3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9,88</a:t>
                      </a:r>
                    </a:p>
                  </a:txBody>
                  <a:tcPr marL="3492" marR="3492" marT="3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20,95</a:t>
                      </a:r>
                    </a:p>
                  </a:txBody>
                  <a:tcPr marL="3492" marR="3492" marT="3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663456"/>
                  </a:ext>
                </a:extLst>
              </a:tr>
              <a:tr h="61006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uk-UA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Реагент фібриноген</a:t>
                      </a:r>
                    </a:p>
                  </a:txBody>
                  <a:tcPr marL="3492" marR="3492" marT="349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Набір</a:t>
                      </a:r>
                      <a:r>
                        <a:rPr lang="ru-RU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для </a:t>
                      </a:r>
                      <a:r>
                        <a:rPr lang="ru-RU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визначення</a:t>
                      </a:r>
                      <a:r>
                        <a:rPr lang="ru-RU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фібриногену</a:t>
                      </a:r>
                      <a:r>
                        <a:rPr lang="ru-RU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(</a:t>
                      </a:r>
                      <a:r>
                        <a:rPr lang="ru-RU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модифікований</a:t>
                      </a:r>
                      <a:r>
                        <a:rPr lang="ru-RU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метод Клауса</a:t>
                      </a:r>
                    </a:p>
                  </a:txBody>
                  <a:tcPr marL="3492" marR="3492" marT="3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Реагент 1 (10х4 мл); Реагент 2 (5х30 мл) </a:t>
                      </a:r>
                    </a:p>
                  </a:txBody>
                  <a:tcPr marL="3492" marR="3492" marT="3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18 700,00  </a:t>
                      </a:r>
                    </a:p>
                  </a:txBody>
                  <a:tcPr marL="3492" marR="3492" marT="3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800  </a:t>
                      </a:r>
                    </a:p>
                  </a:txBody>
                  <a:tcPr marL="3492" marR="3492" marT="3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23,38</a:t>
                      </a:r>
                    </a:p>
                  </a:txBody>
                  <a:tcPr marL="3492" marR="3492" marT="3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34,45</a:t>
                      </a:r>
                    </a:p>
                  </a:txBody>
                  <a:tcPr marL="3492" marR="3492" marT="3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700454"/>
                  </a:ext>
                </a:extLst>
              </a:tr>
              <a:tr h="47351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uk-UA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Реагент ТЧ</a:t>
                      </a:r>
                    </a:p>
                  </a:txBody>
                  <a:tcPr marL="3492" marR="3492" marT="349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Реагент для </a:t>
                      </a:r>
                      <a:r>
                        <a:rPr lang="ru-RU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визначення</a:t>
                      </a:r>
                      <a:r>
                        <a:rPr lang="ru-RU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ru-RU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тромбінового</a:t>
                      </a:r>
                      <a:r>
                        <a:rPr lang="ru-RU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часу (метод </a:t>
                      </a:r>
                      <a:r>
                        <a:rPr lang="ru-RU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коагуляції</a:t>
                      </a:r>
                      <a:r>
                        <a:rPr lang="ru-RU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</a:p>
                  </a:txBody>
                  <a:tcPr marL="3492" marR="3492" marT="3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Реагент 1 (10х3 мл)</a:t>
                      </a:r>
                    </a:p>
                  </a:txBody>
                  <a:tcPr marL="3492" marR="3492" marT="3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6 100,00  </a:t>
                      </a:r>
                    </a:p>
                  </a:txBody>
                  <a:tcPr marL="3492" marR="3492" marT="3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400  </a:t>
                      </a:r>
                    </a:p>
                  </a:txBody>
                  <a:tcPr marL="3492" marR="3492" marT="3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15,25</a:t>
                      </a:r>
                    </a:p>
                  </a:txBody>
                  <a:tcPr marL="3492" marR="3492" marT="3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26,33</a:t>
                      </a:r>
                    </a:p>
                  </a:txBody>
                  <a:tcPr marL="3492" marR="3492" marT="349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3126842"/>
                  </a:ext>
                </a:extLst>
              </a:tr>
            </a:tbl>
          </a:graphicData>
        </a:graphic>
      </p:graphicFrame>
      <p:graphicFrame>
        <p:nvGraphicFramePr>
          <p:cNvPr id="11" name="Таблиця 10">
            <a:extLst>
              <a:ext uri="{FF2B5EF4-FFF2-40B4-BE49-F238E27FC236}">
                <a16:creationId xmlns:a16="http://schemas.microsoft.com/office/drawing/2014/main" id="{2C737BEB-AD75-4C53-884C-B54E1E2A53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563358"/>
              </p:ext>
            </p:extLst>
          </p:nvPr>
        </p:nvGraphicFramePr>
        <p:xfrm>
          <a:off x="1222419" y="3970947"/>
          <a:ext cx="9482118" cy="245490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87091">
                  <a:extLst>
                    <a:ext uri="{9D8B030D-6E8A-4147-A177-3AD203B41FA5}">
                      <a16:colId xmlns:a16="http://schemas.microsoft.com/office/drawing/2014/main" val="1088572198"/>
                    </a:ext>
                  </a:extLst>
                </a:gridCol>
                <a:gridCol w="3092295">
                  <a:extLst>
                    <a:ext uri="{9D8B030D-6E8A-4147-A177-3AD203B41FA5}">
                      <a16:colId xmlns:a16="http://schemas.microsoft.com/office/drawing/2014/main" val="2649537663"/>
                    </a:ext>
                  </a:extLst>
                </a:gridCol>
                <a:gridCol w="2718823">
                  <a:extLst>
                    <a:ext uri="{9D8B030D-6E8A-4147-A177-3AD203B41FA5}">
                      <a16:colId xmlns:a16="http://schemas.microsoft.com/office/drawing/2014/main" val="3401081283"/>
                    </a:ext>
                  </a:extLst>
                </a:gridCol>
                <a:gridCol w="1883909">
                  <a:extLst>
                    <a:ext uri="{9D8B030D-6E8A-4147-A177-3AD203B41FA5}">
                      <a16:colId xmlns:a16="http://schemas.microsoft.com/office/drawing/2014/main" val="2757369082"/>
                    </a:ext>
                  </a:extLst>
                </a:gridCol>
              </a:tblGrid>
              <a:tr h="2359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4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Скорочена назва</a:t>
                      </a:r>
                      <a:endParaRPr lang="uk-UA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78" marR="3878" marT="3878" marB="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4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Назва набору</a:t>
                      </a:r>
                      <a:endParaRPr lang="uk-UA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78" marR="3878" marT="3878" marB="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400" b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Фасовка</a:t>
                      </a:r>
                      <a:r>
                        <a:rPr lang="uk-UA" sz="14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набору</a:t>
                      </a:r>
                      <a:endParaRPr lang="uk-UA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78" marR="3878" marT="3878" marB="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400" b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Ціна</a:t>
                      </a:r>
                      <a:r>
                        <a:rPr lang="ru-RU" sz="14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грн., (в т.ч. ПДВ)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78" marR="3878" marT="3878" marB="0" anchor="ctr"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064573"/>
                  </a:ext>
                </a:extLst>
              </a:tr>
              <a:tr h="37903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uk-UA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Контроль коагуляції (рівень 1)</a:t>
                      </a:r>
                      <a:endParaRPr lang="uk-UA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78" marR="3878" marT="3878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4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Контроль коагуляції (рівень 1)</a:t>
                      </a:r>
                      <a:endParaRPr lang="uk-UA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78" marR="3878" marT="3878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Реагент 1 (10х1 мл)</a:t>
                      </a:r>
                      <a:endParaRPr lang="uk-UA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78" marR="3878" marT="3878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4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12 165,00  </a:t>
                      </a:r>
                      <a:endParaRPr lang="uk-UA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78" marR="3878" marT="3878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8821589"/>
                  </a:ext>
                </a:extLst>
              </a:tr>
              <a:tr h="48927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uk-UA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Контроль коагуляції (рівень 2)</a:t>
                      </a:r>
                      <a:endParaRPr lang="uk-UA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78" marR="3878" marT="3878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4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Контроль коагуляції (рівень 2)</a:t>
                      </a:r>
                      <a:endParaRPr lang="uk-UA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78" marR="3878" marT="3878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4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Реагент 1 (10х1 мл)</a:t>
                      </a:r>
                      <a:endParaRPr lang="uk-UA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78" marR="3878" marT="3878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4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12 165,00  </a:t>
                      </a:r>
                      <a:endParaRPr lang="uk-UA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78" marR="3878" marT="3878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930936"/>
                  </a:ext>
                </a:extLst>
              </a:tr>
              <a:tr h="48927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uk-UA" sz="1400" b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Калібратор</a:t>
                      </a:r>
                      <a:r>
                        <a:rPr lang="uk-UA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фібриногену </a:t>
                      </a:r>
                      <a:endParaRPr lang="uk-UA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78" marR="3878" marT="3878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400" b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Калібратор</a:t>
                      </a:r>
                      <a:r>
                        <a:rPr lang="uk-UA" sz="14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фібриногену </a:t>
                      </a:r>
                      <a:endParaRPr lang="uk-UA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78" marR="3878" marT="3878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Реагент 1 (6х1 мл)</a:t>
                      </a:r>
                      <a:endParaRPr lang="uk-UA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78" marR="3878" marT="3878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4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7 870,00</a:t>
                      </a:r>
                      <a:endParaRPr lang="uk-UA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78" marR="3878" marT="3878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437360"/>
                  </a:ext>
                </a:extLst>
              </a:tr>
              <a:tr h="3341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Кювета оптична </a:t>
                      </a:r>
                      <a:endParaRPr lang="uk-UA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78" marR="3878" marT="3878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4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Кювета оптична </a:t>
                      </a:r>
                      <a:endParaRPr lang="uk-UA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78" marR="3878" marT="3878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 </a:t>
                      </a:r>
                      <a:r>
                        <a:rPr lang="uk-UA" sz="1400" b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шт</a:t>
                      </a:r>
                      <a:endParaRPr lang="uk-UA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78" marR="3878" marT="3878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4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9 350,00  </a:t>
                      </a:r>
                      <a:endParaRPr lang="uk-UA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78" marR="3878" marT="3878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051477"/>
                  </a:ext>
                </a:extLst>
              </a:tr>
              <a:tr h="4756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Магнітний змішувач</a:t>
                      </a:r>
                      <a:endParaRPr lang="uk-UA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78" marR="3878" marT="3878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4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Магнітний змішувач</a:t>
                      </a:r>
                      <a:endParaRPr lang="uk-UA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78" marR="3878" marT="3878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2 000 </a:t>
                      </a:r>
                      <a:r>
                        <a:rPr lang="uk-UA" sz="1400" b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шт</a:t>
                      </a:r>
                      <a:endParaRPr lang="uk-UA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78" marR="3878" marT="3878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4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3 450,00 </a:t>
                      </a:r>
                      <a:endParaRPr lang="uk-UA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78" marR="3878" marT="3878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695938"/>
                  </a:ext>
                </a:extLst>
              </a:tr>
            </a:tbl>
          </a:graphicData>
        </a:graphic>
      </p:graphicFrame>
      <p:pic>
        <p:nvPicPr>
          <p:cNvPr id="3" name="Picture 10" descr="Экспресс-диагностика в практике врача | Health-ua">
            <a:extLst>
              <a:ext uri="{FF2B5EF4-FFF2-40B4-BE49-F238E27FC236}">
                <a16:creationId xmlns:a16="http://schemas.microsoft.com/office/drawing/2014/main" id="{A8E576DB-1EBB-FE07-3EE6-4A01B46A1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63" b="98367" l="642" r="98396">
                        <a14:foregroundMark x1="30160" y1="23775" x2="30160" y2="23775"/>
                        <a14:foregroundMark x1="40107" y1="4537" x2="40107" y2="4537"/>
                        <a14:foregroundMark x1="2781" y1="29583" x2="2781" y2="29583"/>
                        <a14:foregroundMark x1="642" y1="64428" x2="642" y2="64428"/>
                        <a14:foregroundMark x1="3957" y1="67877" x2="3957" y2="67877"/>
                        <a14:foregroundMark x1="22781" y1="51180" x2="22781" y2="51180"/>
                        <a14:foregroundMark x1="29947" y1="57713" x2="29947" y2="57713"/>
                        <a14:foregroundMark x1="41711" y1="52813" x2="41711" y2="52813"/>
                        <a14:foregroundMark x1="49198" y1="51906" x2="49198" y2="51906"/>
                        <a14:foregroundMark x1="60214" y1="54265" x2="60214" y2="54265"/>
                        <a14:foregroundMark x1="69947" y1="60617" x2="69947" y2="60617"/>
                        <a14:foregroundMark x1="73797" y1="56261" x2="73797" y2="56261"/>
                        <a14:foregroundMark x1="80214" y1="56987" x2="80214" y2="56987"/>
                        <a14:foregroundMark x1="93369" y1="56261" x2="93369" y2="56261"/>
                        <a14:foregroundMark x1="97112" y1="57713" x2="97112" y2="57713"/>
                        <a14:foregroundMark x1="98182" y1="58802" x2="98182" y2="58802"/>
                        <a14:foregroundMark x1="27273" y1="51543" x2="27273" y2="51543"/>
                        <a14:foregroundMark x1="96257" y1="29220" x2="96257" y2="29220"/>
                        <a14:foregroundMark x1="94866" y1="29038" x2="94866" y2="29038"/>
                        <a14:foregroundMark x1="55829" y1="54991" x2="55829" y2="54991"/>
                        <a14:foregroundMark x1="57326" y1="56806" x2="57326" y2="56806"/>
                        <a14:foregroundMark x1="44920" y1="544" x2="44920" y2="544"/>
                        <a14:foregroundMark x1="43529" y1="1270" x2="43529" y2="1270"/>
                        <a14:foregroundMark x1="2888" y1="90926" x2="2888" y2="90926"/>
                        <a14:foregroundMark x1="4492" y1="91833" x2="4492" y2="91833"/>
                        <a14:foregroundMark x1="4171" y1="95100" x2="4171" y2="95100"/>
                        <a14:foregroundMark x1="4492" y1="97822" x2="4492" y2="97822"/>
                        <a14:foregroundMark x1="1711" y1="92922" x2="1711" y2="92922"/>
                        <a14:foregroundMark x1="7594" y1="91470" x2="7487" y2="92015"/>
                        <a14:foregroundMark x1="8449" y1="90563" x2="8984" y2="91107"/>
                        <a14:foregroundMark x1="9519" y1="94918" x2="9519" y2="95670"/>
                        <a14:foregroundMark x1="9519" y1="94192" x2="9519" y2="94918"/>
                        <a14:foregroundMark x1="8663" y1="96915" x2="8663" y2="96915"/>
                        <a14:foregroundMark x1="8770" y1="97096" x2="8770" y2="97096"/>
                        <a14:foregroundMark x1="8770" y1="97096" x2="8342" y2="96915"/>
                        <a14:foregroundMark x1="12513" y1="94555" x2="13048" y2="94555"/>
                        <a14:foregroundMark x1="19251" y1="91107" x2="19251" y2="91107"/>
                        <a14:foregroundMark x1="24599" y1="90381" x2="24599" y2="90381"/>
                        <a14:foregroundMark x1="31230" y1="91470" x2="31230" y2="91470"/>
                        <a14:foregroundMark x1="36257" y1="90563" x2="36257" y2="90563"/>
                        <a14:foregroundMark x1="34225" y1="90018" x2="34225" y2="90018"/>
                        <a14:foregroundMark x1="35508" y1="93285" x2="35508" y2="93285"/>
                        <a14:foregroundMark x1="41283" y1="90563" x2="41497" y2="90381"/>
                        <a14:foregroundMark x1="45561" y1="93648" x2="45561" y2="93648"/>
                        <a14:foregroundMark x1="35401" y1="98004" x2="35401" y2="98004"/>
                        <a14:foregroundMark x1="50802" y1="94737" x2="50802" y2="94737"/>
                        <a14:foregroundMark x1="55508" y1="94918" x2="55508" y2="94918"/>
                        <a14:foregroundMark x1="61176" y1="94374" x2="61176" y2="94374"/>
                        <a14:foregroundMark x1="68770" y1="94555" x2="68770" y2="94555"/>
                        <a14:foregroundMark x1="73797" y1="95281" x2="73797" y2="95281"/>
                        <a14:foregroundMark x1="73904" y1="91107" x2="73904" y2="91107"/>
                        <a14:foregroundMark x1="81925" y1="98367" x2="81925" y2="98367"/>
                        <a14:foregroundMark x1="87487" y1="94192" x2="87487" y2="94192"/>
                        <a14:foregroundMark x1="96150" y1="94011" x2="96150" y2="94011"/>
                        <a14:foregroundMark x1="98396" y1="93466" x2="98396" y2="93466"/>
                        <a14:foregroundMark x1="4064" y1="68058" x2="3484" y2="67763"/>
                        <a14:foregroundMark x1="21007" y1="7435" x2="21007" y2="7435"/>
                        <a14:foregroundMark x1="96499" y1="31599" x2="96499" y2="31599"/>
                        <a14:foregroundMark x1="96718" y1="29368" x2="96718" y2="29368"/>
                        <a14:backgroundMark x1="97112" y1="29038" x2="97112" y2="29038"/>
                        <a14:backgroundMark x1="8449" y1="94918" x2="8449" y2="94918"/>
                        <a14:backgroundMark x1="8235" y1="99093" x2="8556" y2="99093"/>
                        <a14:backgroundMark x1="2032" y1="66425" x2="3102" y2="66788"/>
                        <a14:backgroundMark x1="3209" y1="66788" x2="3850" y2="66788"/>
                        <a14:backgroundMark x1="14118" y1="96915" x2="14118" y2="96915"/>
                        <a14:backgroundMark x1="25668" y1="92015" x2="25668" y2="92015"/>
                        <a14:backgroundMark x1="31123" y1="94737" x2="31123" y2="94737"/>
                        <a14:backgroundMark x1="31551" y1="99456" x2="31551" y2="99456"/>
                        <a14:backgroundMark x1="46524" y1="92922" x2="46952" y2="92740"/>
                        <a14:backgroundMark x1="55401" y1="92196" x2="55401" y2="92196"/>
                        <a14:backgroundMark x1="54973" y1="98548" x2="54973" y2="98548"/>
                        <a14:backgroundMark x1="62460" y1="92740" x2="62460" y2="92740"/>
                        <a14:backgroundMark x1="62567" y1="97278" x2="62567" y2="97278"/>
                        <a14:backgroundMark x1="70160" y1="99637" x2="70695" y2="99637"/>
                        <a14:backgroundMark x1="76043" y1="98911" x2="76043" y2="98911"/>
                        <a14:backgroundMark x1="8972" y1="44981" x2="12473" y2="46097"/>
                        <a14:backgroundMark x1="11379" y1="46468" x2="12254" y2="47212"/>
                        <a14:backgroundMark x1="7659" y1="46468" x2="7659" y2="46468"/>
                        <a14:backgroundMark x1="8315" y1="46468" x2="8315" y2="46468"/>
                        <a14:backgroundMark x1="7440" y1="45353" x2="7440" y2="45353"/>
                        <a14:backgroundMark x1="6783" y1="45353" x2="6783" y2="45353"/>
                        <a14:backgroundMark x1="7002" y1="44238" x2="9190" y2="44238"/>
                        <a14:backgroundMark x1="6565" y1="44238" x2="7002" y2="44610"/>
                        <a14:backgroundMark x1="12473" y1="46097" x2="12910" y2="47584"/>
                        <a14:backgroundMark x1="5033" y1="65799" x2="5033" y2="65799"/>
                        <a14:backgroundMark x1="4595" y1="66171" x2="4158" y2="66543"/>
                        <a14:backgroundMark x1="94530" y1="98141" x2="94530" y2="98141"/>
                        <a14:backgroundMark x1="99125" y1="29740" x2="99125" y2="29740"/>
                        <a14:backgroundMark x1="96718" y1="32714" x2="96718" y2="32714"/>
                        <a14:backgroundMark x1="96061" y1="30112" x2="96061" y2="30112"/>
                        <a14:backgroundMark x1="95624" y1="28625" x2="95624" y2="286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9498" y="6081433"/>
            <a:ext cx="1168900" cy="68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7735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2B783EE-0239-4717-BBEA-8C9EAC61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3E8C730-D76C-FC45-39AF-34A139C2BF0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109893" y="0"/>
            <a:ext cx="12411785" cy="71469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CB2177-1A42-3652-9649-3BCBE2C89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103" y="202141"/>
            <a:ext cx="5613291" cy="1439846"/>
          </a:xfrm>
        </p:spPr>
        <p:txBody>
          <a:bodyPr>
            <a:normAutofit/>
          </a:bodyPr>
          <a:lstStyle/>
          <a:p>
            <a:pPr algn="ctr"/>
            <a:r>
              <a:rPr lang="ru-RU" sz="3100" b="1">
                <a:latin typeface="Times New Roman" panose="02020603050405020304" pitchFamily="18" charset="0"/>
              </a:rPr>
              <a:t>Реагент для визначення протромбінового часу (ПЧ)</a:t>
            </a:r>
            <a:endParaRPr lang="uk-UA" sz="3100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0525459-F8D6-54B4-3AEC-BBEB27A00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103" y="1951440"/>
            <a:ext cx="7581152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uk-UA" b="1" dirty="0"/>
              <a:t>Вартість: </a:t>
            </a:r>
            <a:r>
              <a:rPr lang="uk-UA" dirty="0"/>
              <a:t>2 950 грн</a:t>
            </a:r>
            <a:br>
              <a:rPr lang="uk-UA" dirty="0"/>
            </a:br>
            <a:br>
              <a:rPr lang="uk-UA" b="1" dirty="0"/>
            </a:br>
            <a:r>
              <a:rPr lang="uk-UA" b="1" dirty="0" err="1"/>
              <a:t>Фасовка</a:t>
            </a:r>
            <a:r>
              <a:rPr lang="uk-UA" b="1" dirty="0"/>
              <a:t> набору:</a:t>
            </a:r>
            <a:r>
              <a:rPr lang="uk-UA" dirty="0"/>
              <a:t> Реагент 1 (10х2 мл)</a:t>
            </a:r>
            <a:br>
              <a:rPr lang="uk-UA" dirty="0"/>
            </a:br>
            <a:br>
              <a:rPr lang="uk-UA" dirty="0"/>
            </a:br>
            <a:r>
              <a:rPr lang="uk-UA" b="1" dirty="0"/>
              <a:t>Кількість тестів в наборі:</a:t>
            </a:r>
            <a:r>
              <a:rPr lang="uk-UA" dirty="0"/>
              <a:t> 200</a:t>
            </a:r>
            <a:br>
              <a:rPr lang="uk-UA" dirty="0"/>
            </a:br>
            <a:br>
              <a:rPr lang="uk-UA" dirty="0"/>
            </a:br>
            <a:r>
              <a:rPr lang="uk-UA" b="1" dirty="0"/>
              <a:t>Кількість тестів в 1 флаконі: </a:t>
            </a:r>
            <a:r>
              <a:rPr lang="uk-UA" dirty="0"/>
              <a:t>20</a:t>
            </a:r>
            <a:br>
              <a:rPr lang="uk-UA" dirty="0"/>
            </a:br>
            <a:endParaRPr lang="uk-UA" dirty="0"/>
          </a:p>
          <a:p>
            <a:pPr marL="0" indent="0">
              <a:buNone/>
            </a:pPr>
            <a:r>
              <a:rPr lang="uk-UA" b="1" dirty="0"/>
              <a:t>Вартість 1 тесту: </a:t>
            </a:r>
            <a:r>
              <a:rPr lang="uk-UA" dirty="0"/>
              <a:t>14,75 грн</a:t>
            </a:r>
            <a:br>
              <a:rPr lang="uk-UA" b="1" dirty="0"/>
            </a:br>
            <a:r>
              <a:rPr lang="uk-UA" dirty="0"/>
              <a:t> </a:t>
            </a:r>
            <a:br>
              <a:rPr lang="uk-UA" b="1" dirty="0">
                <a:solidFill>
                  <a:srgbClr val="FF0000"/>
                </a:solidFill>
              </a:rPr>
            </a:br>
            <a:r>
              <a:rPr lang="uk-UA" b="1" dirty="0"/>
              <a:t>Термін придатності в закритому стані: </a:t>
            </a:r>
            <a:r>
              <a:rPr lang="uk-UA" dirty="0"/>
              <a:t>24 місяці</a:t>
            </a:r>
            <a:br>
              <a:rPr lang="uk-UA" dirty="0"/>
            </a:br>
            <a:br>
              <a:rPr lang="uk-UA" b="1" dirty="0"/>
            </a:br>
            <a:r>
              <a:rPr lang="uk-UA" b="1" dirty="0"/>
              <a:t>Термін придатності у відкритому стані: </a:t>
            </a:r>
            <a:r>
              <a:rPr lang="uk-UA" dirty="0"/>
              <a:t>після відкриття </a:t>
            </a:r>
            <a:r>
              <a:rPr lang="ru-RU" dirty="0"/>
              <a:t>реагент</a:t>
            </a:r>
            <a:r>
              <a:rPr lang="uk-UA" dirty="0"/>
              <a:t> стабільний протягом </a:t>
            </a:r>
            <a:r>
              <a:rPr lang="ru-RU" dirty="0"/>
              <a:t>7 </a:t>
            </a:r>
            <a:r>
              <a:rPr lang="ru-RU" dirty="0" err="1"/>
              <a:t>днів</a:t>
            </a:r>
            <a:r>
              <a:rPr lang="ru-RU" dirty="0"/>
              <a:t> </a:t>
            </a:r>
            <a:r>
              <a:rPr lang="uk-UA" dirty="0"/>
              <a:t>при температурі</a:t>
            </a:r>
            <a:r>
              <a:rPr lang="ru-RU" dirty="0"/>
              <a:t> </a:t>
            </a:r>
            <a:r>
              <a:rPr lang="ru-RU" dirty="0" err="1"/>
              <a:t>зберігання</a:t>
            </a:r>
            <a:r>
              <a:rPr lang="uk-UA" dirty="0"/>
              <a:t> 2-</a:t>
            </a:r>
            <a:r>
              <a:rPr lang="ru-RU" dirty="0"/>
              <a:t>8</a:t>
            </a:r>
            <a:r>
              <a:rPr lang="uk-UA" dirty="0"/>
              <a:t>°С.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Місце для вмісту 6" descr="Зображення, що містить текст, у приміщенні, скриня, канцелярські товари й офісне обладнання&#10;&#10;Вміст, створений ШІ, може бути неправильним.">
            <a:extLst>
              <a:ext uri="{FF2B5EF4-FFF2-40B4-BE49-F238E27FC236}">
                <a16:creationId xmlns:a16="http://schemas.microsoft.com/office/drawing/2014/main" id="{1727C57D-813F-2F7E-5CA8-5B038F91D04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91" t="18979" r="487" b="8823"/>
          <a:stretch>
            <a:fillRect/>
          </a:stretch>
        </p:blipFill>
        <p:spPr bwMode="auto">
          <a:xfrm>
            <a:off x="7901259" y="2727729"/>
            <a:ext cx="4290741" cy="4130271"/>
          </a:xfrm>
          <a:custGeom>
            <a:avLst/>
            <a:gdLst/>
            <a:ahLst/>
            <a:cxnLst/>
            <a:rect l="l" t="t" r="r" b="b"/>
            <a:pathLst>
              <a:path w="4290741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1" y="751286"/>
                </a:lnTo>
                <a:lnTo>
                  <a:pt x="4290741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9" name="Arc 18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Рисунок 7" descr="Зображення, що містить текст, у приміщенні, стіна, картонна коробка&#10;&#10;Вміст, створений ШІ, може бути неправильним.">
            <a:extLst>
              <a:ext uri="{FF2B5EF4-FFF2-40B4-BE49-F238E27FC236}">
                <a16:creationId xmlns:a16="http://schemas.microsoft.com/office/drawing/2014/main" id="{51C05D4B-B741-78B3-A853-416F139A9E1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67" t="33378" r="667" b="2520"/>
          <a:stretch>
            <a:fillRect/>
          </a:stretch>
        </p:blipFill>
        <p:spPr bwMode="auto">
          <a:xfrm>
            <a:off x="6261607" y="1"/>
            <a:ext cx="3519312" cy="3007909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Picture 10" descr="Экспресс-диагностика в практике врача | Health-ua">
            <a:extLst>
              <a:ext uri="{FF2B5EF4-FFF2-40B4-BE49-F238E27FC236}">
                <a16:creationId xmlns:a16="http://schemas.microsoft.com/office/drawing/2014/main" id="{D2F3B3A8-7A8A-E362-032F-2806466A65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63" b="98367" l="642" r="98396">
                        <a14:foregroundMark x1="30160" y1="23775" x2="30160" y2="23775"/>
                        <a14:foregroundMark x1="40107" y1="4537" x2="40107" y2="4537"/>
                        <a14:foregroundMark x1="2781" y1="29583" x2="2781" y2="29583"/>
                        <a14:foregroundMark x1="642" y1="64428" x2="642" y2="64428"/>
                        <a14:foregroundMark x1="3957" y1="67877" x2="3957" y2="67877"/>
                        <a14:foregroundMark x1="22781" y1="51180" x2="22781" y2="51180"/>
                        <a14:foregroundMark x1="29947" y1="57713" x2="29947" y2="57713"/>
                        <a14:foregroundMark x1="41711" y1="52813" x2="41711" y2="52813"/>
                        <a14:foregroundMark x1="49198" y1="51906" x2="49198" y2="51906"/>
                        <a14:foregroundMark x1="60214" y1="54265" x2="60214" y2="54265"/>
                        <a14:foregroundMark x1="69947" y1="60617" x2="69947" y2="60617"/>
                        <a14:foregroundMark x1="73797" y1="56261" x2="73797" y2="56261"/>
                        <a14:foregroundMark x1="80214" y1="56987" x2="80214" y2="56987"/>
                        <a14:foregroundMark x1="93369" y1="56261" x2="93369" y2="56261"/>
                        <a14:foregroundMark x1="97112" y1="57713" x2="97112" y2="57713"/>
                        <a14:foregroundMark x1="98182" y1="58802" x2="98182" y2="58802"/>
                        <a14:foregroundMark x1="27273" y1="51543" x2="27273" y2="51543"/>
                        <a14:foregroundMark x1="96257" y1="29220" x2="96257" y2="29220"/>
                        <a14:foregroundMark x1="94866" y1="29038" x2="94866" y2="29038"/>
                        <a14:foregroundMark x1="55829" y1="54991" x2="55829" y2="54991"/>
                        <a14:foregroundMark x1="57326" y1="56806" x2="57326" y2="56806"/>
                        <a14:foregroundMark x1="44920" y1="544" x2="44920" y2="544"/>
                        <a14:foregroundMark x1="43529" y1="1270" x2="43529" y2="1270"/>
                        <a14:foregroundMark x1="2888" y1="90926" x2="2888" y2="90926"/>
                        <a14:foregroundMark x1="4492" y1="91833" x2="4492" y2="91833"/>
                        <a14:foregroundMark x1="4171" y1="95100" x2="4171" y2="95100"/>
                        <a14:foregroundMark x1="4492" y1="97822" x2="4492" y2="97822"/>
                        <a14:foregroundMark x1="1711" y1="92922" x2="1711" y2="92922"/>
                        <a14:foregroundMark x1="7594" y1="91470" x2="7487" y2="92015"/>
                        <a14:foregroundMark x1="8449" y1="90563" x2="8984" y2="91107"/>
                        <a14:foregroundMark x1="9519" y1="94918" x2="9519" y2="95670"/>
                        <a14:foregroundMark x1="9519" y1="94192" x2="9519" y2="94918"/>
                        <a14:foregroundMark x1="8663" y1="96915" x2="8663" y2="96915"/>
                        <a14:foregroundMark x1="8770" y1="97096" x2="8770" y2="97096"/>
                        <a14:foregroundMark x1="8770" y1="97096" x2="8342" y2="96915"/>
                        <a14:foregroundMark x1="12513" y1="94555" x2="13048" y2="94555"/>
                        <a14:foregroundMark x1="19251" y1="91107" x2="19251" y2="91107"/>
                        <a14:foregroundMark x1="24599" y1="90381" x2="24599" y2="90381"/>
                        <a14:foregroundMark x1="31230" y1="91470" x2="31230" y2="91470"/>
                        <a14:foregroundMark x1="36257" y1="90563" x2="36257" y2="90563"/>
                        <a14:foregroundMark x1="34225" y1="90018" x2="34225" y2="90018"/>
                        <a14:foregroundMark x1="35508" y1="93285" x2="35508" y2="93285"/>
                        <a14:foregroundMark x1="41283" y1="90563" x2="41497" y2="90381"/>
                        <a14:foregroundMark x1="45561" y1="93648" x2="45561" y2="93648"/>
                        <a14:foregroundMark x1="35401" y1="98004" x2="35401" y2="98004"/>
                        <a14:foregroundMark x1="50802" y1="94737" x2="50802" y2="94737"/>
                        <a14:foregroundMark x1="55508" y1="94918" x2="55508" y2="94918"/>
                        <a14:foregroundMark x1="61176" y1="94374" x2="61176" y2="94374"/>
                        <a14:foregroundMark x1="68770" y1="94555" x2="68770" y2="94555"/>
                        <a14:foregroundMark x1="73797" y1="95281" x2="73797" y2="95281"/>
                        <a14:foregroundMark x1="73904" y1="91107" x2="73904" y2="91107"/>
                        <a14:foregroundMark x1="81925" y1="98367" x2="81925" y2="98367"/>
                        <a14:foregroundMark x1="87487" y1="94192" x2="87487" y2="94192"/>
                        <a14:foregroundMark x1="96150" y1="94011" x2="96150" y2="94011"/>
                        <a14:foregroundMark x1="98396" y1="93466" x2="98396" y2="93466"/>
                        <a14:foregroundMark x1="4064" y1="68058" x2="3484" y2="67763"/>
                        <a14:foregroundMark x1="21007" y1="7435" x2="21007" y2="7435"/>
                        <a14:foregroundMark x1="96499" y1="31599" x2="96499" y2="31599"/>
                        <a14:foregroundMark x1="96718" y1="29368" x2="96718" y2="29368"/>
                        <a14:backgroundMark x1="97112" y1="29038" x2="97112" y2="29038"/>
                        <a14:backgroundMark x1="8449" y1="94918" x2="8449" y2="94918"/>
                        <a14:backgroundMark x1="8235" y1="99093" x2="8556" y2="99093"/>
                        <a14:backgroundMark x1="2032" y1="66425" x2="3102" y2="66788"/>
                        <a14:backgroundMark x1="3209" y1="66788" x2="3850" y2="66788"/>
                        <a14:backgroundMark x1="14118" y1="96915" x2="14118" y2="96915"/>
                        <a14:backgroundMark x1="25668" y1="92015" x2="25668" y2="92015"/>
                        <a14:backgroundMark x1="31123" y1="94737" x2="31123" y2="94737"/>
                        <a14:backgroundMark x1="31551" y1="99456" x2="31551" y2="99456"/>
                        <a14:backgroundMark x1="46524" y1="92922" x2="46952" y2="92740"/>
                        <a14:backgroundMark x1="55401" y1="92196" x2="55401" y2="92196"/>
                        <a14:backgroundMark x1="54973" y1="98548" x2="54973" y2="98548"/>
                        <a14:backgroundMark x1="62460" y1="92740" x2="62460" y2="92740"/>
                        <a14:backgroundMark x1="62567" y1="97278" x2="62567" y2="97278"/>
                        <a14:backgroundMark x1="70160" y1="99637" x2="70695" y2="99637"/>
                        <a14:backgroundMark x1="76043" y1="98911" x2="76043" y2="98911"/>
                        <a14:backgroundMark x1="8972" y1="44981" x2="12473" y2="46097"/>
                        <a14:backgroundMark x1="11379" y1="46468" x2="12254" y2="47212"/>
                        <a14:backgroundMark x1="7659" y1="46468" x2="7659" y2="46468"/>
                        <a14:backgroundMark x1="8315" y1="46468" x2="8315" y2="46468"/>
                        <a14:backgroundMark x1="7440" y1="45353" x2="7440" y2="45353"/>
                        <a14:backgroundMark x1="6783" y1="45353" x2="6783" y2="45353"/>
                        <a14:backgroundMark x1="7002" y1="44238" x2="9190" y2="44238"/>
                        <a14:backgroundMark x1="6565" y1="44238" x2="7002" y2="44610"/>
                        <a14:backgroundMark x1="12473" y1="46097" x2="12910" y2="47584"/>
                        <a14:backgroundMark x1="5033" y1="65799" x2="5033" y2="65799"/>
                        <a14:backgroundMark x1="4595" y1="66171" x2="4158" y2="66543"/>
                        <a14:backgroundMark x1="94530" y1="98141" x2="94530" y2="98141"/>
                        <a14:backgroundMark x1="99125" y1="29740" x2="99125" y2="29740"/>
                        <a14:backgroundMark x1="96718" y1="32714" x2="96718" y2="32714"/>
                        <a14:backgroundMark x1="96061" y1="30112" x2="96061" y2="30112"/>
                        <a14:backgroundMark x1="95624" y1="28625" x2="95624" y2="286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6232" y="110848"/>
            <a:ext cx="1532162" cy="902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5862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2B783EE-0239-4717-BBEA-8C9EAC61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69C7AB7-D8C9-E9B4-706D-31C2DF7615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109893" y="0"/>
            <a:ext cx="12411785" cy="71469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F4C89E-8264-32AE-6677-53825E7EE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7" y="250031"/>
            <a:ext cx="6067064" cy="1325563"/>
          </a:xfrm>
        </p:spPr>
        <p:txBody>
          <a:bodyPr>
            <a:noAutofit/>
          </a:bodyPr>
          <a:lstStyle/>
          <a:p>
            <a:pPr algn="ctr"/>
            <a:r>
              <a:rPr lang="ru-RU" sz="3000" b="1" dirty="0" err="1">
                <a:latin typeface="Times New Roman" panose="02020603050405020304" pitchFamily="18" charset="0"/>
              </a:rPr>
              <a:t>Набір</a:t>
            </a:r>
            <a:r>
              <a:rPr lang="ru-RU" sz="3000" b="1" dirty="0">
                <a:latin typeface="Times New Roman" panose="02020603050405020304" pitchFamily="18" charset="0"/>
              </a:rPr>
              <a:t> для </a:t>
            </a:r>
            <a:r>
              <a:rPr lang="ru-RU" sz="3000" b="1" dirty="0" err="1">
                <a:latin typeface="Times New Roman" panose="02020603050405020304" pitchFamily="18" charset="0"/>
              </a:rPr>
              <a:t>визначення</a:t>
            </a:r>
            <a:r>
              <a:rPr lang="ru-RU" sz="3000" b="1" dirty="0">
                <a:latin typeface="Times New Roman" panose="02020603050405020304" pitchFamily="18" charset="0"/>
              </a:rPr>
              <a:t> </a:t>
            </a:r>
            <a:r>
              <a:rPr lang="ru-RU" sz="3000" b="1" dirty="0" err="1">
                <a:latin typeface="Times New Roman" panose="02020603050405020304" pitchFamily="18" charset="0"/>
              </a:rPr>
              <a:t>активованого</a:t>
            </a:r>
            <a:r>
              <a:rPr lang="ru-RU" sz="3000" b="1" dirty="0">
                <a:latin typeface="Times New Roman" panose="02020603050405020304" pitchFamily="18" charset="0"/>
              </a:rPr>
              <a:t> </a:t>
            </a:r>
            <a:r>
              <a:rPr lang="ru-RU" sz="3000" b="1" dirty="0" err="1">
                <a:latin typeface="Times New Roman" panose="02020603050405020304" pitchFamily="18" charset="0"/>
              </a:rPr>
              <a:t>часткового</a:t>
            </a:r>
            <a:r>
              <a:rPr lang="ru-RU" sz="3000" b="1" dirty="0">
                <a:latin typeface="Times New Roman" panose="02020603050405020304" pitchFamily="18" charset="0"/>
              </a:rPr>
              <a:t> тромбопластинового часу (АЧТЧ)</a:t>
            </a:r>
            <a:endParaRPr lang="uk-UA" sz="300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E154891-B6EF-0A1D-7AE0-5724B83B5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955" y="2062287"/>
            <a:ext cx="7629831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uk-UA" b="1" dirty="0"/>
              <a:t>Вартість: </a:t>
            </a:r>
            <a:r>
              <a:rPr lang="uk-UA" dirty="0"/>
              <a:t>3 945 грн</a:t>
            </a:r>
            <a:br>
              <a:rPr lang="uk-UA" dirty="0"/>
            </a:br>
            <a:br>
              <a:rPr lang="uk-UA" b="1" dirty="0"/>
            </a:br>
            <a:r>
              <a:rPr lang="uk-UA" b="1" dirty="0" err="1"/>
              <a:t>Фасовка</a:t>
            </a:r>
            <a:r>
              <a:rPr lang="uk-UA" b="1" dirty="0"/>
              <a:t> набору:</a:t>
            </a:r>
            <a:r>
              <a:rPr lang="uk-UA" dirty="0"/>
              <a:t> Реагент 1 (10х2 мл); </a:t>
            </a:r>
            <a:br>
              <a:rPr lang="uk-UA" dirty="0"/>
            </a:br>
            <a:r>
              <a:rPr lang="uk-UA" dirty="0"/>
              <a:t>Реагент 2 (10х2 мл) </a:t>
            </a:r>
            <a:br>
              <a:rPr lang="uk-UA" dirty="0"/>
            </a:br>
            <a:br>
              <a:rPr lang="uk-UA" dirty="0"/>
            </a:br>
            <a:r>
              <a:rPr lang="uk-UA" b="1" dirty="0"/>
              <a:t>Кількість тестів в наборі:</a:t>
            </a:r>
            <a:r>
              <a:rPr lang="uk-UA" dirty="0"/>
              <a:t> 400</a:t>
            </a:r>
            <a:br>
              <a:rPr lang="uk-UA" dirty="0">
                <a:solidFill>
                  <a:srgbClr val="FF0000"/>
                </a:solidFill>
              </a:rPr>
            </a:br>
            <a:br>
              <a:rPr lang="uk-UA" dirty="0"/>
            </a:br>
            <a:r>
              <a:rPr lang="uk-UA" b="1" dirty="0"/>
              <a:t>Кількість тестів в 1 парі (Реагент 1 + Реагент 2) флаконів: </a:t>
            </a:r>
            <a:r>
              <a:rPr lang="uk-UA" dirty="0"/>
              <a:t>40 </a:t>
            </a:r>
            <a:endParaRPr lang="uk-UA" b="1" dirty="0"/>
          </a:p>
          <a:p>
            <a:pPr marL="0" indent="0">
              <a:buNone/>
            </a:pPr>
            <a:r>
              <a:rPr lang="uk-UA" b="1" dirty="0"/>
              <a:t>Вартість 1 тесту: </a:t>
            </a:r>
            <a:r>
              <a:rPr lang="uk-UA" dirty="0"/>
              <a:t>9,88 грн</a:t>
            </a:r>
            <a:br>
              <a:rPr lang="uk-UA" b="1" dirty="0"/>
            </a:br>
            <a:r>
              <a:rPr lang="uk-UA" dirty="0"/>
              <a:t> </a:t>
            </a:r>
            <a:br>
              <a:rPr lang="uk-UA" b="1" dirty="0"/>
            </a:br>
            <a:r>
              <a:rPr lang="uk-UA" b="1" dirty="0"/>
              <a:t>Термін придатності в закритому стані: </a:t>
            </a:r>
            <a:r>
              <a:rPr lang="uk-UA" dirty="0"/>
              <a:t>24 місяці</a:t>
            </a:r>
            <a:br>
              <a:rPr lang="uk-UA" dirty="0"/>
            </a:br>
            <a:br>
              <a:rPr lang="uk-UA" b="1" dirty="0"/>
            </a:br>
            <a:r>
              <a:rPr lang="uk-UA" b="1" dirty="0"/>
              <a:t>Термін придатності у відкритому стані: </a:t>
            </a:r>
            <a:r>
              <a:rPr lang="uk-UA" dirty="0"/>
              <a:t>після відкриття </a:t>
            </a:r>
            <a:r>
              <a:rPr lang="ru-RU" dirty="0"/>
              <a:t>реагент</a:t>
            </a:r>
            <a:r>
              <a:rPr lang="uk-UA" dirty="0"/>
              <a:t> стабільний протягом </a:t>
            </a:r>
            <a:r>
              <a:rPr lang="ru-RU" dirty="0"/>
              <a:t>7 </a:t>
            </a:r>
            <a:r>
              <a:rPr lang="ru-RU" dirty="0" err="1"/>
              <a:t>днів</a:t>
            </a:r>
            <a:r>
              <a:rPr lang="ru-RU" dirty="0"/>
              <a:t> </a:t>
            </a:r>
            <a:r>
              <a:rPr lang="uk-UA" dirty="0"/>
              <a:t>при температурі</a:t>
            </a:r>
            <a:r>
              <a:rPr lang="ru-RU" dirty="0"/>
              <a:t> </a:t>
            </a:r>
            <a:r>
              <a:rPr lang="ru-RU" dirty="0" err="1"/>
              <a:t>зберігання</a:t>
            </a:r>
            <a:r>
              <a:rPr lang="uk-UA" dirty="0"/>
              <a:t> 2-</a:t>
            </a:r>
            <a:r>
              <a:rPr lang="ru-RU" dirty="0"/>
              <a:t>8</a:t>
            </a:r>
            <a:r>
              <a:rPr lang="uk-UA" dirty="0"/>
              <a:t>°С.</a:t>
            </a:r>
          </a:p>
          <a:p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Місце для вмісту 4" descr="Зображення, що містить текст, у приміщенні, Друк, канцелярські товари й офісне обладнання&#10;&#10;Вміст, створений ШІ, може бути неправильним.">
            <a:extLst>
              <a:ext uri="{FF2B5EF4-FFF2-40B4-BE49-F238E27FC236}">
                <a16:creationId xmlns:a16="http://schemas.microsoft.com/office/drawing/2014/main" id="{845F08F9-C826-CA66-213C-45499DCECAC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3" t="26891" r="16154" b="14376"/>
          <a:stretch>
            <a:fillRect/>
          </a:stretch>
        </p:blipFill>
        <p:spPr bwMode="auto">
          <a:xfrm>
            <a:off x="7901259" y="2727729"/>
            <a:ext cx="4290741" cy="4130271"/>
          </a:xfrm>
          <a:custGeom>
            <a:avLst/>
            <a:gdLst/>
            <a:ahLst/>
            <a:cxnLst/>
            <a:rect l="l" t="t" r="r" b="b"/>
            <a:pathLst>
              <a:path w="4290741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1" y="751286"/>
                </a:lnTo>
                <a:lnTo>
                  <a:pt x="4290741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7" name="Arc 16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Рисунок 5" descr="Зображення, що містить пластик, у приміщенні, канцелярські товари й офісне обладнання, скриня&#10;&#10;Вміст, створений ШІ, може бути неправильним.">
            <a:extLst>
              <a:ext uri="{FF2B5EF4-FFF2-40B4-BE49-F238E27FC236}">
                <a16:creationId xmlns:a16="http://schemas.microsoft.com/office/drawing/2014/main" id="{9E42BF38-C5E3-E022-70DB-53D24704ABE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081" t="37461" r="5799" b="-369"/>
          <a:stretch>
            <a:fillRect/>
          </a:stretch>
        </p:blipFill>
        <p:spPr bwMode="auto">
          <a:xfrm>
            <a:off x="6321287" y="1"/>
            <a:ext cx="3389243" cy="2922103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Picture 10" descr="Экспресс-диагностика в практике врача | Health-ua">
            <a:extLst>
              <a:ext uri="{FF2B5EF4-FFF2-40B4-BE49-F238E27FC236}">
                <a16:creationId xmlns:a16="http://schemas.microsoft.com/office/drawing/2014/main" id="{FA183098-AF21-520F-49ED-408981345A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63" b="98367" l="642" r="98396">
                        <a14:foregroundMark x1="30160" y1="23775" x2="30160" y2="23775"/>
                        <a14:foregroundMark x1="40107" y1="4537" x2="40107" y2="4537"/>
                        <a14:foregroundMark x1="2781" y1="29583" x2="2781" y2="29583"/>
                        <a14:foregroundMark x1="642" y1="64428" x2="642" y2="64428"/>
                        <a14:foregroundMark x1="3957" y1="67877" x2="3957" y2="67877"/>
                        <a14:foregroundMark x1="22781" y1="51180" x2="22781" y2="51180"/>
                        <a14:foregroundMark x1="29947" y1="57713" x2="29947" y2="57713"/>
                        <a14:foregroundMark x1="41711" y1="52813" x2="41711" y2="52813"/>
                        <a14:foregroundMark x1="49198" y1="51906" x2="49198" y2="51906"/>
                        <a14:foregroundMark x1="60214" y1="54265" x2="60214" y2="54265"/>
                        <a14:foregroundMark x1="69947" y1="60617" x2="69947" y2="60617"/>
                        <a14:foregroundMark x1="73797" y1="56261" x2="73797" y2="56261"/>
                        <a14:foregroundMark x1="80214" y1="56987" x2="80214" y2="56987"/>
                        <a14:foregroundMark x1="93369" y1="56261" x2="93369" y2="56261"/>
                        <a14:foregroundMark x1="97112" y1="57713" x2="97112" y2="57713"/>
                        <a14:foregroundMark x1="98182" y1="58802" x2="98182" y2="58802"/>
                        <a14:foregroundMark x1="27273" y1="51543" x2="27273" y2="51543"/>
                        <a14:foregroundMark x1="96257" y1="29220" x2="96257" y2="29220"/>
                        <a14:foregroundMark x1="94866" y1="29038" x2="94866" y2="29038"/>
                        <a14:foregroundMark x1="55829" y1="54991" x2="55829" y2="54991"/>
                        <a14:foregroundMark x1="57326" y1="56806" x2="57326" y2="56806"/>
                        <a14:foregroundMark x1="44920" y1="544" x2="44920" y2="544"/>
                        <a14:foregroundMark x1="43529" y1="1270" x2="43529" y2="1270"/>
                        <a14:foregroundMark x1="2888" y1="90926" x2="2888" y2="90926"/>
                        <a14:foregroundMark x1="4492" y1="91833" x2="4492" y2="91833"/>
                        <a14:foregroundMark x1="4171" y1="95100" x2="4171" y2="95100"/>
                        <a14:foregroundMark x1="4492" y1="97822" x2="4492" y2="97822"/>
                        <a14:foregroundMark x1="1711" y1="92922" x2="1711" y2="92922"/>
                        <a14:foregroundMark x1="7594" y1="91470" x2="7487" y2="92015"/>
                        <a14:foregroundMark x1="8449" y1="90563" x2="8984" y2="91107"/>
                        <a14:foregroundMark x1="9519" y1="94918" x2="9519" y2="95670"/>
                        <a14:foregroundMark x1="9519" y1="94192" x2="9519" y2="94918"/>
                        <a14:foregroundMark x1="8663" y1="96915" x2="8663" y2="96915"/>
                        <a14:foregroundMark x1="8770" y1="97096" x2="8770" y2="97096"/>
                        <a14:foregroundMark x1="8770" y1="97096" x2="8342" y2="96915"/>
                        <a14:foregroundMark x1="12513" y1="94555" x2="13048" y2="94555"/>
                        <a14:foregroundMark x1="19251" y1="91107" x2="19251" y2="91107"/>
                        <a14:foregroundMark x1="24599" y1="90381" x2="24599" y2="90381"/>
                        <a14:foregroundMark x1="31230" y1="91470" x2="31230" y2="91470"/>
                        <a14:foregroundMark x1="36257" y1="90563" x2="36257" y2="90563"/>
                        <a14:foregroundMark x1="34225" y1="90018" x2="34225" y2="90018"/>
                        <a14:foregroundMark x1="35508" y1="93285" x2="35508" y2="93285"/>
                        <a14:foregroundMark x1="41283" y1="90563" x2="41497" y2="90381"/>
                        <a14:foregroundMark x1="45561" y1="93648" x2="45561" y2="93648"/>
                        <a14:foregroundMark x1="35401" y1="98004" x2="35401" y2="98004"/>
                        <a14:foregroundMark x1="50802" y1="94737" x2="50802" y2="94737"/>
                        <a14:foregroundMark x1="55508" y1="94918" x2="55508" y2="94918"/>
                        <a14:foregroundMark x1="61176" y1="94374" x2="61176" y2="94374"/>
                        <a14:foregroundMark x1="68770" y1="94555" x2="68770" y2="94555"/>
                        <a14:foregroundMark x1="73797" y1="95281" x2="73797" y2="95281"/>
                        <a14:foregroundMark x1="73904" y1="91107" x2="73904" y2="91107"/>
                        <a14:foregroundMark x1="81925" y1="98367" x2="81925" y2="98367"/>
                        <a14:foregroundMark x1="87487" y1="94192" x2="87487" y2="94192"/>
                        <a14:foregroundMark x1="96150" y1="94011" x2="96150" y2="94011"/>
                        <a14:foregroundMark x1="98396" y1="93466" x2="98396" y2="93466"/>
                        <a14:foregroundMark x1="4064" y1="68058" x2="3484" y2="67763"/>
                        <a14:foregroundMark x1="21007" y1="7435" x2="21007" y2="7435"/>
                        <a14:foregroundMark x1="96499" y1="31599" x2="96499" y2="31599"/>
                        <a14:foregroundMark x1="96718" y1="29368" x2="96718" y2="29368"/>
                        <a14:backgroundMark x1="97112" y1="29038" x2="97112" y2="29038"/>
                        <a14:backgroundMark x1="8449" y1="94918" x2="8449" y2="94918"/>
                        <a14:backgroundMark x1="8235" y1="99093" x2="8556" y2="99093"/>
                        <a14:backgroundMark x1="2032" y1="66425" x2="3102" y2="66788"/>
                        <a14:backgroundMark x1="3209" y1="66788" x2="3850" y2="66788"/>
                        <a14:backgroundMark x1="14118" y1="96915" x2="14118" y2="96915"/>
                        <a14:backgroundMark x1="25668" y1="92015" x2="25668" y2="92015"/>
                        <a14:backgroundMark x1="31123" y1="94737" x2="31123" y2="94737"/>
                        <a14:backgroundMark x1="31551" y1="99456" x2="31551" y2="99456"/>
                        <a14:backgroundMark x1="46524" y1="92922" x2="46952" y2="92740"/>
                        <a14:backgroundMark x1="55401" y1="92196" x2="55401" y2="92196"/>
                        <a14:backgroundMark x1="54973" y1="98548" x2="54973" y2="98548"/>
                        <a14:backgroundMark x1="62460" y1="92740" x2="62460" y2="92740"/>
                        <a14:backgroundMark x1="62567" y1="97278" x2="62567" y2="97278"/>
                        <a14:backgroundMark x1="70160" y1="99637" x2="70695" y2="99637"/>
                        <a14:backgroundMark x1="76043" y1="98911" x2="76043" y2="98911"/>
                        <a14:backgroundMark x1="8972" y1="44981" x2="12473" y2="46097"/>
                        <a14:backgroundMark x1="11379" y1="46468" x2="12254" y2="47212"/>
                        <a14:backgroundMark x1="7659" y1="46468" x2="7659" y2="46468"/>
                        <a14:backgroundMark x1="8315" y1="46468" x2="8315" y2="46468"/>
                        <a14:backgroundMark x1="7440" y1="45353" x2="7440" y2="45353"/>
                        <a14:backgroundMark x1="6783" y1="45353" x2="6783" y2="45353"/>
                        <a14:backgroundMark x1="7002" y1="44238" x2="9190" y2="44238"/>
                        <a14:backgroundMark x1="6565" y1="44238" x2="7002" y2="44610"/>
                        <a14:backgroundMark x1="12473" y1="46097" x2="12910" y2="47584"/>
                        <a14:backgroundMark x1="5033" y1="65799" x2="5033" y2="65799"/>
                        <a14:backgroundMark x1="4595" y1="66171" x2="4158" y2="66543"/>
                        <a14:backgroundMark x1="94530" y1="98141" x2="94530" y2="98141"/>
                        <a14:backgroundMark x1="99125" y1="29740" x2="99125" y2="29740"/>
                        <a14:backgroundMark x1="96718" y1="32714" x2="96718" y2="32714"/>
                        <a14:backgroundMark x1="96061" y1="30112" x2="96061" y2="30112"/>
                        <a14:backgroundMark x1="95624" y1="28625" x2="95624" y2="286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8232" y="129099"/>
            <a:ext cx="1532162" cy="902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7934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2B783EE-0239-4717-BBEA-8C9EAC61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9F4CE45-88DC-4F30-9B34-FBE85E0223D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109893" y="-1"/>
            <a:ext cx="12411785" cy="71469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CCD6B-173D-C6BA-13A4-79A320549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59" y="517385"/>
            <a:ext cx="5590241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400" b="1" dirty="0" err="1">
                <a:latin typeface="Times New Roman" panose="02020603050405020304" pitchFamily="18" charset="0"/>
              </a:rPr>
              <a:t>Набір</a:t>
            </a:r>
            <a:r>
              <a:rPr lang="ru-RU" sz="3400" b="1" dirty="0">
                <a:latin typeface="Times New Roman" panose="02020603050405020304" pitchFamily="18" charset="0"/>
              </a:rPr>
              <a:t> для </a:t>
            </a:r>
            <a:r>
              <a:rPr lang="ru-RU" sz="3400" b="1" dirty="0" err="1">
                <a:latin typeface="Times New Roman" panose="02020603050405020304" pitchFamily="18" charset="0"/>
              </a:rPr>
              <a:t>визначення</a:t>
            </a:r>
            <a:r>
              <a:rPr lang="ru-RU" sz="3400" b="1" dirty="0">
                <a:latin typeface="Times New Roman" panose="02020603050405020304" pitchFamily="18" charset="0"/>
              </a:rPr>
              <a:t> </a:t>
            </a:r>
            <a:r>
              <a:rPr lang="ru-RU" sz="3400" b="1" dirty="0" err="1">
                <a:latin typeface="Times New Roman" panose="02020603050405020304" pitchFamily="18" charset="0"/>
              </a:rPr>
              <a:t>фібриногену</a:t>
            </a:r>
            <a:r>
              <a:rPr lang="ru-RU" sz="3400" b="1" dirty="0">
                <a:latin typeface="Times New Roman" panose="02020603050405020304" pitchFamily="18" charset="0"/>
              </a:rPr>
              <a:t> (ФІБ)</a:t>
            </a:r>
            <a:br>
              <a:rPr lang="ru-RU" sz="2800" b="1" dirty="0">
                <a:latin typeface="Times New Roman" panose="02020603050405020304" pitchFamily="18" charset="0"/>
              </a:rPr>
            </a:br>
            <a:endParaRPr lang="uk-UA" sz="28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544FD9A-1A80-B2E9-228D-E1707EAD0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547" y="1832387"/>
            <a:ext cx="4998596" cy="1317625"/>
          </a:xfrm>
        </p:spPr>
        <p:txBody>
          <a:bodyPr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uk-UA" sz="2200" b="1" dirty="0"/>
              <a:t>Вартість: </a:t>
            </a:r>
            <a:r>
              <a:rPr lang="uk-UA" sz="2200" dirty="0"/>
              <a:t>18 700 грн</a:t>
            </a:r>
            <a:br>
              <a:rPr lang="uk-UA" sz="2200" dirty="0"/>
            </a:br>
            <a:r>
              <a:rPr lang="uk-UA" sz="2200" dirty="0"/>
              <a:t> </a:t>
            </a:r>
            <a:br>
              <a:rPr lang="uk-UA" sz="2200" b="1" dirty="0"/>
            </a:br>
            <a:r>
              <a:rPr lang="uk-UA" sz="2200" b="1" dirty="0" err="1"/>
              <a:t>Фасовка</a:t>
            </a:r>
            <a:r>
              <a:rPr lang="uk-UA" sz="2200" b="1" dirty="0"/>
              <a:t> набору:</a:t>
            </a:r>
            <a:r>
              <a:rPr lang="uk-UA" sz="2200" dirty="0"/>
              <a:t> Реагент 1 (10х4 мл); Реагент 2 (5х30 мл). </a:t>
            </a:r>
            <a:br>
              <a:rPr lang="uk-UA" sz="2200" dirty="0"/>
            </a:br>
            <a:br>
              <a:rPr lang="uk-UA" sz="2200" b="1" dirty="0"/>
            </a:br>
            <a:r>
              <a:rPr lang="uk-UA" sz="2200" b="1" dirty="0"/>
              <a:t>Кількість тестів в наборі:</a:t>
            </a:r>
            <a:r>
              <a:rPr lang="uk-UA" sz="2200" dirty="0"/>
              <a:t> 800</a:t>
            </a:r>
            <a:endParaRPr lang="uk-UA" sz="24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Рисунок 4" descr="Зображення, що містить канцелярські товари й офісне обладнання, у приміщенні, пластик, скриня&#10;&#10;Вміст, створений ШІ, може бути неправильним.">
            <a:extLst>
              <a:ext uri="{FF2B5EF4-FFF2-40B4-BE49-F238E27FC236}">
                <a16:creationId xmlns:a16="http://schemas.microsoft.com/office/drawing/2014/main" id="{BBB06C11-EB6C-EDAA-C4A5-4D28630CD93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635" t="17665" r="5635" b="9899"/>
          <a:stretch>
            <a:fillRect/>
          </a:stretch>
        </p:blipFill>
        <p:spPr bwMode="auto">
          <a:xfrm>
            <a:off x="7901259" y="2727729"/>
            <a:ext cx="4290741" cy="4130271"/>
          </a:xfrm>
          <a:custGeom>
            <a:avLst/>
            <a:gdLst/>
            <a:ahLst/>
            <a:cxnLst/>
            <a:rect l="l" t="t" r="r" b="b"/>
            <a:pathLst>
              <a:path w="4290741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1" y="751286"/>
                </a:lnTo>
                <a:lnTo>
                  <a:pt x="4290741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6" name="Arc 15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Місце для вмісту 3" descr="Зображення, що містить текст, Друк, візитна картка, дизайн&#10;&#10;Вміст, створений ШІ, може бути неправильним.">
            <a:extLst>
              <a:ext uri="{FF2B5EF4-FFF2-40B4-BE49-F238E27FC236}">
                <a16:creationId xmlns:a16="http://schemas.microsoft.com/office/drawing/2014/main" id="{6342B163-5B2B-4BDC-CEBA-1D2AF744C20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74" b="15424"/>
          <a:stretch>
            <a:fillRect/>
          </a:stretch>
        </p:blipFill>
        <p:spPr bwMode="auto">
          <a:xfrm>
            <a:off x="6261607" y="1"/>
            <a:ext cx="3519312" cy="3007909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7C63EAC0-5168-B38D-7EA8-EE87B452F3D7}"/>
              </a:ext>
            </a:extLst>
          </p:cNvPr>
          <p:cNvSpPr txBox="1">
            <a:spLocks/>
          </p:cNvSpPr>
          <p:nvPr/>
        </p:nvSpPr>
        <p:spPr>
          <a:xfrm>
            <a:off x="406547" y="3685897"/>
            <a:ext cx="6762059" cy="2880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uk-UA" sz="2200" b="1" dirty="0"/>
              <a:t>Кількість тестів в 1 парі флаконів (1 </a:t>
            </a:r>
            <a:r>
              <a:rPr lang="uk-UA" sz="2200" b="1" dirty="0" err="1"/>
              <a:t>фл</a:t>
            </a:r>
            <a:r>
              <a:rPr lang="uk-UA" sz="2200" b="1" dirty="0"/>
              <a:t>. реагент 1 + 2 </a:t>
            </a:r>
            <a:r>
              <a:rPr lang="uk-UA" sz="2200" b="1" dirty="0" err="1"/>
              <a:t>фл</a:t>
            </a:r>
            <a:r>
              <a:rPr lang="uk-UA" sz="2200" b="1" dirty="0"/>
              <a:t>. реагент 2) : </a:t>
            </a:r>
            <a:r>
              <a:rPr lang="uk-UA" sz="2200" dirty="0"/>
              <a:t>160</a:t>
            </a:r>
            <a:br>
              <a:rPr lang="uk-UA" sz="2200" dirty="0"/>
            </a:br>
            <a:endParaRPr lang="uk-UA" sz="2200" dirty="0"/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uk-UA" sz="2200" b="1" dirty="0"/>
              <a:t>Вартість 1 тесту: </a:t>
            </a:r>
            <a:r>
              <a:rPr lang="uk-UA" sz="2200" dirty="0"/>
              <a:t>23,38 грн </a:t>
            </a:r>
            <a:br>
              <a:rPr lang="uk-UA" sz="2200" dirty="0"/>
            </a:br>
            <a:endParaRPr lang="uk-UA" sz="2200" b="1" dirty="0"/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uk-UA" sz="2200" b="1" dirty="0"/>
              <a:t>Термін придатності в закритому стані: </a:t>
            </a:r>
            <a:r>
              <a:rPr lang="uk-UA" sz="2200" dirty="0"/>
              <a:t>24 місяці</a:t>
            </a:r>
            <a:br>
              <a:rPr lang="uk-UA" sz="2200" dirty="0"/>
            </a:br>
            <a:endParaRPr lang="uk-UA" sz="2200" b="1" dirty="0"/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uk-UA" sz="2200" b="1" dirty="0"/>
              <a:t>Термін придатності у відкритому стані: </a:t>
            </a:r>
            <a:r>
              <a:rPr lang="uk-UA" sz="2200" dirty="0"/>
              <a:t>після відкриття </a:t>
            </a:r>
            <a:r>
              <a:rPr lang="ru-RU" sz="2200" dirty="0"/>
              <a:t>реагент</a:t>
            </a:r>
            <a:r>
              <a:rPr lang="uk-UA" sz="2200" dirty="0"/>
              <a:t> стабільний протягом </a:t>
            </a:r>
            <a:r>
              <a:rPr lang="ru-RU" sz="2200" dirty="0"/>
              <a:t>7 </a:t>
            </a:r>
            <a:r>
              <a:rPr lang="ru-RU" sz="2200" dirty="0" err="1"/>
              <a:t>днів</a:t>
            </a:r>
            <a:r>
              <a:rPr lang="ru-RU" sz="2200" dirty="0"/>
              <a:t> </a:t>
            </a:r>
            <a:r>
              <a:rPr lang="uk-UA" sz="2200" dirty="0"/>
              <a:t>при температурі</a:t>
            </a:r>
            <a:r>
              <a:rPr lang="ru-RU" sz="2200" dirty="0"/>
              <a:t> </a:t>
            </a:r>
            <a:r>
              <a:rPr lang="ru-RU" sz="2200" dirty="0" err="1"/>
              <a:t>зберігання</a:t>
            </a:r>
            <a:r>
              <a:rPr lang="uk-UA" sz="2200" dirty="0"/>
              <a:t> 2-</a:t>
            </a:r>
            <a:r>
              <a:rPr lang="ru-RU" sz="2200" dirty="0"/>
              <a:t>8</a:t>
            </a:r>
            <a:r>
              <a:rPr lang="uk-UA" sz="2200" dirty="0"/>
              <a:t>°С.</a:t>
            </a:r>
          </a:p>
        </p:txBody>
      </p:sp>
      <p:pic>
        <p:nvPicPr>
          <p:cNvPr id="7" name="Picture 10" descr="Экспресс-диагностика в практике врача | Health-ua">
            <a:extLst>
              <a:ext uri="{FF2B5EF4-FFF2-40B4-BE49-F238E27FC236}">
                <a16:creationId xmlns:a16="http://schemas.microsoft.com/office/drawing/2014/main" id="{D8F4634C-2012-8FF0-5794-685F1C9CD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63" b="98367" l="642" r="98396">
                        <a14:foregroundMark x1="30160" y1="23775" x2="30160" y2="23775"/>
                        <a14:foregroundMark x1="40107" y1="4537" x2="40107" y2="4537"/>
                        <a14:foregroundMark x1="2781" y1="29583" x2="2781" y2="29583"/>
                        <a14:foregroundMark x1="642" y1="64428" x2="642" y2="64428"/>
                        <a14:foregroundMark x1="3957" y1="67877" x2="3957" y2="67877"/>
                        <a14:foregroundMark x1="22781" y1="51180" x2="22781" y2="51180"/>
                        <a14:foregroundMark x1="29947" y1="57713" x2="29947" y2="57713"/>
                        <a14:foregroundMark x1="41711" y1="52813" x2="41711" y2="52813"/>
                        <a14:foregroundMark x1="49198" y1="51906" x2="49198" y2="51906"/>
                        <a14:foregroundMark x1="60214" y1="54265" x2="60214" y2="54265"/>
                        <a14:foregroundMark x1="69947" y1="60617" x2="69947" y2="60617"/>
                        <a14:foregroundMark x1="73797" y1="56261" x2="73797" y2="56261"/>
                        <a14:foregroundMark x1="80214" y1="56987" x2="80214" y2="56987"/>
                        <a14:foregroundMark x1="93369" y1="56261" x2="93369" y2="56261"/>
                        <a14:foregroundMark x1="97112" y1="57713" x2="97112" y2="57713"/>
                        <a14:foregroundMark x1="98182" y1="58802" x2="98182" y2="58802"/>
                        <a14:foregroundMark x1="27273" y1="51543" x2="27273" y2="51543"/>
                        <a14:foregroundMark x1="96257" y1="29220" x2="96257" y2="29220"/>
                        <a14:foregroundMark x1="94866" y1="29038" x2="94866" y2="29038"/>
                        <a14:foregroundMark x1="55829" y1="54991" x2="55829" y2="54991"/>
                        <a14:foregroundMark x1="57326" y1="56806" x2="57326" y2="56806"/>
                        <a14:foregroundMark x1="44920" y1="544" x2="44920" y2="544"/>
                        <a14:foregroundMark x1="43529" y1="1270" x2="43529" y2="1270"/>
                        <a14:foregroundMark x1="2888" y1="90926" x2="2888" y2="90926"/>
                        <a14:foregroundMark x1="4492" y1="91833" x2="4492" y2="91833"/>
                        <a14:foregroundMark x1="4171" y1="95100" x2="4171" y2="95100"/>
                        <a14:foregroundMark x1="4492" y1="97822" x2="4492" y2="97822"/>
                        <a14:foregroundMark x1="1711" y1="92922" x2="1711" y2="92922"/>
                        <a14:foregroundMark x1="7594" y1="91470" x2="7487" y2="92015"/>
                        <a14:foregroundMark x1="8449" y1="90563" x2="8984" y2="91107"/>
                        <a14:foregroundMark x1="9519" y1="94918" x2="9519" y2="95670"/>
                        <a14:foregroundMark x1="9519" y1="94192" x2="9519" y2="94918"/>
                        <a14:foregroundMark x1="8663" y1="96915" x2="8663" y2="96915"/>
                        <a14:foregroundMark x1="8770" y1="97096" x2="8770" y2="97096"/>
                        <a14:foregroundMark x1="8770" y1="97096" x2="8342" y2="96915"/>
                        <a14:foregroundMark x1="12513" y1="94555" x2="13048" y2="94555"/>
                        <a14:foregroundMark x1="19251" y1="91107" x2="19251" y2="91107"/>
                        <a14:foregroundMark x1="24599" y1="90381" x2="24599" y2="90381"/>
                        <a14:foregroundMark x1="31230" y1="91470" x2="31230" y2="91470"/>
                        <a14:foregroundMark x1="36257" y1="90563" x2="36257" y2="90563"/>
                        <a14:foregroundMark x1="34225" y1="90018" x2="34225" y2="90018"/>
                        <a14:foregroundMark x1="35508" y1="93285" x2="35508" y2="93285"/>
                        <a14:foregroundMark x1="41283" y1="90563" x2="41497" y2="90381"/>
                        <a14:foregroundMark x1="45561" y1="93648" x2="45561" y2="93648"/>
                        <a14:foregroundMark x1="35401" y1="98004" x2="35401" y2="98004"/>
                        <a14:foregroundMark x1="50802" y1="94737" x2="50802" y2="94737"/>
                        <a14:foregroundMark x1="55508" y1="94918" x2="55508" y2="94918"/>
                        <a14:foregroundMark x1="61176" y1="94374" x2="61176" y2="94374"/>
                        <a14:foregroundMark x1="68770" y1="94555" x2="68770" y2="94555"/>
                        <a14:foregroundMark x1="73797" y1="95281" x2="73797" y2="95281"/>
                        <a14:foregroundMark x1="73904" y1="91107" x2="73904" y2="91107"/>
                        <a14:foregroundMark x1="81925" y1="98367" x2="81925" y2="98367"/>
                        <a14:foregroundMark x1="87487" y1="94192" x2="87487" y2="94192"/>
                        <a14:foregroundMark x1="96150" y1="94011" x2="96150" y2="94011"/>
                        <a14:foregroundMark x1="98396" y1="93466" x2="98396" y2="93466"/>
                        <a14:foregroundMark x1="4064" y1="68058" x2="3484" y2="67763"/>
                        <a14:foregroundMark x1="21007" y1="7435" x2="21007" y2="7435"/>
                        <a14:foregroundMark x1="96499" y1="31599" x2="96499" y2="31599"/>
                        <a14:foregroundMark x1="96718" y1="29368" x2="96718" y2="29368"/>
                        <a14:backgroundMark x1="97112" y1="29038" x2="97112" y2="29038"/>
                        <a14:backgroundMark x1="8449" y1="94918" x2="8449" y2="94918"/>
                        <a14:backgroundMark x1="8235" y1="99093" x2="8556" y2="99093"/>
                        <a14:backgroundMark x1="2032" y1="66425" x2="3102" y2="66788"/>
                        <a14:backgroundMark x1="3209" y1="66788" x2="3850" y2="66788"/>
                        <a14:backgroundMark x1="14118" y1="96915" x2="14118" y2="96915"/>
                        <a14:backgroundMark x1="25668" y1="92015" x2="25668" y2="92015"/>
                        <a14:backgroundMark x1="31123" y1="94737" x2="31123" y2="94737"/>
                        <a14:backgroundMark x1="31551" y1="99456" x2="31551" y2="99456"/>
                        <a14:backgroundMark x1="46524" y1="92922" x2="46952" y2="92740"/>
                        <a14:backgroundMark x1="55401" y1="92196" x2="55401" y2="92196"/>
                        <a14:backgroundMark x1="54973" y1="98548" x2="54973" y2="98548"/>
                        <a14:backgroundMark x1="62460" y1="92740" x2="62460" y2="92740"/>
                        <a14:backgroundMark x1="62567" y1="97278" x2="62567" y2="97278"/>
                        <a14:backgroundMark x1="70160" y1="99637" x2="70695" y2="99637"/>
                        <a14:backgroundMark x1="76043" y1="98911" x2="76043" y2="98911"/>
                        <a14:backgroundMark x1="8972" y1="44981" x2="12473" y2="46097"/>
                        <a14:backgroundMark x1="11379" y1="46468" x2="12254" y2="47212"/>
                        <a14:backgroundMark x1="7659" y1="46468" x2="7659" y2="46468"/>
                        <a14:backgroundMark x1="8315" y1="46468" x2="8315" y2="46468"/>
                        <a14:backgroundMark x1="7440" y1="45353" x2="7440" y2="45353"/>
                        <a14:backgroundMark x1="6783" y1="45353" x2="6783" y2="45353"/>
                        <a14:backgroundMark x1="7002" y1="44238" x2="9190" y2="44238"/>
                        <a14:backgroundMark x1="6565" y1="44238" x2="7002" y2="44610"/>
                        <a14:backgroundMark x1="12473" y1="46097" x2="12910" y2="47584"/>
                        <a14:backgroundMark x1="5033" y1="65799" x2="5033" y2="65799"/>
                        <a14:backgroundMark x1="4595" y1="66171" x2="4158" y2="66543"/>
                        <a14:backgroundMark x1="94530" y1="98141" x2="94530" y2="98141"/>
                        <a14:backgroundMark x1="99125" y1="29740" x2="99125" y2="29740"/>
                        <a14:backgroundMark x1="96718" y1="32714" x2="96718" y2="32714"/>
                        <a14:backgroundMark x1="96061" y1="30112" x2="96061" y2="30112"/>
                        <a14:backgroundMark x1="95624" y1="28625" x2="95624" y2="286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8232" y="129099"/>
            <a:ext cx="1532162" cy="902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4102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2B783EE-0239-4717-BBEA-8C9EAC61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D732959-793A-EF66-E7D1-07DD84A9F25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109893" y="0"/>
            <a:ext cx="12411785" cy="71469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75A526-78DD-3F9C-3956-4DBCDBDE6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345810"/>
            <a:ext cx="6261606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700" b="1" dirty="0">
                <a:latin typeface="Times New Roman" panose="02020603050405020304" pitchFamily="18" charset="0"/>
              </a:rPr>
              <a:t>Реагент для </a:t>
            </a:r>
            <a:r>
              <a:rPr lang="ru-RU" sz="3700" b="1" dirty="0" err="1">
                <a:latin typeface="Times New Roman" panose="02020603050405020304" pitchFamily="18" charset="0"/>
              </a:rPr>
              <a:t>визначення</a:t>
            </a:r>
            <a:r>
              <a:rPr lang="ru-RU" sz="3700" b="1" dirty="0">
                <a:latin typeface="Times New Roman" panose="02020603050405020304" pitchFamily="18" charset="0"/>
              </a:rPr>
              <a:t> </a:t>
            </a:r>
            <a:r>
              <a:rPr lang="ru-RU" sz="3700" b="1" dirty="0" err="1">
                <a:latin typeface="Times New Roman" panose="02020603050405020304" pitchFamily="18" charset="0"/>
              </a:rPr>
              <a:t>тромбінового</a:t>
            </a:r>
            <a:r>
              <a:rPr lang="ru-RU" sz="3700" b="1" dirty="0">
                <a:latin typeface="Times New Roman" panose="02020603050405020304" pitchFamily="18" charset="0"/>
              </a:rPr>
              <a:t> часу (ТЧ)</a:t>
            </a:r>
            <a:br>
              <a:rPr lang="ru-RU" sz="2800" b="1" dirty="0">
                <a:latin typeface="Times New Roman" panose="02020603050405020304" pitchFamily="18" charset="0"/>
              </a:rPr>
            </a:br>
            <a:endParaRPr lang="uk-UA" sz="28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528E222-FC11-3A71-8A5F-CC8ABCB3F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704" y="1825624"/>
            <a:ext cx="767355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uk-UA" b="1" dirty="0"/>
              <a:t>Вартість: </a:t>
            </a:r>
            <a:r>
              <a:rPr lang="uk-UA" dirty="0"/>
              <a:t>6 100 грн</a:t>
            </a:r>
            <a:br>
              <a:rPr lang="uk-UA" dirty="0"/>
            </a:br>
            <a:br>
              <a:rPr lang="uk-UA" b="1" dirty="0"/>
            </a:br>
            <a:r>
              <a:rPr lang="uk-UA" b="1" dirty="0" err="1"/>
              <a:t>Фасовка</a:t>
            </a:r>
            <a:r>
              <a:rPr lang="uk-UA" b="1" dirty="0"/>
              <a:t> набору:</a:t>
            </a:r>
            <a:r>
              <a:rPr lang="uk-UA" dirty="0"/>
              <a:t> Реагент 1 (10х3 мл)</a:t>
            </a:r>
            <a:br>
              <a:rPr lang="uk-UA" dirty="0"/>
            </a:br>
            <a:br>
              <a:rPr lang="uk-UA" dirty="0"/>
            </a:br>
            <a:r>
              <a:rPr lang="uk-UA" b="1" dirty="0"/>
              <a:t>Кількість тестів в наборі:</a:t>
            </a:r>
            <a:r>
              <a:rPr lang="uk-UA" dirty="0"/>
              <a:t> 400 </a:t>
            </a:r>
            <a:br>
              <a:rPr lang="uk-UA" dirty="0"/>
            </a:br>
            <a:br>
              <a:rPr lang="uk-UA" dirty="0"/>
            </a:br>
            <a:r>
              <a:rPr lang="uk-UA" b="1" dirty="0"/>
              <a:t>Кількість тестів в 1 флаконі: </a:t>
            </a:r>
            <a:r>
              <a:rPr lang="uk-UA" dirty="0"/>
              <a:t>40 </a:t>
            </a:r>
            <a:r>
              <a:rPr lang="uk-UA" b="1" dirty="0"/>
              <a:t> </a:t>
            </a:r>
            <a:br>
              <a:rPr lang="uk-UA" b="1" dirty="0"/>
            </a:br>
            <a:br>
              <a:rPr lang="uk-UA" b="1" dirty="0"/>
            </a:br>
            <a:r>
              <a:rPr lang="uk-UA" b="1" dirty="0"/>
              <a:t>Вартість 1 тесту: </a:t>
            </a:r>
            <a:r>
              <a:rPr lang="uk-UA" dirty="0"/>
              <a:t>15,25 грн</a:t>
            </a:r>
            <a:br>
              <a:rPr lang="uk-UA" b="1" dirty="0">
                <a:solidFill>
                  <a:srgbClr val="FF0000"/>
                </a:solidFill>
              </a:rPr>
            </a:br>
            <a:br>
              <a:rPr lang="uk-UA" b="1" dirty="0">
                <a:solidFill>
                  <a:srgbClr val="FF0000"/>
                </a:solidFill>
              </a:rPr>
            </a:br>
            <a:r>
              <a:rPr lang="uk-UA" b="1" dirty="0"/>
              <a:t>Термін придатності в закритому стані: </a:t>
            </a:r>
            <a:r>
              <a:rPr lang="uk-UA" dirty="0"/>
              <a:t>24 місяці</a:t>
            </a:r>
            <a:br>
              <a:rPr lang="uk-UA" dirty="0"/>
            </a:br>
            <a:br>
              <a:rPr lang="uk-UA" b="1" dirty="0"/>
            </a:br>
            <a:r>
              <a:rPr lang="uk-UA" b="1" dirty="0"/>
              <a:t>Термін придатності у відкритому стані: </a:t>
            </a:r>
            <a:r>
              <a:rPr lang="uk-UA" dirty="0"/>
              <a:t>після відкриття </a:t>
            </a:r>
            <a:r>
              <a:rPr lang="ru-RU" dirty="0"/>
              <a:t>реагент</a:t>
            </a:r>
            <a:r>
              <a:rPr lang="uk-UA" dirty="0"/>
              <a:t> стабільний протягом </a:t>
            </a:r>
            <a:r>
              <a:rPr lang="ru-RU" dirty="0"/>
              <a:t>7 </a:t>
            </a:r>
            <a:r>
              <a:rPr lang="ru-RU" dirty="0" err="1"/>
              <a:t>днів</a:t>
            </a:r>
            <a:r>
              <a:rPr lang="ru-RU" dirty="0"/>
              <a:t> </a:t>
            </a:r>
            <a:r>
              <a:rPr lang="uk-UA" dirty="0"/>
              <a:t>при температурі</a:t>
            </a:r>
            <a:r>
              <a:rPr lang="ru-RU" dirty="0"/>
              <a:t> </a:t>
            </a:r>
            <a:r>
              <a:rPr lang="ru-RU" dirty="0" err="1"/>
              <a:t>зберігання</a:t>
            </a:r>
            <a:r>
              <a:rPr lang="uk-UA" dirty="0"/>
              <a:t> 2-</a:t>
            </a:r>
            <a:r>
              <a:rPr lang="ru-RU" dirty="0"/>
              <a:t>8</a:t>
            </a:r>
            <a:r>
              <a:rPr lang="uk-UA" dirty="0"/>
              <a:t>°С.</a:t>
            </a:r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Рисунок 4" descr="Зображення, що містить текст, канцелярські товари й офісне обладнання, Загальні поставки, у приміщенні&#10;&#10;Вміст, створений ШІ, може бути неправильним.">
            <a:extLst>
              <a:ext uri="{FF2B5EF4-FFF2-40B4-BE49-F238E27FC236}">
                <a16:creationId xmlns:a16="http://schemas.microsoft.com/office/drawing/2014/main" id="{9D32F69E-9828-38FC-3B21-3247702A8C5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" t="22154" r="6634" b="10713"/>
          <a:stretch>
            <a:fillRect/>
          </a:stretch>
        </p:blipFill>
        <p:spPr bwMode="auto">
          <a:xfrm>
            <a:off x="7901259" y="2727729"/>
            <a:ext cx="4290741" cy="4130271"/>
          </a:xfrm>
          <a:custGeom>
            <a:avLst/>
            <a:gdLst/>
            <a:ahLst/>
            <a:cxnLst/>
            <a:rect l="l" t="t" r="r" b="b"/>
            <a:pathLst>
              <a:path w="4290741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1" y="751286"/>
                </a:lnTo>
                <a:lnTo>
                  <a:pt x="4290741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6" name="Arc 15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Місце для вмісту 3" descr="Зображення, що містить текст, у приміщенні, скриня, стіна&#10;&#10;Вміст, створений ШІ, може бути неправильним.">
            <a:extLst>
              <a:ext uri="{FF2B5EF4-FFF2-40B4-BE49-F238E27FC236}">
                <a16:creationId xmlns:a16="http://schemas.microsoft.com/office/drawing/2014/main" id="{79CE4293-00E8-3A26-BA8B-C597FD3A518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06" t="26924" r="906" b="8974"/>
          <a:stretch>
            <a:fillRect/>
          </a:stretch>
        </p:blipFill>
        <p:spPr bwMode="auto">
          <a:xfrm>
            <a:off x="6261607" y="1"/>
            <a:ext cx="3519312" cy="3007909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10" descr="Экспресс-диагностика в практике врача | Health-ua">
            <a:extLst>
              <a:ext uri="{FF2B5EF4-FFF2-40B4-BE49-F238E27FC236}">
                <a16:creationId xmlns:a16="http://schemas.microsoft.com/office/drawing/2014/main" id="{480B3657-1FA3-B812-A916-4C11F60B6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63" b="98367" l="642" r="98396">
                        <a14:foregroundMark x1="30160" y1="23775" x2="30160" y2="23775"/>
                        <a14:foregroundMark x1="40107" y1="4537" x2="40107" y2="4537"/>
                        <a14:foregroundMark x1="2781" y1="29583" x2="2781" y2="29583"/>
                        <a14:foregroundMark x1="642" y1="64428" x2="642" y2="64428"/>
                        <a14:foregroundMark x1="3957" y1="67877" x2="3957" y2="67877"/>
                        <a14:foregroundMark x1="22781" y1="51180" x2="22781" y2="51180"/>
                        <a14:foregroundMark x1="29947" y1="57713" x2="29947" y2="57713"/>
                        <a14:foregroundMark x1="41711" y1="52813" x2="41711" y2="52813"/>
                        <a14:foregroundMark x1="49198" y1="51906" x2="49198" y2="51906"/>
                        <a14:foregroundMark x1="60214" y1="54265" x2="60214" y2="54265"/>
                        <a14:foregroundMark x1="69947" y1="60617" x2="69947" y2="60617"/>
                        <a14:foregroundMark x1="73797" y1="56261" x2="73797" y2="56261"/>
                        <a14:foregroundMark x1="80214" y1="56987" x2="80214" y2="56987"/>
                        <a14:foregroundMark x1="93369" y1="56261" x2="93369" y2="56261"/>
                        <a14:foregroundMark x1="97112" y1="57713" x2="97112" y2="57713"/>
                        <a14:foregroundMark x1="98182" y1="58802" x2="98182" y2="58802"/>
                        <a14:foregroundMark x1="27273" y1="51543" x2="27273" y2="51543"/>
                        <a14:foregroundMark x1="96257" y1="29220" x2="96257" y2="29220"/>
                        <a14:foregroundMark x1="94866" y1="29038" x2="94866" y2="29038"/>
                        <a14:foregroundMark x1="55829" y1="54991" x2="55829" y2="54991"/>
                        <a14:foregroundMark x1="57326" y1="56806" x2="57326" y2="56806"/>
                        <a14:foregroundMark x1="44920" y1="544" x2="44920" y2="544"/>
                        <a14:foregroundMark x1="43529" y1="1270" x2="43529" y2="1270"/>
                        <a14:foregroundMark x1="2888" y1="90926" x2="2888" y2="90926"/>
                        <a14:foregroundMark x1="4492" y1="91833" x2="4492" y2="91833"/>
                        <a14:foregroundMark x1="4171" y1="95100" x2="4171" y2="95100"/>
                        <a14:foregroundMark x1="4492" y1="97822" x2="4492" y2="97822"/>
                        <a14:foregroundMark x1="1711" y1="92922" x2="1711" y2="92922"/>
                        <a14:foregroundMark x1="7594" y1="91470" x2="7487" y2="92015"/>
                        <a14:foregroundMark x1="8449" y1="90563" x2="8984" y2="91107"/>
                        <a14:foregroundMark x1="9519" y1="94918" x2="9519" y2="95670"/>
                        <a14:foregroundMark x1="9519" y1="94192" x2="9519" y2="94918"/>
                        <a14:foregroundMark x1="8663" y1="96915" x2="8663" y2="96915"/>
                        <a14:foregroundMark x1="8770" y1="97096" x2="8770" y2="97096"/>
                        <a14:foregroundMark x1="8770" y1="97096" x2="8342" y2="96915"/>
                        <a14:foregroundMark x1="12513" y1="94555" x2="13048" y2="94555"/>
                        <a14:foregroundMark x1="19251" y1="91107" x2="19251" y2="91107"/>
                        <a14:foregroundMark x1="24599" y1="90381" x2="24599" y2="90381"/>
                        <a14:foregroundMark x1="31230" y1="91470" x2="31230" y2="91470"/>
                        <a14:foregroundMark x1="36257" y1="90563" x2="36257" y2="90563"/>
                        <a14:foregroundMark x1="34225" y1="90018" x2="34225" y2="90018"/>
                        <a14:foregroundMark x1="35508" y1="93285" x2="35508" y2="93285"/>
                        <a14:foregroundMark x1="41283" y1="90563" x2="41497" y2="90381"/>
                        <a14:foregroundMark x1="45561" y1="93648" x2="45561" y2="93648"/>
                        <a14:foregroundMark x1="35401" y1="98004" x2="35401" y2="98004"/>
                        <a14:foregroundMark x1="50802" y1="94737" x2="50802" y2="94737"/>
                        <a14:foregroundMark x1="55508" y1="94918" x2="55508" y2="94918"/>
                        <a14:foregroundMark x1="61176" y1="94374" x2="61176" y2="94374"/>
                        <a14:foregroundMark x1="68770" y1="94555" x2="68770" y2="94555"/>
                        <a14:foregroundMark x1="73797" y1="95281" x2="73797" y2="95281"/>
                        <a14:foregroundMark x1="73904" y1="91107" x2="73904" y2="91107"/>
                        <a14:foregroundMark x1="81925" y1="98367" x2="81925" y2="98367"/>
                        <a14:foregroundMark x1="87487" y1="94192" x2="87487" y2="94192"/>
                        <a14:foregroundMark x1="96150" y1="94011" x2="96150" y2="94011"/>
                        <a14:foregroundMark x1="98396" y1="93466" x2="98396" y2="93466"/>
                        <a14:foregroundMark x1="4064" y1="68058" x2="3484" y2="67763"/>
                        <a14:foregroundMark x1="21007" y1="7435" x2="21007" y2="7435"/>
                        <a14:foregroundMark x1="96499" y1="31599" x2="96499" y2="31599"/>
                        <a14:foregroundMark x1="96718" y1="29368" x2="96718" y2="29368"/>
                        <a14:backgroundMark x1="97112" y1="29038" x2="97112" y2="29038"/>
                        <a14:backgroundMark x1="8449" y1="94918" x2="8449" y2="94918"/>
                        <a14:backgroundMark x1="8235" y1="99093" x2="8556" y2="99093"/>
                        <a14:backgroundMark x1="2032" y1="66425" x2="3102" y2="66788"/>
                        <a14:backgroundMark x1="3209" y1="66788" x2="3850" y2="66788"/>
                        <a14:backgroundMark x1="14118" y1="96915" x2="14118" y2="96915"/>
                        <a14:backgroundMark x1="25668" y1="92015" x2="25668" y2="92015"/>
                        <a14:backgroundMark x1="31123" y1="94737" x2="31123" y2="94737"/>
                        <a14:backgroundMark x1="31551" y1="99456" x2="31551" y2="99456"/>
                        <a14:backgroundMark x1="46524" y1="92922" x2="46952" y2="92740"/>
                        <a14:backgroundMark x1="55401" y1="92196" x2="55401" y2="92196"/>
                        <a14:backgroundMark x1="54973" y1="98548" x2="54973" y2="98548"/>
                        <a14:backgroundMark x1="62460" y1="92740" x2="62460" y2="92740"/>
                        <a14:backgroundMark x1="62567" y1="97278" x2="62567" y2="97278"/>
                        <a14:backgroundMark x1="70160" y1="99637" x2="70695" y2="99637"/>
                        <a14:backgroundMark x1="76043" y1="98911" x2="76043" y2="98911"/>
                        <a14:backgroundMark x1="8972" y1="44981" x2="12473" y2="46097"/>
                        <a14:backgroundMark x1="11379" y1="46468" x2="12254" y2="47212"/>
                        <a14:backgroundMark x1="7659" y1="46468" x2="7659" y2="46468"/>
                        <a14:backgroundMark x1="8315" y1="46468" x2="8315" y2="46468"/>
                        <a14:backgroundMark x1="7440" y1="45353" x2="7440" y2="45353"/>
                        <a14:backgroundMark x1="6783" y1="45353" x2="6783" y2="45353"/>
                        <a14:backgroundMark x1="7002" y1="44238" x2="9190" y2="44238"/>
                        <a14:backgroundMark x1="6565" y1="44238" x2="7002" y2="44610"/>
                        <a14:backgroundMark x1="12473" y1="46097" x2="12910" y2="47584"/>
                        <a14:backgroundMark x1="5033" y1="65799" x2="5033" y2="65799"/>
                        <a14:backgroundMark x1="4595" y1="66171" x2="4158" y2="66543"/>
                        <a14:backgroundMark x1="94530" y1="98141" x2="94530" y2="98141"/>
                        <a14:backgroundMark x1="99125" y1="29740" x2="99125" y2="29740"/>
                        <a14:backgroundMark x1="96718" y1="32714" x2="96718" y2="32714"/>
                        <a14:backgroundMark x1="96061" y1="30112" x2="96061" y2="30112"/>
                        <a14:backgroundMark x1="95624" y1="28625" x2="95624" y2="286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8232" y="129099"/>
            <a:ext cx="1532162" cy="902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3561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2B783EE-0239-4717-BBEA-8C9EAC61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17569A0-F864-3A3A-85F6-FD3F10BD93F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109893" y="0"/>
            <a:ext cx="12411785" cy="71469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72AACC-A0EC-FF91-E3BB-61265FFD3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506" y="701950"/>
            <a:ext cx="5452706" cy="1325563"/>
          </a:xfrm>
        </p:spPr>
        <p:txBody>
          <a:bodyPr>
            <a:normAutofit/>
          </a:bodyPr>
          <a:lstStyle/>
          <a:p>
            <a:pPr algn="ctr"/>
            <a:r>
              <a:rPr lang="uk-UA" sz="3500" b="1" dirty="0">
                <a:latin typeface="Times New Roman" panose="02020603050405020304" pitchFamily="18" charset="0"/>
              </a:rPr>
              <a:t>Контроль коагуляції (рівень 1, рівень 2)</a:t>
            </a:r>
            <a:endParaRPr lang="uk-UA" sz="28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7B9981-501D-F840-FFF9-A20305CD1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92" y="2360615"/>
            <a:ext cx="8239224" cy="30079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2300" b="1" dirty="0"/>
              <a:t>Вартість: </a:t>
            </a:r>
            <a:r>
              <a:rPr lang="uk-UA" sz="2300" dirty="0"/>
              <a:t>12 165 грн (вартість за один рівень)</a:t>
            </a:r>
            <a:br>
              <a:rPr lang="uk-UA" sz="2300" dirty="0"/>
            </a:br>
            <a:br>
              <a:rPr lang="uk-UA" sz="2300" b="1" dirty="0"/>
            </a:br>
            <a:r>
              <a:rPr lang="uk-UA" sz="2300" b="1" dirty="0" err="1"/>
              <a:t>Фасовка</a:t>
            </a:r>
            <a:r>
              <a:rPr lang="uk-UA" sz="2300" b="1" dirty="0"/>
              <a:t> набору:</a:t>
            </a:r>
            <a:r>
              <a:rPr lang="uk-UA" sz="2300" dirty="0"/>
              <a:t> Реагент 1 (10х1 мл)</a:t>
            </a:r>
            <a:br>
              <a:rPr lang="uk-UA" sz="2300" dirty="0"/>
            </a:br>
            <a:br>
              <a:rPr lang="uk-UA" sz="2300" b="1" dirty="0"/>
            </a:br>
            <a:r>
              <a:rPr lang="uk-UA" sz="2300" b="1" dirty="0"/>
              <a:t>Термін придатності в закритому стані: </a:t>
            </a:r>
            <a:r>
              <a:rPr lang="uk-UA" sz="2300" dirty="0"/>
              <a:t>24 місяці</a:t>
            </a:r>
            <a:br>
              <a:rPr lang="uk-UA" sz="2300" dirty="0"/>
            </a:br>
            <a:br>
              <a:rPr lang="uk-UA" sz="2300" b="1" dirty="0"/>
            </a:br>
            <a:r>
              <a:rPr lang="uk-UA" sz="2300" b="1" dirty="0"/>
              <a:t>Термін придатності у відкритому стані: </a:t>
            </a:r>
            <a:r>
              <a:rPr lang="uk-UA" sz="2300" dirty="0"/>
              <a:t>стабільний протягом </a:t>
            </a:r>
            <a:r>
              <a:rPr lang="ru-RU" sz="2300" dirty="0"/>
              <a:t>24 год при </a:t>
            </a:r>
            <a:r>
              <a:rPr lang="ru-RU" sz="2300" dirty="0" err="1"/>
              <a:t>температурі</a:t>
            </a:r>
            <a:r>
              <a:rPr lang="ru-RU" sz="2300" dirty="0"/>
              <a:t> </a:t>
            </a:r>
            <a:r>
              <a:rPr lang="uk-UA" sz="2300" dirty="0"/>
              <a:t>2-8°С. </a:t>
            </a:r>
            <a:br>
              <a:rPr lang="uk-UA" sz="2300" dirty="0"/>
            </a:br>
            <a:r>
              <a:rPr lang="uk-UA" sz="2300" dirty="0"/>
              <a:t>Контролі заборонено заморожувати після </a:t>
            </a:r>
            <a:r>
              <a:rPr lang="ru-RU" sz="2300" dirty="0" err="1"/>
              <a:t>розведення</a:t>
            </a:r>
            <a:r>
              <a:rPr lang="ru-RU" sz="2300" dirty="0"/>
              <a:t>. </a:t>
            </a:r>
            <a:endParaRPr lang="uk-UA" sz="230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Рисунок 4" descr="Зображення, що містить дизайн, у приміщенні, стіна, скриня&#10;&#10;Вміст, створений ШІ, може бути неправильним.">
            <a:extLst>
              <a:ext uri="{FF2B5EF4-FFF2-40B4-BE49-F238E27FC236}">
                <a16:creationId xmlns:a16="http://schemas.microsoft.com/office/drawing/2014/main" id="{6F56C3FE-C2C4-0726-69D9-79068352939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344" t="15579" r="3341" b="12223"/>
          <a:stretch>
            <a:fillRect/>
          </a:stretch>
        </p:blipFill>
        <p:spPr bwMode="auto">
          <a:xfrm>
            <a:off x="7901259" y="2727729"/>
            <a:ext cx="4290741" cy="4130271"/>
          </a:xfrm>
          <a:custGeom>
            <a:avLst/>
            <a:gdLst/>
            <a:ahLst/>
            <a:cxnLst/>
            <a:rect l="l" t="t" r="r" b="b"/>
            <a:pathLst>
              <a:path w="4290741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1" y="751286"/>
                </a:lnTo>
                <a:lnTo>
                  <a:pt x="4290741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7" name="Arc 26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Місце для вмісту 3" descr="Зображення, що містить текст, у приміщенні, стіна, дизайн&#10;&#10;Вміст, створений ШІ, може бути неправильним.">
            <a:extLst>
              <a:ext uri="{FF2B5EF4-FFF2-40B4-BE49-F238E27FC236}">
                <a16:creationId xmlns:a16="http://schemas.microsoft.com/office/drawing/2014/main" id="{DCAFF7F6-D836-3164-301C-407409B8307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536" t="33772" r="3535" b="1912"/>
          <a:stretch>
            <a:fillRect/>
          </a:stretch>
        </p:blipFill>
        <p:spPr bwMode="auto">
          <a:xfrm>
            <a:off x="6261607" y="1"/>
            <a:ext cx="3519312" cy="3007909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31126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2B783EE-0239-4717-BBEA-8C9EAC61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3483BE0-93ED-4CC6-0375-66E0BAA6A77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109893" y="0"/>
            <a:ext cx="12411785" cy="71469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04E3D2-19D5-48BE-8BDA-6096F1063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813" y="345810"/>
            <a:ext cx="5771949" cy="1325563"/>
          </a:xfrm>
        </p:spPr>
        <p:txBody>
          <a:bodyPr>
            <a:normAutofit/>
          </a:bodyPr>
          <a:lstStyle/>
          <a:p>
            <a:pPr algn="ctr"/>
            <a:r>
              <a:rPr lang="uk-UA" b="1" dirty="0" err="1">
                <a:latin typeface="Times New Roman" panose="02020603050405020304" pitchFamily="18" charset="0"/>
              </a:rPr>
              <a:t>Калібратор</a:t>
            </a:r>
            <a:r>
              <a:rPr lang="uk-UA" b="1" dirty="0">
                <a:latin typeface="Times New Roman" panose="02020603050405020304" pitchFamily="18" charset="0"/>
              </a:rPr>
              <a:t> фібриногену </a:t>
            </a:r>
            <a:endParaRPr lang="uk-UA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6DA826C-D877-88FE-04FF-7BFFA2D22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813" y="2017183"/>
            <a:ext cx="780528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2400" b="1" dirty="0"/>
              <a:t>Вартість: </a:t>
            </a:r>
            <a:r>
              <a:rPr lang="uk-UA" sz="2400" dirty="0"/>
              <a:t>7 870 грн</a:t>
            </a:r>
            <a:br>
              <a:rPr lang="uk-UA" sz="2400" dirty="0"/>
            </a:br>
            <a:br>
              <a:rPr lang="uk-UA" sz="2400" b="1" dirty="0"/>
            </a:br>
            <a:r>
              <a:rPr lang="uk-UA" sz="2400" b="1" dirty="0" err="1"/>
              <a:t>Фасовка</a:t>
            </a:r>
            <a:r>
              <a:rPr lang="uk-UA" sz="2400" b="1" dirty="0"/>
              <a:t> набору:</a:t>
            </a:r>
            <a:r>
              <a:rPr lang="uk-UA" sz="2400" dirty="0"/>
              <a:t> Реагент 1 (6х1 мл)</a:t>
            </a:r>
            <a:br>
              <a:rPr lang="uk-UA" sz="2400" dirty="0"/>
            </a:br>
            <a:br>
              <a:rPr lang="uk-UA" sz="2400" b="1" dirty="0"/>
            </a:br>
            <a:r>
              <a:rPr lang="uk-UA" sz="2400" b="1" dirty="0"/>
              <a:t>Термін придатності в закритому стані: </a:t>
            </a:r>
            <a:r>
              <a:rPr lang="uk-UA" sz="2400" dirty="0"/>
              <a:t>24 місяці</a:t>
            </a:r>
            <a:br>
              <a:rPr lang="uk-UA" sz="2400" dirty="0"/>
            </a:br>
            <a:br>
              <a:rPr lang="uk-UA" sz="2400" b="1" dirty="0"/>
            </a:br>
            <a:r>
              <a:rPr lang="uk-UA" sz="2400" b="1" dirty="0"/>
              <a:t>Термін придатності у відкритому стані: </a:t>
            </a:r>
            <a:r>
              <a:rPr lang="ru-RU" sz="2400" dirty="0" err="1"/>
              <a:t>виріб</a:t>
            </a:r>
            <a:r>
              <a:rPr lang="uk-UA" sz="2400" dirty="0"/>
              <a:t> стабільний протягом </a:t>
            </a:r>
            <a:r>
              <a:rPr lang="ru-RU" sz="2400" dirty="0"/>
              <a:t>8 год при </a:t>
            </a:r>
            <a:r>
              <a:rPr lang="ru-RU" sz="2400" dirty="0" err="1"/>
              <a:t>температурі</a:t>
            </a:r>
            <a:r>
              <a:rPr lang="ru-RU" sz="2400" dirty="0"/>
              <a:t> </a:t>
            </a:r>
            <a:r>
              <a:rPr lang="uk-UA" sz="2400" dirty="0"/>
              <a:t>2-8°С. Контролі заборонено заморожувати після </a:t>
            </a:r>
            <a:r>
              <a:rPr lang="ru-RU" sz="2400" dirty="0" err="1"/>
              <a:t>розведення</a:t>
            </a:r>
            <a:r>
              <a:rPr lang="ru-RU" sz="2400" dirty="0"/>
              <a:t>.</a:t>
            </a:r>
            <a:endParaRPr lang="uk-UA" sz="24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Рисунок 4" descr="Зображення, що містить текст, у приміщенні, канцелярські товари й офісне обладнання, дизайн&#10;&#10;Вміст, створений ШІ, може бути неправильним.">
            <a:extLst>
              <a:ext uri="{FF2B5EF4-FFF2-40B4-BE49-F238E27FC236}">
                <a16:creationId xmlns:a16="http://schemas.microsoft.com/office/drawing/2014/main" id="{7853B788-0772-CE14-8205-BCCC1631B39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1" t="22047" r="6678" b="11143"/>
          <a:stretch>
            <a:fillRect/>
          </a:stretch>
        </p:blipFill>
        <p:spPr bwMode="auto">
          <a:xfrm>
            <a:off x="7901259" y="2727729"/>
            <a:ext cx="4290741" cy="4130271"/>
          </a:xfrm>
          <a:custGeom>
            <a:avLst/>
            <a:gdLst/>
            <a:ahLst/>
            <a:cxnLst/>
            <a:rect l="l" t="t" r="r" b="b"/>
            <a:pathLst>
              <a:path w="4290741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1" y="751286"/>
                </a:lnTo>
                <a:lnTo>
                  <a:pt x="4290741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6" name="Arc 15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Місце для вмісту 3" descr="Зображення, що містить текст, у приміщенні, скриня, Пакування та маркування&#10;&#10;Вміст, створений ШІ, може бути неправильним.">
            <a:extLst>
              <a:ext uri="{FF2B5EF4-FFF2-40B4-BE49-F238E27FC236}">
                <a16:creationId xmlns:a16="http://schemas.microsoft.com/office/drawing/2014/main" id="{796EADF5-E9AB-6E48-7BBA-AA7A7DCC04C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15" t="27327" r="3060" b="17086"/>
          <a:stretch>
            <a:fillRect/>
          </a:stretch>
        </p:blipFill>
        <p:spPr bwMode="auto">
          <a:xfrm>
            <a:off x="6290101" y="1"/>
            <a:ext cx="3483819" cy="2966720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10" descr="Экспресс-диагностика в практике врача | Health-ua">
            <a:extLst>
              <a:ext uri="{FF2B5EF4-FFF2-40B4-BE49-F238E27FC236}">
                <a16:creationId xmlns:a16="http://schemas.microsoft.com/office/drawing/2014/main" id="{98306171-67D3-EE78-4BBD-3E327F42B9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63" b="98367" l="642" r="98396">
                        <a14:foregroundMark x1="30160" y1="23775" x2="30160" y2="23775"/>
                        <a14:foregroundMark x1="40107" y1="4537" x2="40107" y2="4537"/>
                        <a14:foregroundMark x1="2781" y1="29583" x2="2781" y2="29583"/>
                        <a14:foregroundMark x1="642" y1="64428" x2="642" y2="64428"/>
                        <a14:foregroundMark x1="3957" y1="67877" x2="3957" y2="67877"/>
                        <a14:foregroundMark x1="22781" y1="51180" x2="22781" y2="51180"/>
                        <a14:foregroundMark x1="29947" y1="57713" x2="29947" y2="57713"/>
                        <a14:foregroundMark x1="41711" y1="52813" x2="41711" y2="52813"/>
                        <a14:foregroundMark x1="49198" y1="51906" x2="49198" y2="51906"/>
                        <a14:foregroundMark x1="60214" y1="54265" x2="60214" y2="54265"/>
                        <a14:foregroundMark x1="69947" y1="60617" x2="69947" y2="60617"/>
                        <a14:foregroundMark x1="73797" y1="56261" x2="73797" y2="56261"/>
                        <a14:foregroundMark x1="80214" y1="56987" x2="80214" y2="56987"/>
                        <a14:foregroundMark x1="93369" y1="56261" x2="93369" y2="56261"/>
                        <a14:foregroundMark x1="97112" y1="57713" x2="97112" y2="57713"/>
                        <a14:foregroundMark x1="98182" y1="58802" x2="98182" y2="58802"/>
                        <a14:foregroundMark x1="27273" y1="51543" x2="27273" y2="51543"/>
                        <a14:foregroundMark x1="96257" y1="29220" x2="96257" y2="29220"/>
                        <a14:foregroundMark x1="94866" y1="29038" x2="94866" y2="29038"/>
                        <a14:foregroundMark x1="55829" y1="54991" x2="55829" y2="54991"/>
                        <a14:foregroundMark x1="57326" y1="56806" x2="57326" y2="56806"/>
                        <a14:foregroundMark x1="44920" y1="544" x2="44920" y2="544"/>
                        <a14:foregroundMark x1="43529" y1="1270" x2="43529" y2="1270"/>
                        <a14:foregroundMark x1="2888" y1="90926" x2="2888" y2="90926"/>
                        <a14:foregroundMark x1="4492" y1="91833" x2="4492" y2="91833"/>
                        <a14:foregroundMark x1="4171" y1="95100" x2="4171" y2="95100"/>
                        <a14:foregroundMark x1="4492" y1="97822" x2="4492" y2="97822"/>
                        <a14:foregroundMark x1="1711" y1="92922" x2="1711" y2="92922"/>
                        <a14:foregroundMark x1="7594" y1="91470" x2="7487" y2="92015"/>
                        <a14:foregroundMark x1="8449" y1="90563" x2="8984" y2="91107"/>
                        <a14:foregroundMark x1="9519" y1="94918" x2="9519" y2="95670"/>
                        <a14:foregroundMark x1="9519" y1="94192" x2="9519" y2="94918"/>
                        <a14:foregroundMark x1="8663" y1="96915" x2="8663" y2="96915"/>
                        <a14:foregroundMark x1="8770" y1="97096" x2="8770" y2="97096"/>
                        <a14:foregroundMark x1="8770" y1="97096" x2="8342" y2="96915"/>
                        <a14:foregroundMark x1="12513" y1="94555" x2="13048" y2="94555"/>
                        <a14:foregroundMark x1="19251" y1="91107" x2="19251" y2="91107"/>
                        <a14:foregroundMark x1="24599" y1="90381" x2="24599" y2="90381"/>
                        <a14:foregroundMark x1="31230" y1="91470" x2="31230" y2="91470"/>
                        <a14:foregroundMark x1="36257" y1="90563" x2="36257" y2="90563"/>
                        <a14:foregroundMark x1="34225" y1="90018" x2="34225" y2="90018"/>
                        <a14:foregroundMark x1="35508" y1="93285" x2="35508" y2="93285"/>
                        <a14:foregroundMark x1="41283" y1="90563" x2="41497" y2="90381"/>
                        <a14:foregroundMark x1="45561" y1="93648" x2="45561" y2="93648"/>
                        <a14:foregroundMark x1="35401" y1="98004" x2="35401" y2="98004"/>
                        <a14:foregroundMark x1="50802" y1="94737" x2="50802" y2="94737"/>
                        <a14:foregroundMark x1="55508" y1="94918" x2="55508" y2="94918"/>
                        <a14:foregroundMark x1="61176" y1="94374" x2="61176" y2="94374"/>
                        <a14:foregroundMark x1="68770" y1="94555" x2="68770" y2="94555"/>
                        <a14:foregroundMark x1="73797" y1="95281" x2="73797" y2="95281"/>
                        <a14:foregroundMark x1="73904" y1="91107" x2="73904" y2="91107"/>
                        <a14:foregroundMark x1="81925" y1="98367" x2="81925" y2="98367"/>
                        <a14:foregroundMark x1="87487" y1="94192" x2="87487" y2="94192"/>
                        <a14:foregroundMark x1="96150" y1="94011" x2="96150" y2="94011"/>
                        <a14:foregroundMark x1="98396" y1="93466" x2="98396" y2="93466"/>
                        <a14:foregroundMark x1="4064" y1="68058" x2="3484" y2="67763"/>
                        <a14:foregroundMark x1="21007" y1="7435" x2="21007" y2="7435"/>
                        <a14:foregroundMark x1="96499" y1="31599" x2="96499" y2="31599"/>
                        <a14:foregroundMark x1="96718" y1="29368" x2="96718" y2="29368"/>
                        <a14:backgroundMark x1="97112" y1="29038" x2="97112" y2="29038"/>
                        <a14:backgroundMark x1="8449" y1="94918" x2="8449" y2="94918"/>
                        <a14:backgroundMark x1="8235" y1="99093" x2="8556" y2="99093"/>
                        <a14:backgroundMark x1="2032" y1="66425" x2="3102" y2="66788"/>
                        <a14:backgroundMark x1="3209" y1="66788" x2="3850" y2="66788"/>
                        <a14:backgroundMark x1="14118" y1="96915" x2="14118" y2="96915"/>
                        <a14:backgroundMark x1="25668" y1="92015" x2="25668" y2="92015"/>
                        <a14:backgroundMark x1="31123" y1="94737" x2="31123" y2="94737"/>
                        <a14:backgroundMark x1="31551" y1="99456" x2="31551" y2="99456"/>
                        <a14:backgroundMark x1="46524" y1="92922" x2="46952" y2="92740"/>
                        <a14:backgroundMark x1="55401" y1="92196" x2="55401" y2="92196"/>
                        <a14:backgroundMark x1="54973" y1="98548" x2="54973" y2="98548"/>
                        <a14:backgroundMark x1="62460" y1="92740" x2="62460" y2="92740"/>
                        <a14:backgroundMark x1="62567" y1="97278" x2="62567" y2="97278"/>
                        <a14:backgroundMark x1="70160" y1="99637" x2="70695" y2="99637"/>
                        <a14:backgroundMark x1="76043" y1="98911" x2="76043" y2="98911"/>
                        <a14:backgroundMark x1="8972" y1="44981" x2="12473" y2="46097"/>
                        <a14:backgroundMark x1="11379" y1="46468" x2="12254" y2="47212"/>
                        <a14:backgroundMark x1="7659" y1="46468" x2="7659" y2="46468"/>
                        <a14:backgroundMark x1="8315" y1="46468" x2="8315" y2="46468"/>
                        <a14:backgroundMark x1="7440" y1="45353" x2="7440" y2="45353"/>
                        <a14:backgroundMark x1="6783" y1="45353" x2="6783" y2="45353"/>
                        <a14:backgroundMark x1="7002" y1="44238" x2="9190" y2="44238"/>
                        <a14:backgroundMark x1="6565" y1="44238" x2="7002" y2="44610"/>
                        <a14:backgroundMark x1="12473" y1="46097" x2="12910" y2="47584"/>
                        <a14:backgroundMark x1="5033" y1="65799" x2="5033" y2="65799"/>
                        <a14:backgroundMark x1="4595" y1="66171" x2="4158" y2="66543"/>
                        <a14:backgroundMark x1="94530" y1="98141" x2="94530" y2="98141"/>
                        <a14:backgroundMark x1="99125" y1="29740" x2="99125" y2="29740"/>
                        <a14:backgroundMark x1="96718" y1="32714" x2="96718" y2="32714"/>
                        <a14:backgroundMark x1="96061" y1="30112" x2="96061" y2="30112"/>
                        <a14:backgroundMark x1="95624" y1="28625" x2="95624" y2="286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8232" y="129099"/>
            <a:ext cx="1532162" cy="902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8555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3" name="Rectangle 5126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ADB1A51-9401-68E7-CBD0-4BBADF34EDE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109893" y="0"/>
            <a:ext cx="12411785" cy="71469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282413-8046-DF54-9133-4860AC1F5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6" y="365125"/>
            <a:ext cx="9874935" cy="1325563"/>
          </a:xfrm>
        </p:spPr>
        <p:txBody>
          <a:bodyPr>
            <a:normAutofit/>
          </a:bodyPr>
          <a:lstStyle/>
          <a:p>
            <a:pPr algn="ctr"/>
            <a:r>
              <a:rPr lang="uk-UA" b="1" dirty="0">
                <a:latin typeface="Times New Roman" panose="02020603050405020304" pitchFamily="18" charset="0"/>
              </a:rPr>
              <a:t>Кювета оптична 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8FC88BA-98D1-EB95-584D-CB5E7823B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964" y="1867900"/>
            <a:ext cx="777590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2600" b="1" dirty="0"/>
              <a:t>Вартість: </a:t>
            </a:r>
            <a:r>
              <a:rPr lang="uk-UA" sz="2600" dirty="0"/>
              <a:t>9 350 грн</a:t>
            </a:r>
          </a:p>
          <a:p>
            <a:pPr marL="0" indent="0">
              <a:buNone/>
            </a:pPr>
            <a:br>
              <a:rPr lang="uk-UA" sz="2600" b="1" dirty="0"/>
            </a:br>
            <a:r>
              <a:rPr lang="uk-UA" sz="2600" b="1" dirty="0" err="1"/>
              <a:t>Фасовка</a:t>
            </a:r>
            <a:r>
              <a:rPr lang="uk-UA" sz="2600" b="1" dirty="0"/>
              <a:t> набору:</a:t>
            </a:r>
            <a:r>
              <a:rPr lang="uk-UA" sz="2600" dirty="0"/>
              <a:t> 1 000 </a:t>
            </a:r>
            <a:r>
              <a:rPr lang="uk-UA" sz="2600" dirty="0" err="1"/>
              <a:t>шт</a:t>
            </a:r>
            <a:endParaRPr lang="uk-UA" sz="2600" dirty="0"/>
          </a:p>
          <a:p>
            <a:pPr marL="0" indent="0">
              <a:buNone/>
            </a:pPr>
            <a:br>
              <a:rPr lang="uk-UA" sz="2600" dirty="0"/>
            </a:br>
            <a:r>
              <a:rPr lang="uk-UA" sz="2600" b="1" dirty="0"/>
              <a:t>Вартість за 1 </a:t>
            </a:r>
            <a:r>
              <a:rPr lang="uk-UA" sz="2600" b="1" dirty="0" err="1"/>
              <a:t>шт</a:t>
            </a:r>
            <a:r>
              <a:rPr lang="uk-UA" sz="2600" b="1" dirty="0"/>
              <a:t>: </a:t>
            </a:r>
            <a:r>
              <a:rPr lang="uk-UA" sz="2600" dirty="0"/>
              <a:t>9,35 грн</a:t>
            </a:r>
            <a:br>
              <a:rPr lang="uk-UA" sz="2600" dirty="0"/>
            </a:br>
            <a:br>
              <a:rPr lang="uk-UA" sz="2600" b="1" dirty="0"/>
            </a:br>
            <a:r>
              <a:rPr lang="uk-UA" sz="2600" b="1" dirty="0"/>
              <a:t>Термін придатності: </a:t>
            </a:r>
            <a:r>
              <a:rPr lang="uk-UA" sz="2600" dirty="0"/>
              <a:t>при температурі -10-40°С протягом 3-х років.</a:t>
            </a:r>
          </a:p>
        </p:txBody>
      </p:sp>
      <p:pic>
        <p:nvPicPr>
          <p:cNvPr id="5122" name="Picture 2" descr="Cuvette for Sysmex CA-500/CA-530/CA-1500/CA-7000/CA-8000 ...">
            <a:extLst>
              <a:ext uri="{FF2B5EF4-FFF2-40B4-BE49-F238E27FC236}">
                <a16:creationId xmlns:a16="http://schemas.microsoft.com/office/drawing/2014/main" id="{637DAE98-4CC7-0A44-751C-75FD0EC20E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43" t="8887" r="7746" b="4"/>
          <a:stretch>
            <a:fillRect/>
          </a:stretch>
        </p:blipFill>
        <p:spPr bwMode="auto">
          <a:xfrm>
            <a:off x="7555398" y="1706775"/>
            <a:ext cx="3889673" cy="3765636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34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35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10" descr="Экспресс-диагностика в практике врача | Health-ua">
            <a:extLst>
              <a:ext uri="{FF2B5EF4-FFF2-40B4-BE49-F238E27FC236}">
                <a16:creationId xmlns:a16="http://schemas.microsoft.com/office/drawing/2014/main" id="{E00E8E8A-CD30-EACB-F44A-104EA0050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63" b="98367" l="642" r="98396">
                        <a14:foregroundMark x1="30160" y1="23775" x2="30160" y2="23775"/>
                        <a14:foregroundMark x1="40107" y1="4537" x2="40107" y2="4537"/>
                        <a14:foregroundMark x1="2781" y1="29583" x2="2781" y2="29583"/>
                        <a14:foregroundMark x1="642" y1="64428" x2="642" y2="64428"/>
                        <a14:foregroundMark x1="3957" y1="67877" x2="3957" y2="67877"/>
                        <a14:foregroundMark x1="22781" y1="51180" x2="22781" y2="51180"/>
                        <a14:foregroundMark x1="29947" y1="57713" x2="29947" y2="57713"/>
                        <a14:foregroundMark x1="41711" y1="52813" x2="41711" y2="52813"/>
                        <a14:foregroundMark x1="49198" y1="51906" x2="49198" y2="51906"/>
                        <a14:foregroundMark x1="60214" y1="54265" x2="60214" y2="54265"/>
                        <a14:foregroundMark x1="69947" y1="60617" x2="69947" y2="60617"/>
                        <a14:foregroundMark x1="73797" y1="56261" x2="73797" y2="56261"/>
                        <a14:foregroundMark x1="80214" y1="56987" x2="80214" y2="56987"/>
                        <a14:foregroundMark x1="93369" y1="56261" x2="93369" y2="56261"/>
                        <a14:foregroundMark x1="97112" y1="57713" x2="97112" y2="57713"/>
                        <a14:foregroundMark x1="98182" y1="58802" x2="98182" y2="58802"/>
                        <a14:foregroundMark x1="27273" y1="51543" x2="27273" y2="51543"/>
                        <a14:foregroundMark x1="96257" y1="29220" x2="96257" y2="29220"/>
                        <a14:foregroundMark x1="94866" y1="29038" x2="94866" y2="29038"/>
                        <a14:foregroundMark x1="55829" y1="54991" x2="55829" y2="54991"/>
                        <a14:foregroundMark x1="57326" y1="56806" x2="57326" y2="56806"/>
                        <a14:foregroundMark x1="44920" y1="544" x2="44920" y2="544"/>
                        <a14:foregroundMark x1="43529" y1="1270" x2="43529" y2="1270"/>
                        <a14:foregroundMark x1="2888" y1="90926" x2="2888" y2="90926"/>
                        <a14:foregroundMark x1="4492" y1="91833" x2="4492" y2="91833"/>
                        <a14:foregroundMark x1="4171" y1="95100" x2="4171" y2="95100"/>
                        <a14:foregroundMark x1="4492" y1="97822" x2="4492" y2="97822"/>
                        <a14:foregroundMark x1="1711" y1="92922" x2="1711" y2="92922"/>
                        <a14:foregroundMark x1="7594" y1="91470" x2="7487" y2="92015"/>
                        <a14:foregroundMark x1="8449" y1="90563" x2="8984" y2="91107"/>
                        <a14:foregroundMark x1="9519" y1="94918" x2="9519" y2="95670"/>
                        <a14:foregroundMark x1="9519" y1="94192" x2="9519" y2="94918"/>
                        <a14:foregroundMark x1="8663" y1="96915" x2="8663" y2="96915"/>
                        <a14:foregroundMark x1="8770" y1="97096" x2="8770" y2="97096"/>
                        <a14:foregroundMark x1="8770" y1="97096" x2="8342" y2="96915"/>
                        <a14:foregroundMark x1="12513" y1="94555" x2="13048" y2="94555"/>
                        <a14:foregroundMark x1="19251" y1="91107" x2="19251" y2="91107"/>
                        <a14:foregroundMark x1="24599" y1="90381" x2="24599" y2="90381"/>
                        <a14:foregroundMark x1="31230" y1="91470" x2="31230" y2="91470"/>
                        <a14:foregroundMark x1="36257" y1="90563" x2="36257" y2="90563"/>
                        <a14:foregroundMark x1="34225" y1="90018" x2="34225" y2="90018"/>
                        <a14:foregroundMark x1="35508" y1="93285" x2="35508" y2="93285"/>
                        <a14:foregroundMark x1="41283" y1="90563" x2="41497" y2="90381"/>
                        <a14:foregroundMark x1="45561" y1="93648" x2="45561" y2="93648"/>
                        <a14:foregroundMark x1="35401" y1="98004" x2="35401" y2="98004"/>
                        <a14:foregroundMark x1="50802" y1="94737" x2="50802" y2="94737"/>
                        <a14:foregroundMark x1="55508" y1="94918" x2="55508" y2="94918"/>
                        <a14:foregroundMark x1="61176" y1="94374" x2="61176" y2="94374"/>
                        <a14:foregroundMark x1="68770" y1="94555" x2="68770" y2="94555"/>
                        <a14:foregroundMark x1="73797" y1="95281" x2="73797" y2="95281"/>
                        <a14:foregroundMark x1="73904" y1="91107" x2="73904" y2="91107"/>
                        <a14:foregroundMark x1="81925" y1="98367" x2="81925" y2="98367"/>
                        <a14:foregroundMark x1="87487" y1="94192" x2="87487" y2="94192"/>
                        <a14:foregroundMark x1="96150" y1="94011" x2="96150" y2="94011"/>
                        <a14:foregroundMark x1="98396" y1="93466" x2="98396" y2="93466"/>
                        <a14:foregroundMark x1="4064" y1="68058" x2="3484" y2="67763"/>
                        <a14:foregroundMark x1="21007" y1="7435" x2="21007" y2="7435"/>
                        <a14:foregroundMark x1="96499" y1="31599" x2="96499" y2="31599"/>
                        <a14:foregroundMark x1="96718" y1="29368" x2="96718" y2="29368"/>
                        <a14:backgroundMark x1="97112" y1="29038" x2="97112" y2="29038"/>
                        <a14:backgroundMark x1="8449" y1="94918" x2="8449" y2="94918"/>
                        <a14:backgroundMark x1="8235" y1="99093" x2="8556" y2="99093"/>
                        <a14:backgroundMark x1="2032" y1="66425" x2="3102" y2="66788"/>
                        <a14:backgroundMark x1="3209" y1="66788" x2="3850" y2="66788"/>
                        <a14:backgroundMark x1="14118" y1="96915" x2="14118" y2="96915"/>
                        <a14:backgroundMark x1="25668" y1="92015" x2="25668" y2="92015"/>
                        <a14:backgroundMark x1="31123" y1="94737" x2="31123" y2="94737"/>
                        <a14:backgroundMark x1="31551" y1="99456" x2="31551" y2="99456"/>
                        <a14:backgroundMark x1="46524" y1="92922" x2="46952" y2="92740"/>
                        <a14:backgroundMark x1="55401" y1="92196" x2="55401" y2="92196"/>
                        <a14:backgroundMark x1="54973" y1="98548" x2="54973" y2="98548"/>
                        <a14:backgroundMark x1="62460" y1="92740" x2="62460" y2="92740"/>
                        <a14:backgroundMark x1="62567" y1="97278" x2="62567" y2="97278"/>
                        <a14:backgroundMark x1="70160" y1="99637" x2="70695" y2="99637"/>
                        <a14:backgroundMark x1="76043" y1="98911" x2="76043" y2="98911"/>
                        <a14:backgroundMark x1="8972" y1="44981" x2="12473" y2="46097"/>
                        <a14:backgroundMark x1="11379" y1="46468" x2="12254" y2="47212"/>
                        <a14:backgroundMark x1="7659" y1="46468" x2="7659" y2="46468"/>
                        <a14:backgroundMark x1="8315" y1="46468" x2="8315" y2="46468"/>
                        <a14:backgroundMark x1="7440" y1="45353" x2="7440" y2="45353"/>
                        <a14:backgroundMark x1="6783" y1="45353" x2="6783" y2="45353"/>
                        <a14:backgroundMark x1="7002" y1="44238" x2="9190" y2="44238"/>
                        <a14:backgroundMark x1="6565" y1="44238" x2="7002" y2="44610"/>
                        <a14:backgroundMark x1="12473" y1="46097" x2="12910" y2="47584"/>
                        <a14:backgroundMark x1="5033" y1="65799" x2="5033" y2="65799"/>
                        <a14:backgroundMark x1="4595" y1="66171" x2="4158" y2="66543"/>
                        <a14:backgroundMark x1="94530" y1="98141" x2="94530" y2="98141"/>
                        <a14:backgroundMark x1="99125" y1="29740" x2="99125" y2="29740"/>
                        <a14:backgroundMark x1="96718" y1="32714" x2="96718" y2="32714"/>
                        <a14:backgroundMark x1="96061" y1="30112" x2="96061" y2="30112"/>
                        <a14:backgroundMark x1="95624" y1="28625" x2="95624" y2="286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552" y="5648095"/>
            <a:ext cx="1532162" cy="902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0514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C98093-B86F-F4B1-A5DD-B862B6220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3" name="Rectangle 5126">
            <a:extLst>
              <a:ext uri="{FF2B5EF4-FFF2-40B4-BE49-F238E27FC236}">
                <a16:creationId xmlns:a16="http://schemas.microsoft.com/office/drawing/2014/main" id="{4B65A2B6-744F-575D-879F-CB79BC41AB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6C0B5E0-C686-9585-9FF1-FB774164CF8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219785" y="-144463"/>
            <a:ext cx="12411785" cy="71469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228AAD-6122-A025-C558-06BF110D8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304" y="677764"/>
            <a:ext cx="9973257" cy="1325563"/>
          </a:xfrm>
        </p:spPr>
        <p:txBody>
          <a:bodyPr>
            <a:normAutofit/>
          </a:bodyPr>
          <a:lstStyle/>
          <a:p>
            <a:pPr algn="ctr"/>
            <a:r>
              <a:rPr lang="uk-UA" b="1" dirty="0">
                <a:solidFill>
                  <a:srgbClr val="000000"/>
                </a:solidFill>
                <a:latin typeface="Times New Roman" panose="02020603050405020304" pitchFamily="18" charset="0"/>
              </a:rPr>
              <a:t>Магнітний змішувач</a:t>
            </a:r>
            <a:endParaRPr lang="uk-UA" dirty="0"/>
          </a:p>
        </p:txBody>
      </p:sp>
      <p:sp>
        <p:nvSpPr>
          <p:cNvPr id="5134" name="!!Arc">
            <a:extLst>
              <a:ext uri="{FF2B5EF4-FFF2-40B4-BE49-F238E27FC236}">
                <a16:creationId xmlns:a16="http://schemas.microsoft.com/office/drawing/2014/main" id="{BD993327-1363-9E29-8476-3803F53220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35" name="!!Oval">
            <a:extLst>
              <a:ext uri="{FF2B5EF4-FFF2-40B4-BE49-F238E27FC236}">
                <a16:creationId xmlns:a16="http://schemas.microsoft.com/office/drawing/2014/main" id="{B2858DF8-93CF-CE37-9DEC-AC2B5C884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Місце для вмісту 4">
            <a:extLst>
              <a:ext uri="{FF2B5EF4-FFF2-40B4-BE49-F238E27FC236}">
                <a16:creationId xmlns:a16="http://schemas.microsoft.com/office/drawing/2014/main" id="{3F8E923A-F467-FAFA-B3A2-25482D0B3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8046" y="2173110"/>
            <a:ext cx="5816861" cy="25005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b="1" dirty="0"/>
              <a:t>Вартість: </a:t>
            </a:r>
            <a:r>
              <a:rPr lang="uk-UA" dirty="0"/>
              <a:t>3 450 грн</a:t>
            </a:r>
          </a:p>
          <a:p>
            <a:pPr marL="0" indent="0">
              <a:buNone/>
            </a:pPr>
            <a:br>
              <a:rPr lang="uk-UA" b="1" dirty="0"/>
            </a:br>
            <a:r>
              <a:rPr lang="uk-UA" b="1" dirty="0" err="1"/>
              <a:t>Фасовка</a:t>
            </a:r>
            <a:r>
              <a:rPr lang="uk-UA" b="1" dirty="0"/>
              <a:t> набору:</a:t>
            </a:r>
            <a:r>
              <a:rPr lang="uk-UA" dirty="0"/>
              <a:t> 2 000 </a:t>
            </a:r>
            <a:r>
              <a:rPr lang="uk-UA" dirty="0" err="1"/>
              <a:t>шт</a:t>
            </a:r>
            <a:endParaRPr lang="uk-UA" dirty="0"/>
          </a:p>
          <a:p>
            <a:pPr marL="0" indent="0">
              <a:buNone/>
            </a:pPr>
            <a:br>
              <a:rPr lang="uk-UA" dirty="0"/>
            </a:br>
            <a:r>
              <a:rPr lang="uk-UA" b="1" dirty="0"/>
              <a:t>Вартість за 1 </a:t>
            </a:r>
            <a:r>
              <a:rPr lang="uk-UA" b="1" dirty="0" err="1"/>
              <a:t>шт</a:t>
            </a:r>
            <a:r>
              <a:rPr lang="uk-UA" b="1" dirty="0"/>
              <a:t>:</a:t>
            </a:r>
            <a:r>
              <a:rPr lang="uk-UA" dirty="0"/>
              <a:t> 1,73 грн</a:t>
            </a:r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819B4F04-14E8-C7D1-26A1-30AFA49F8FA8}"/>
              </a:ext>
            </a:extLst>
          </p:cNvPr>
          <p:cNvSpPr/>
          <p:nvPr/>
        </p:nvSpPr>
        <p:spPr>
          <a:xfrm>
            <a:off x="7084090" y="1485008"/>
            <a:ext cx="4394890" cy="420235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F637CB2-9B77-FED5-85C9-D974C1958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13" y="1305906"/>
            <a:ext cx="3073679" cy="4610518"/>
          </a:xfrm>
          <a:prstGeom prst="rect">
            <a:avLst/>
          </a:prstGeom>
        </p:spPr>
      </p:pic>
      <p:pic>
        <p:nvPicPr>
          <p:cNvPr id="8" name="Picture 10" descr="Экспресс-диагностика в практике врача | Health-ua">
            <a:extLst>
              <a:ext uri="{FF2B5EF4-FFF2-40B4-BE49-F238E27FC236}">
                <a16:creationId xmlns:a16="http://schemas.microsoft.com/office/drawing/2014/main" id="{54713B68-CBCB-B3E3-F9A2-68276D367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63" b="98367" l="642" r="98396">
                        <a14:foregroundMark x1="30160" y1="23775" x2="30160" y2="23775"/>
                        <a14:foregroundMark x1="40107" y1="4537" x2="40107" y2="4537"/>
                        <a14:foregroundMark x1="2781" y1="29583" x2="2781" y2="29583"/>
                        <a14:foregroundMark x1="642" y1="64428" x2="642" y2="64428"/>
                        <a14:foregroundMark x1="3957" y1="67877" x2="3957" y2="67877"/>
                        <a14:foregroundMark x1="22781" y1="51180" x2="22781" y2="51180"/>
                        <a14:foregroundMark x1="29947" y1="57713" x2="29947" y2="57713"/>
                        <a14:foregroundMark x1="41711" y1="52813" x2="41711" y2="52813"/>
                        <a14:foregroundMark x1="49198" y1="51906" x2="49198" y2="51906"/>
                        <a14:foregroundMark x1="60214" y1="54265" x2="60214" y2="54265"/>
                        <a14:foregroundMark x1="69947" y1="60617" x2="69947" y2="60617"/>
                        <a14:foregroundMark x1="73797" y1="56261" x2="73797" y2="56261"/>
                        <a14:foregroundMark x1="80214" y1="56987" x2="80214" y2="56987"/>
                        <a14:foregroundMark x1="93369" y1="56261" x2="93369" y2="56261"/>
                        <a14:foregroundMark x1="97112" y1="57713" x2="97112" y2="57713"/>
                        <a14:foregroundMark x1="98182" y1="58802" x2="98182" y2="58802"/>
                        <a14:foregroundMark x1="27273" y1="51543" x2="27273" y2="51543"/>
                        <a14:foregroundMark x1="96257" y1="29220" x2="96257" y2="29220"/>
                        <a14:foregroundMark x1="94866" y1="29038" x2="94866" y2="29038"/>
                        <a14:foregroundMark x1="55829" y1="54991" x2="55829" y2="54991"/>
                        <a14:foregroundMark x1="57326" y1="56806" x2="57326" y2="56806"/>
                        <a14:foregroundMark x1="44920" y1="544" x2="44920" y2="544"/>
                        <a14:foregroundMark x1="43529" y1="1270" x2="43529" y2="1270"/>
                        <a14:foregroundMark x1="2888" y1="90926" x2="2888" y2="90926"/>
                        <a14:foregroundMark x1="4492" y1="91833" x2="4492" y2="91833"/>
                        <a14:foregroundMark x1="4171" y1="95100" x2="4171" y2="95100"/>
                        <a14:foregroundMark x1="4492" y1="97822" x2="4492" y2="97822"/>
                        <a14:foregroundMark x1="1711" y1="92922" x2="1711" y2="92922"/>
                        <a14:foregroundMark x1="7594" y1="91470" x2="7487" y2="92015"/>
                        <a14:foregroundMark x1="8449" y1="90563" x2="8984" y2="91107"/>
                        <a14:foregroundMark x1="9519" y1="94918" x2="9519" y2="95670"/>
                        <a14:foregroundMark x1="9519" y1="94192" x2="9519" y2="94918"/>
                        <a14:foregroundMark x1="8663" y1="96915" x2="8663" y2="96915"/>
                        <a14:foregroundMark x1="8770" y1="97096" x2="8770" y2="97096"/>
                        <a14:foregroundMark x1="8770" y1="97096" x2="8342" y2="96915"/>
                        <a14:foregroundMark x1="12513" y1="94555" x2="13048" y2="94555"/>
                        <a14:foregroundMark x1="19251" y1="91107" x2="19251" y2="91107"/>
                        <a14:foregroundMark x1="24599" y1="90381" x2="24599" y2="90381"/>
                        <a14:foregroundMark x1="31230" y1="91470" x2="31230" y2="91470"/>
                        <a14:foregroundMark x1="36257" y1="90563" x2="36257" y2="90563"/>
                        <a14:foregroundMark x1="34225" y1="90018" x2="34225" y2="90018"/>
                        <a14:foregroundMark x1="35508" y1="93285" x2="35508" y2="93285"/>
                        <a14:foregroundMark x1="41283" y1="90563" x2="41497" y2="90381"/>
                        <a14:foregroundMark x1="45561" y1="93648" x2="45561" y2="93648"/>
                        <a14:foregroundMark x1="35401" y1="98004" x2="35401" y2="98004"/>
                        <a14:foregroundMark x1="50802" y1="94737" x2="50802" y2="94737"/>
                        <a14:foregroundMark x1="55508" y1="94918" x2="55508" y2="94918"/>
                        <a14:foregroundMark x1="61176" y1="94374" x2="61176" y2="94374"/>
                        <a14:foregroundMark x1="68770" y1="94555" x2="68770" y2="94555"/>
                        <a14:foregroundMark x1="73797" y1="95281" x2="73797" y2="95281"/>
                        <a14:foregroundMark x1="73904" y1="91107" x2="73904" y2="91107"/>
                        <a14:foregroundMark x1="81925" y1="98367" x2="81925" y2="98367"/>
                        <a14:foregroundMark x1="87487" y1="94192" x2="87487" y2="94192"/>
                        <a14:foregroundMark x1="96150" y1="94011" x2="96150" y2="94011"/>
                        <a14:foregroundMark x1="98396" y1="93466" x2="98396" y2="93466"/>
                        <a14:foregroundMark x1="4064" y1="68058" x2="3484" y2="67763"/>
                        <a14:foregroundMark x1="21007" y1="7435" x2="21007" y2="7435"/>
                        <a14:foregroundMark x1="96499" y1="31599" x2="96499" y2="31599"/>
                        <a14:foregroundMark x1="96718" y1="29368" x2="96718" y2="29368"/>
                        <a14:backgroundMark x1="97112" y1="29038" x2="97112" y2="29038"/>
                        <a14:backgroundMark x1="8449" y1="94918" x2="8449" y2="94918"/>
                        <a14:backgroundMark x1="8235" y1="99093" x2="8556" y2="99093"/>
                        <a14:backgroundMark x1="2032" y1="66425" x2="3102" y2="66788"/>
                        <a14:backgroundMark x1="3209" y1="66788" x2="3850" y2="66788"/>
                        <a14:backgroundMark x1="14118" y1="96915" x2="14118" y2="96915"/>
                        <a14:backgroundMark x1="25668" y1="92015" x2="25668" y2="92015"/>
                        <a14:backgroundMark x1="31123" y1="94737" x2="31123" y2="94737"/>
                        <a14:backgroundMark x1="31551" y1="99456" x2="31551" y2="99456"/>
                        <a14:backgroundMark x1="46524" y1="92922" x2="46952" y2="92740"/>
                        <a14:backgroundMark x1="55401" y1="92196" x2="55401" y2="92196"/>
                        <a14:backgroundMark x1="54973" y1="98548" x2="54973" y2="98548"/>
                        <a14:backgroundMark x1="62460" y1="92740" x2="62460" y2="92740"/>
                        <a14:backgroundMark x1="62567" y1="97278" x2="62567" y2="97278"/>
                        <a14:backgroundMark x1="70160" y1="99637" x2="70695" y2="99637"/>
                        <a14:backgroundMark x1="76043" y1="98911" x2="76043" y2="98911"/>
                        <a14:backgroundMark x1="8972" y1="44981" x2="12473" y2="46097"/>
                        <a14:backgroundMark x1="11379" y1="46468" x2="12254" y2="47212"/>
                        <a14:backgroundMark x1="7659" y1="46468" x2="7659" y2="46468"/>
                        <a14:backgroundMark x1="8315" y1="46468" x2="8315" y2="46468"/>
                        <a14:backgroundMark x1="7440" y1="45353" x2="7440" y2="45353"/>
                        <a14:backgroundMark x1="6783" y1="45353" x2="6783" y2="45353"/>
                        <a14:backgroundMark x1="7002" y1="44238" x2="9190" y2="44238"/>
                        <a14:backgroundMark x1="6565" y1="44238" x2="7002" y2="44610"/>
                        <a14:backgroundMark x1="12473" y1="46097" x2="12910" y2="47584"/>
                        <a14:backgroundMark x1="5033" y1="65799" x2="5033" y2="65799"/>
                        <a14:backgroundMark x1="4595" y1="66171" x2="4158" y2="66543"/>
                        <a14:backgroundMark x1="94530" y1="98141" x2="94530" y2="98141"/>
                        <a14:backgroundMark x1="99125" y1="29740" x2="99125" y2="29740"/>
                        <a14:backgroundMark x1="96718" y1="32714" x2="96718" y2="32714"/>
                        <a14:backgroundMark x1="96061" y1="30112" x2="96061" y2="30112"/>
                        <a14:backgroundMark x1="95624" y1="28625" x2="95624" y2="286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552" y="5648095"/>
            <a:ext cx="1532162" cy="902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841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3D3C910-07B2-7E14-2141-CD95A90D4F5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109893" y="-144463"/>
            <a:ext cx="12411785" cy="714692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73CE0A8-05D7-99C5-7836-57A7F77055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12251" r="32680" b="11713"/>
          <a:stretch>
            <a:fillRect/>
          </a:stretch>
        </p:blipFill>
        <p:spPr>
          <a:xfrm>
            <a:off x="3542759" y="124617"/>
            <a:ext cx="8759128" cy="659549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53F3101-3F03-2489-6052-29BE126186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424" t="30037"/>
          <a:stretch>
            <a:fillRect/>
          </a:stretch>
        </p:blipFill>
        <p:spPr>
          <a:xfrm>
            <a:off x="-109898" y="-1"/>
            <a:ext cx="4494596" cy="606298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4CC104-CC38-5094-2988-BC5D421F6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7" y="795019"/>
            <a:ext cx="10515600" cy="1325563"/>
          </a:xfrm>
        </p:spPr>
        <p:txBody>
          <a:bodyPr/>
          <a:lstStyle/>
          <a:p>
            <a:pPr algn="ctr"/>
            <a:r>
              <a:rPr lang="uk-UA" b="1" dirty="0"/>
              <a:t>Стартовий набір для </a:t>
            </a:r>
            <a:r>
              <a:rPr lang="en-US" b="1" dirty="0"/>
              <a:t>DC1040</a:t>
            </a:r>
            <a:endParaRPr lang="uk-UA" b="1" dirty="0"/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F0DDDCFF-2527-42BF-CD30-CF6C2180E7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9713243"/>
              </p:ext>
            </p:extLst>
          </p:nvPr>
        </p:nvGraphicFramePr>
        <p:xfrm>
          <a:off x="1235762" y="1921800"/>
          <a:ext cx="9720470" cy="3754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42708">
                  <a:extLst>
                    <a:ext uri="{9D8B030D-6E8A-4147-A177-3AD203B41FA5}">
                      <a16:colId xmlns:a16="http://schemas.microsoft.com/office/drawing/2014/main" val="3958928659"/>
                    </a:ext>
                  </a:extLst>
                </a:gridCol>
                <a:gridCol w="3454589">
                  <a:extLst>
                    <a:ext uri="{9D8B030D-6E8A-4147-A177-3AD203B41FA5}">
                      <a16:colId xmlns:a16="http://schemas.microsoft.com/office/drawing/2014/main" val="2165943160"/>
                    </a:ext>
                  </a:extLst>
                </a:gridCol>
                <a:gridCol w="977156">
                  <a:extLst>
                    <a:ext uri="{9D8B030D-6E8A-4147-A177-3AD203B41FA5}">
                      <a16:colId xmlns:a16="http://schemas.microsoft.com/office/drawing/2014/main" val="3719299386"/>
                    </a:ext>
                  </a:extLst>
                </a:gridCol>
                <a:gridCol w="3346017">
                  <a:extLst>
                    <a:ext uri="{9D8B030D-6E8A-4147-A177-3AD203B41FA5}">
                      <a16:colId xmlns:a16="http://schemas.microsoft.com/office/drawing/2014/main" val="33498760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b="1" dirty="0"/>
                        <a:t>Назва</a:t>
                      </a: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b="1" dirty="0"/>
                        <a:t>Опис</a:t>
                      </a: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b="1" dirty="0"/>
                        <a:t>К-сть</a:t>
                      </a:r>
                    </a:p>
                  </a:txBody>
                  <a:tcP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b="1" dirty="0"/>
                        <a:t>Примітка</a:t>
                      </a:r>
                    </a:p>
                  </a:txBody>
                  <a:tcP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722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uk-UA" b="1" dirty="0"/>
                        <a:t>Оптична кювета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dirty="0"/>
                        <a:t>Ємність для проведення реакції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/>
                        <a:t>60 шт.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dirty="0"/>
                        <a:t>Така ж сама, як </a:t>
                      </a:r>
                      <a:r>
                        <a:rPr lang="ru-RU" dirty="0" err="1"/>
                        <a:t>кювети</a:t>
                      </a:r>
                      <a:r>
                        <a:rPr lang="ru-RU" dirty="0"/>
                        <a:t> для </a:t>
                      </a:r>
                      <a:r>
                        <a:rPr lang="ru-RU" b="1" dirty="0"/>
                        <a:t>CA1200, DP-C16.</a:t>
                      </a:r>
                      <a:endParaRPr lang="uk-UA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98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b="1" dirty="0"/>
                        <a:t>Магнітний змішувач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dirty="0" err="1"/>
                        <a:t>Додається</a:t>
                      </a:r>
                      <a:r>
                        <a:rPr lang="ru-RU" dirty="0"/>
                        <a:t> в </a:t>
                      </a:r>
                      <a:r>
                        <a:rPr lang="ru-RU" dirty="0" err="1"/>
                        <a:t>оптичну</a:t>
                      </a:r>
                      <a:r>
                        <a:rPr lang="ru-RU" dirty="0"/>
                        <a:t> кювету перед </a:t>
                      </a:r>
                      <a:r>
                        <a:rPr lang="ru-RU" dirty="0" err="1"/>
                        <a:t>тестуванням</a:t>
                      </a:r>
                      <a:r>
                        <a:rPr lang="ru-RU" dirty="0"/>
                        <a:t> для </a:t>
                      </a:r>
                      <a:r>
                        <a:rPr lang="ru-RU" dirty="0" err="1"/>
                        <a:t>змішування</a:t>
                      </a:r>
                      <a:r>
                        <a:rPr lang="ru-RU" dirty="0"/>
                        <a:t> </a:t>
                      </a:r>
                      <a:r>
                        <a:rPr lang="ru-RU" dirty="0" err="1"/>
                        <a:t>зразка</a:t>
                      </a:r>
                      <a:r>
                        <a:rPr lang="ru-RU" dirty="0"/>
                        <a:t> та реагенту</a:t>
                      </a:r>
                      <a:endParaRPr lang="uk-UA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/>
                        <a:t>100 шт.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uk-UA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665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b="1" dirty="0"/>
                        <a:t>Наконечник для піпетки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dirty="0" err="1"/>
                        <a:t>Встановлюється</a:t>
                      </a:r>
                      <a:r>
                        <a:rPr lang="ru-RU" dirty="0"/>
                        <a:t> на </a:t>
                      </a:r>
                      <a:r>
                        <a:rPr lang="ru-RU" dirty="0" err="1"/>
                        <a:t>піпетку</a:t>
                      </a:r>
                      <a:r>
                        <a:rPr lang="ru-RU" dirty="0"/>
                        <a:t> для ручного забору та </a:t>
                      </a:r>
                      <a:r>
                        <a:rPr lang="ru-RU" dirty="0" err="1"/>
                        <a:t>додавання</a:t>
                      </a:r>
                      <a:r>
                        <a:rPr lang="ru-RU" dirty="0"/>
                        <a:t> </a:t>
                      </a:r>
                      <a:r>
                        <a:rPr lang="ru-RU" dirty="0" err="1"/>
                        <a:t>зразків</a:t>
                      </a:r>
                      <a:r>
                        <a:rPr lang="ru-RU" dirty="0"/>
                        <a:t> і </a:t>
                      </a:r>
                      <a:r>
                        <a:rPr lang="ru-RU" dirty="0" err="1"/>
                        <a:t>реагентів</a:t>
                      </a:r>
                      <a:r>
                        <a:rPr lang="ru-RU" dirty="0"/>
                        <a:t>. 20-200 </a:t>
                      </a:r>
                      <a:r>
                        <a:rPr lang="ru-RU" dirty="0" err="1"/>
                        <a:t>мкл</a:t>
                      </a:r>
                      <a:endParaRPr lang="uk-UA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/>
                        <a:t>30 шт.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b="1" dirty="0"/>
                        <a:t>Ми </a:t>
                      </a:r>
                      <a:r>
                        <a:rPr lang="ru-RU" b="1" dirty="0" err="1"/>
                        <a:t>їх</a:t>
                      </a:r>
                      <a:r>
                        <a:rPr lang="ru-RU" b="1" dirty="0"/>
                        <a:t> не </a:t>
                      </a:r>
                      <a:r>
                        <a:rPr lang="ru-RU" b="1" dirty="0" err="1"/>
                        <a:t>продаємо</a:t>
                      </a:r>
                      <a:r>
                        <a:rPr lang="ru-RU" b="1" dirty="0"/>
                        <a:t>. </a:t>
                      </a:r>
                      <a:r>
                        <a:rPr lang="ru-RU" dirty="0" err="1"/>
                        <a:t>Партнери</a:t>
                      </a:r>
                      <a:r>
                        <a:rPr lang="ru-RU" dirty="0"/>
                        <a:t> </a:t>
                      </a:r>
                      <a:r>
                        <a:rPr lang="ru-RU" dirty="0" err="1"/>
                        <a:t>можуть</a:t>
                      </a:r>
                      <a:r>
                        <a:rPr lang="ru-RU" dirty="0"/>
                        <a:t> </a:t>
                      </a:r>
                      <a:r>
                        <a:rPr lang="ru-RU" dirty="0" err="1"/>
                        <a:t>їх</a:t>
                      </a:r>
                      <a:r>
                        <a:rPr lang="ru-RU" dirty="0"/>
                        <a:t> </a:t>
                      </a:r>
                      <a:r>
                        <a:rPr lang="ru-RU" dirty="0" err="1"/>
                        <a:t>придбати</a:t>
                      </a:r>
                      <a:r>
                        <a:rPr lang="ru-RU" dirty="0"/>
                        <a:t> у </a:t>
                      </a:r>
                      <a:r>
                        <a:rPr lang="ru-RU" dirty="0" err="1"/>
                        <a:t>інших</a:t>
                      </a:r>
                      <a:r>
                        <a:rPr lang="ru-RU" dirty="0"/>
                        <a:t> </a:t>
                      </a:r>
                      <a:r>
                        <a:rPr lang="ru-RU" dirty="0" err="1"/>
                        <a:t>дистриб’юторів</a:t>
                      </a:r>
                      <a:r>
                        <a:rPr lang="uk-UA" dirty="0"/>
                        <a:t>, які продають витратні матеріали</a:t>
                      </a:r>
                      <a:r>
                        <a:rPr lang="ru-RU" dirty="0"/>
                        <a:t>.</a:t>
                      </a:r>
                      <a:endParaRPr lang="uk-UA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182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b="1" dirty="0"/>
                        <a:t>Пінцет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dirty="0"/>
                        <a:t>Застосовується для роботи з магнітними змішувачами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/>
                        <a:t>1 шт.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uk-UA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618869"/>
                  </a:ext>
                </a:extLst>
              </a:tr>
            </a:tbl>
          </a:graphicData>
        </a:graphic>
      </p:graphicFrame>
      <p:pic>
        <p:nvPicPr>
          <p:cNvPr id="5" name="Picture 10" descr="Экспресс-диагностика в практике врача | Health-ua">
            <a:extLst>
              <a:ext uri="{FF2B5EF4-FFF2-40B4-BE49-F238E27FC236}">
                <a16:creationId xmlns:a16="http://schemas.microsoft.com/office/drawing/2014/main" id="{DF88CF26-D895-8A37-006A-073B57DB5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63" b="98367" l="642" r="98396">
                        <a14:foregroundMark x1="30160" y1="23775" x2="30160" y2="23775"/>
                        <a14:foregroundMark x1="40107" y1="4537" x2="40107" y2="4537"/>
                        <a14:foregroundMark x1="2781" y1="29583" x2="2781" y2="29583"/>
                        <a14:foregroundMark x1="642" y1="64428" x2="642" y2="64428"/>
                        <a14:foregroundMark x1="3957" y1="67877" x2="3957" y2="67877"/>
                        <a14:foregroundMark x1="22781" y1="51180" x2="22781" y2="51180"/>
                        <a14:foregroundMark x1="29947" y1="57713" x2="29947" y2="57713"/>
                        <a14:foregroundMark x1="41711" y1="52813" x2="41711" y2="52813"/>
                        <a14:foregroundMark x1="49198" y1="51906" x2="49198" y2="51906"/>
                        <a14:foregroundMark x1="60214" y1="54265" x2="60214" y2="54265"/>
                        <a14:foregroundMark x1="69947" y1="60617" x2="69947" y2="60617"/>
                        <a14:foregroundMark x1="73797" y1="56261" x2="73797" y2="56261"/>
                        <a14:foregroundMark x1="80214" y1="56987" x2="80214" y2="56987"/>
                        <a14:foregroundMark x1="93369" y1="56261" x2="93369" y2="56261"/>
                        <a14:foregroundMark x1="97112" y1="57713" x2="97112" y2="57713"/>
                        <a14:foregroundMark x1="98182" y1="58802" x2="98182" y2="58802"/>
                        <a14:foregroundMark x1="27273" y1="51543" x2="27273" y2="51543"/>
                        <a14:foregroundMark x1="96257" y1="29220" x2="96257" y2="29220"/>
                        <a14:foregroundMark x1="94866" y1="29038" x2="94866" y2="29038"/>
                        <a14:foregroundMark x1="55829" y1="54991" x2="55829" y2="54991"/>
                        <a14:foregroundMark x1="57326" y1="56806" x2="57326" y2="56806"/>
                        <a14:foregroundMark x1="44920" y1="544" x2="44920" y2="544"/>
                        <a14:foregroundMark x1="43529" y1="1270" x2="43529" y2="1270"/>
                        <a14:foregroundMark x1="2888" y1="90926" x2="2888" y2="90926"/>
                        <a14:foregroundMark x1="4492" y1="91833" x2="4492" y2="91833"/>
                        <a14:foregroundMark x1="4171" y1="95100" x2="4171" y2="95100"/>
                        <a14:foregroundMark x1="4492" y1="97822" x2="4492" y2="97822"/>
                        <a14:foregroundMark x1="1711" y1="92922" x2="1711" y2="92922"/>
                        <a14:foregroundMark x1="7594" y1="91470" x2="7487" y2="92015"/>
                        <a14:foregroundMark x1="8449" y1="90563" x2="8984" y2="91107"/>
                        <a14:foregroundMark x1="9519" y1="94918" x2="9519" y2="95670"/>
                        <a14:foregroundMark x1="9519" y1="94192" x2="9519" y2="94918"/>
                        <a14:foregroundMark x1="8663" y1="96915" x2="8663" y2="96915"/>
                        <a14:foregroundMark x1="8770" y1="97096" x2="8770" y2="97096"/>
                        <a14:foregroundMark x1="8770" y1="97096" x2="8342" y2="96915"/>
                        <a14:foregroundMark x1="12513" y1="94555" x2="13048" y2="94555"/>
                        <a14:foregroundMark x1="19251" y1="91107" x2="19251" y2="91107"/>
                        <a14:foregroundMark x1="24599" y1="90381" x2="24599" y2="90381"/>
                        <a14:foregroundMark x1="31230" y1="91470" x2="31230" y2="91470"/>
                        <a14:foregroundMark x1="36257" y1="90563" x2="36257" y2="90563"/>
                        <a14:foregroundMark x1="34225" y1="90018" x2="34225" y2="90018"/>
                        <a14:foregroundMark x1="35508" y1="93285" x2="35508" y2="93285"/>
                        <a14:foregroundMark x1="41283" y1="90563" x2="41497" y2="90381"/>
                        <a14:foregroundMark x1="45561" y1="93648" x2="45561" y2="93648"/>
                        <a14:foregroundMark x1="35401" y1="98004" x2="35401" y2="98004"/>
                        <a14:foregroundMark x1="50802" y1="94737" x2="50802" y2="94737"/>
                        <a14:foregroundMark x1="55508" y1="94918" x2="55508" y2="94918"/>
                        <a14:foregroundMark x1="61176" y1="94374" x2="61176" y2="94374"/>
                        <a14:foregroundMark x1="68770" y1="94555" x2="68770" y2="94555"/>
                        <a14:foregroundMark x1="73797" y1="95281" x2="73797" y2="95281"/>
                        <a14:foregroundMark x1="73904" y1="91107" x2="73904" y2="91107"/>
                        <a14:foregroundMark x1="81925" y1="98367" x2="81925" y2="98367"/>
                        <a14:foregroundMark x1="87487" y1="94192" x2="87487" y2="94192"/>
                        <a14:foregroundMark x1="96150" y1="94011" x2="96150" y2="94011"/>
                        <a14:foregroundMark x1="98396" y1="93466" x2="98396" y2="93466"/>
                        <a14:foregroundMark x1="4064" y1="68058" x2="3484" y2="67763"/>
                        <a14:foregroundMark x1="21007" y1="7435" x2="21007" y2="7435"/>
                        <a14:foregroundMark x1="96499" y1="31599" x2="96499" y2="31599"/>
                        <a14:foregroundMark x1="96718" y1="29368" x2="96718" y2="29368"/>
                        <a14:backgroundMark x1="97112" y1="29038" x2="97112" y2="29038"/>
                        <a14:backgroundMark x1="8449" y1="94918" x2="8449" y2="94918"/>
                        <a14:backgroundMark x1="8235" y1="99093" x2="8556" y2="99093"/>
                        <a14:backgroundMark x1="2032" y1="66425" x2="3102" y2="66788"/>
                        <a14:backgroundMark x1="3209" y1="66788" x2="3850" y2="66788"/>
                        <a14:backgroundMark x1="14118" y1="96915" x2="14118" y2="96915"/>
                        <a14:backgroundMark x1="25668" y1="92015" x2="25668" y2="92015"/>
                        <a14:backgroundMark x1="31123" y1="94737" x2="31123" y2="94737"/>
                        <a14:backgroundMark x1="31551" y1="99456" x2="31551" y2="99456"/>
                        <a14:backgroundMark x1="46524" y1="92922" x2="46952" y2="92740"/>
                        <a14:backgroundMark x1="55401" y1="92196" x2="55401" y2="92196"/>
                        <a14:backgroundMark x1="54973" y1="98548" x2="54973" y2="98548"/>
                        <a14:backgroundMark x1="62460" y1="92740" x2="62460" y2="92740"/>
                        <a14:backgroundMark x1="62567" y1="97278" x2="62567" y2="97278"/>
                        <a14:backgroundMark x1="70160" y1="99637" x2="70695" y2="99637"/>
                        <a14:backgroundMark x1="76043" y1="98911" x2="76043" y2="98911"/>
                        <a14:backgroundMark x1="8972" y1="44981" x2="12473" y2="46097"/>
                        <a14:backgroundMark x1="11379" y1="46468" x2="12254" y2="47212"/>
                        <a14:backgroundMark x1="7659" y1="46468" x2="7659" y2="46468"/>
                        <a14:backgroundMark x1="8315" y1="46468" x2="8315" y2="46468"/>
                        <a14:backgroundMark x1="7440" y1="45353" x2="7440" y2="45353"/>
                        <a14:backgroundMark x1="6783" y1="45353" x2="6783" y2="45353"/>
                        <a14:backgroundMark x1="7002" y1="44238" x2="9190" y2="44238"/>
                        <a14:backgroundMark x1="6565" y1="44238" x2="7002" y2="44610"/>
                        <a14:backgroundMark x1="12473" y1="46097" x2="12910" y2="47584"/>
                        <a14:backgroundMark x1="5033" y1="65799" x2="5033" y2="65799"/>
                        <a14:backgroundMark x1="4595" y1="66171" x2="4158" y2="66543"/>
                        <a14:backgroundMark x1="94530" y1="98141" x2="94530" y2="98141"/>
                        <a14:backgroundMark x1="99125" y1="29740" x2="99125" y2="29740"/>
                        <a14:backgroundMark x1="96718" y1="32714" x2="96718" y2="32714"/>
                        <a14:backgroundMark x1="96061" y1="30112" x2="96061" y2="30112"/>
                        <a14:backgroundMark x1="95624" y1="28625" x2="95624" y2="286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552" y="5648095"/>
            <a:ext cx="1532162" cy="902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4891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D119219E-DA63-34C4-2017-3D1AC515DBC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109894" y="-144463"/>
            <a:ext cx="12411785" cy="71469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D1A5ED-37FA-7F58-3F46-3A1F751A0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827"/>
            <a:ext cx="10515600" cy="1458760"/>
          </a:xfrm>
        </p:spPr>
        <p:txBody>
          <a:bodyPr>
            <a:noAutofit/>
          </a:bodyPr>
          <a:lstStyle/>
          <a:p>
            <a:pPr algn="ctr"/>
            <a:r>
              <a:rPr lang="uk-UA" sz="5500" b="1" dirty="0"/>
              <a:t>Реакція коагуляції</a:t>
            </a:r>
          </a:p>
        </p:txBody>
      </p:sp>
      <p:sp>
        <p:nvSpPr>
          <p:cNvPr id="10" name="AutoShape 2">
            <a:extLst>
              <a:ext uri="{FF2B5EF4-FFF2-40B4-BE49-F238E27FC236}">
                <a16:creationId xmlns:a16="http://schemas.microsoft.com/office/drawing/2014/main" id="{261B36BC-7984-F400-0684-480DC7E31E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grpSp>
        <p:nvGrpSpPr>
          <p:cNvPr id="73" name="Групувати 72">
            <a:extLst>
              <a:ext uri="{FF2B5EF4-FFF2-40B4-BE49-F238E27FC236}">
                <a16:creationId xmlns:a16="http://schemas.microsoft.com/office/drawing/2014/main" id="{7762CDE6-D665-1B78-07F7-F03F9E510902}"/>
              </a:ext>
            </a:extLst>
          </p:cNvPr>
          <p:cNvGrpSpPr/>
          <p:nvPr/>
        </p:nvGrpSpPr>
        <p:grpSpPr>
          <a:xfrm>
            <a:off x="211754" y="1287024"/>
            <a:ext cx="11463691" cy="3573211"/>
            <a:chOff x="1994802" y="2367675"/>
            <a:chExt cx="9686638" cy="2727006"/>
          </a:xfrm>
        </p:grpSpPr>
        <p:cxnSp>
          <p:nvCxnSpPr>
            <p:cNvPr id="43" name="Пряма зі стрілкою 42">
              <a:extLst>
                <a:ext uri="{FF2B5EF4-FFF2-40B4-BE49-F238E27FC236}">
                  <a16:creationId xmlns:a16="http://schemas.microsoft.com/office/drawing/2014/main" id="{1E6F5F1D-EEEC-7A81-9DBA-343B1E72E4E2}"/>
                </a:ext>
              </a:extLst>
            </p:cNvPr>
            <p:cNvCxnSpPr/>
            <p:nvPr/>
          </p:nvCxnSpPr>
          <p:spPr>
            <a:xfrm>
              <a:off x="5407593" y="4054260"/>
              <a:ext cx="116711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72" name="Групувати 71">
              <a:extLst>
                <a:ext uri="{FF2B5EF4-FFF2-40B4-BE49-F238E27FC236}">
                  <a16:creationId xmlns:a16="http://schemas.microsoft.com/office/drawing/2014/main" id="{B705941B-40F8-6C5C-6B89-9B36B24A6004}"/>
                </a:ext>
              </a:extLst>
            </p:cNvPr>
            <p:cNvGrpSpPr/>
            <p:nvPr/>
          </p:nvGrpSpPr>
          <p:grpSpPr>
            <a:xfrm>
              <a:off x="1994802" y="2367675"/>
              <a:ext cx="9686638" cy="2727006"/>
              <a:chOff x="-215714" y="866866"/>
              <a:chExt cx="9686638" cy="2727006"/>
            </a:xfrm>
          </p:grpSpPr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34D35E1-79C5-3492-2F5D-190ECC343E04}"/>
                  </a:ext>
                </a:extLst>
              </p:cNvPr>
              <p:cNvSpPr txBox="1"/>
              <p:nvPr/>
            </p:nvSpPr>
            <p:spPr>
              <a:xfrm>
                <a:off x="7151971" y="3119735"/>
                <a:ext cx="174928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uk-UA" sz="1200" b="1" dirty="0"/>
                  <a:t>Фіксація утворення згустку</a:t>
                </a:r>
              </a:p>
            </p:txBody>
          </p:sp>
          <p:grpSp>
            <p:nvGrpSpPr>
              <p:cNvPr id="69" name="Групувати 68">
                <a:extLst>
                  <a:ext uri="{FF2B5EF4-FFF2-40B4-BE49-F238E27FC236}">
                    <a16:creationId xmlns:a16="http://schemas.microsoft.com/office/drawing/2014/main" id="{70198C0D-69AE-16CE-8835-91729AF46EE9}"/>
                  </a:ext>
                </a:extLst>
              </p:cNvPr>
              <p:cNvGrpSpPr/>
              <p:nvPr/>
            </p:nvGrpSpPr>
            <p:grpSpPr>
              <a:xfrm>
                <a:off x="-215714" y="866866"/>
                <a:ext cx="6964869" cy="2727006"/>
                <a:chOff x="-215714" y="866866"/>
                <a:chExt cx="6964869" cy="2727006"/>
              </a:xfrm>
            </p:grpSpPr>
            <p:grpSp>
              <p:nvGrpSpPr>
                <p:cNvPr id="55" name="Групувати 54">
                  <a:extLst>
                    <a:ext uri="{FF2B5EF4-FFF2-40B4-BE49-F238E27FC236}">
                      <a16:creationId xmlns:a16="http://schemas.microsoft.com/office/drawing/2014/main" id="{FBF8BFF4-AD2C-AB83-B6D5-5ED9F4ECF136}"/>
                    </a:ext>
                  </a:extLst>
                </p:cNvPr>
                <p:cNvGrpSpPr/>
                <p:nvPr/>
              </p:nvGrpSpPr>
              <p:grpSpPr>
                <a:xfrm>
                  <a:off x="-215714" y="866866"/>
                  <a:ext cx="6673786" cy="2727006"/>
                  <a:chOff x="-215714" y="866866"/>
                  <a:chExt cx="6673786" cy="2727006"/>
                </a:xfrm>
              </p:grpSpPr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52B731E6-99F6-7246-98FF-B489F74EAE2A}"/>
                      </a:ext>
                    </a:extLst>
                  </p:cNvPr>
                  <p:cNvSpPr txBox="1"/>
                  <p:nvPr/>
                </p:nvSpPr>
                <p:spPr>
                  <a:xfrm>
                    <a:off x="-215714" y="3316873"/>
                    <a:ext cx="1749287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uk-UA" sz="1200" b="1" dirty="0"/>
                      <a:t>Плазма</a:t>
                    </a:r>
                  </a:p>
                </p:txBody>
              </p:sp>
              <p:cxnSp>
                <p:nvCxnSpPr>
                  <p:cNvPr id="6" name="Пряма зі стрілкою 5">
                    <a:extLst>
                      <a:ext uri="{FF2B5EF4-FFF2-40B4-BE49-F238E27FC236}">
                        <a16:creationId xmlns:a16="http://schemas.microsoft.com/office/drawing/2014/main" id="{A024070A-833F-B0F6-81AD-7FF4BADA5F80}"/>
                      </a:ext>
                    </a:extLst>
                  </p:cNvPr>
                  <p:cNvCxnSpPr/>
                  <p:nvPr/>
                </p:nvCxnSpPr>
                <p:spPr>
                  <a:xfrm>
                    <a:off x="1069643" y="2528371"/>
                    <a:ext cx="1167119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766C9BB3-75D8-8BB6-EBFA-CBC396D574F6}"/>
                      </a:ext>
                    </a:extLst>
                  </p:cNvPr>
                  <p:cNvSpPr txBox="1"/>
                  <p:nvPr/>
                </p:nvSpPr>
                <p:spPr>
                  <a:xfrm>
                    <a:off x="2905994" y="2229002"/>
                    <a:ext cx="1749287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uk-UA" sz="1200" b="1" dirty="0"/>
                      <a:t>37</a:t>
                    </a:r>
                    <a:r>
                      <a:rPr lang="en-US" sz="1200" b="1" dirty="0"/>
                      <a:t>°C</a:t>
                    </a:r>
                    <a:endParaRPr lang="uk-UA" sz="1200" b="1" dirty="0"/>
                  </a:p>
                </p:txBody>
              </p:sp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2118D9B5-9B18-5377-0148-4E9D3D3DFB61}"/>
                      </a:ext>
                    </a:extLst>
                  </p:cNvPr>
                  <p:cNvSpPr txBox="1"/>
                  <p:nvPr/>
                </p:nvSpPr>
                <p:spPr>
                  <a:xfrm>
                    <a:off x="2905994" y="2537966"/>
                    <a:ext cx="1749287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uk-UA" sz="1200" b="1" dirty="0"/>
                      <a:t>Інкубація</a:t>
                    </a:r>
                  </a:p>
                </p:txBody>
              </p:sp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1B171858-2882-9CBD-908C-D687EBBEB99A}"/>
                      </a:ext>
                    </a:extLst>
                  </p:cNvPr>
                  <p:cNvSpPr txBox="1"/>
                  <p:nvPr/>
                </p:nvSpPr>
                <p:spPr>
                  <a:xfrm>
                    <a:off x="1828976" y="3276600"/>
                    <a:ext cx="1749287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uk-UA" sz="1200" b="1" dirty="0"/>
                      <a:t>Магнітний змішувач</a:t>
                    </a:r>
                  </a:p>
                </p:txBody>
              </p:sp>
              <p:pic>
                <p:nvPicPr>
                  <p:cNvPr id="45" name="Рисунок 44">
                    <a:extLst>
                      <a:ext uri="{FF2B5EF4-FFF2-40B4-BE49-F238E27FC236}">
                        <a16:creationId xmlns:a16="http://schemas.microsoft.com/office/drawing/2014/main" id="{AF89E12A-E04D-09E6-182B-C51E2BF8179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rcRect l="41505" t="17754" r="39662" b="21304"/>
                  <a:stretch>
                    <a:fillRect/>
                  </a:stretch>
                </p:blipFill>
                <p:spPr>
                  <a:xfrm>
                    <a:off x="2257218" y="1467370"/>
                    <a:ext cx="883084" cy="1905068"/>
                  </a:xfrm>
                  <a:prstGeom prst="rect">
                    <a:avLst/>
                  </a:prstGeom>
                </p:spPr>
              </p:pic>
              <p:pic>
                <p:nvPicPr>
                  <p:cNvPr id="47" name="Рисунок 46">
                    <a:extLst>
                      <a:ext uri="{FF2B5EF4-FFF2-40B4-BE49-F238E27FC236}">
                        <a16:creationId xmlns:a16="http://schemas.microsoft.com/office/drawing/2014/main" id="{035AE2CE-A7C4-7483-F7B1-2EB88F187E6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rcRect l="16529" t="18079" r="66346" b="23333"/>
                  <a:stretch>
                    <a:fillRect/>
                  </a:stretch>
                </p:blipFill>
                <p:spPr>
                  <a:xfrm>
                    <a:off x="240302" y="1427422"/>
                    <a:ext cx="852762" cy="1945016"/>
                  </a:xfrm>
                  <a:prstGeom prst="rect">
                    <a:avLst/>
                  </a:prstGeom>
                </p:spPr>
              </p:pic>
              <p:pic>
                <p:nvPicPr>
                  <p:cNvPr id="49" name="Рисунок 48">
                    <a:extLst>
                      <a:ext uri="{FF2B5EF4-FFF2-40B4-BE49-F238E27FC236}">
                        <a16:creationId xmlns:a16="http://schemas.microsoft.com/office/drawing/2014/main" id="{691CA8AC-619D-BC7E-F9F7-C03BE0C8640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758" b="89974" l="9961" r="89844">
                                <a14:foregroundMark x1="79102" y1="3060" x2="64453" y2="15625"/>
                                <a14:foregroundMark x1="84473" y1="1758" x2="85352" y2="2148"/>
                                <a14:foregroundMark x1="64746" y1="12630" x2="53418" y2="24935"/>
                                <a14:foregroundMark x1="50098" y1="29883" x2="48828" y2="29427"/>
                                <a14:foregroundMark x1="48828" y1="29427" x2="48633" y2="30729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rcRect b="16516"/>
                  <a:stretch>
                    <a:fillRect/>
                  </a:stretch>
                </p:blipFill>
                <p:spPr>
                  <a:xfrm>
                    <a:off x="3873666" y="866866"/>
                    <a:ext cx="2000847" cy="2505572"/>
                  </a:xfrm>
                  <a:prstGeom prst="rect">
                    <a:avLst/>
                  </a:prstGeom>
                </p:spPr>
              </p:pic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2B9FC08E-8596-BF03-460D-9A3244B90941}"/>
                      </a:ext>
                    </a:extLst>
                  </p:cNvPr>
                  <p:cNvSpPr txBox="1"/>
                  <p:nvPr/>
                </p:nvSpPr>
                <p:spPr>
                  <a:xfrm>
                    <a:off x="4006505" y="3276600"/>
                    <a:ext cx="1749287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uk-UA" sz="1200" b="1" dirty="0"/>
                      <a:t>Реагент</a:t>
                    </a:r>
                  </a:p>
                </p:txBody>
              </p:sp>
              <p:cxnSp>
                <p:nvCxnSpPr>
                  <p:cNvPr id="51" name="Пряма зі стрілкою 50">
                    <a:extLst>
                      <a:ext uri="{FF2B5EF4-FFF2-40B4-BE49-F238E27FC236}">
                        <a16:creationId xmlns:a16="http://schemas.microsoft.com/office/drawing/2014/main" id="{E7135746-1A7C-ECB6-D12F-714CF2A4C408}"/>
                      </a:ext>
                    </a:extLst>
                  </p:cNvPr>
                  <p:cNvCxnSpPr/>
                  <p:nvPr/>
                </p:nvCxnSpPr>
                <p:spPr>
                  <a:xfrm>
                    <a:off x="5290953" y="2528371"/>
                    <a:ext cx="1167119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D575BCE7-F4F8-919D-6FBC-5A9621D8789E}"/>
                    </a:ext>
                  </a:extLst>
                </p:cNvPr>
                <p:cNvSpPr txBox="1"/>
                <p:nvPr/>
              </p:nvSpPr>
              <p:spPr>
                <a:xfrm>
                  <a:off x="4999868" y="2203454"/>
                  <a:ext cx="1749287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uk-UA" sz="1200" b="1" dirty="0"/>
                    <a:t>37</a:t>
                  </a:r>
                  <a:r>
                    <a:rPr lang="en-US" sz="1200" b="1" dirty="0"/>
                    <a:t>°C</a:t>
                  </a:r>
                  <a:endParaRPr lang="uk-UA" sz="1200" b="1" dirty="0"/>
                </a:p>
              </p:txBody>
            </p:sp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3956D94B-E08E-C27A-7872-E417F71B27D9}"/>
                    </a:ext>
                  </a:extLst>
                </p:cNvPr>
                <p:cNvSpPr txBox="1"/>
                <p:nvPr/>
              </p:nvSpPr>
              <p:spPr>
                <a:xfrm>
                  <a:off x="4999868" y="2552413"/>
                  <a:ext cx="1749287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uk-UA" sz="1200" b="1" dirty="0"/>
                    <a:t>Інкубація</a:t>
                  </a:r>
                </a:p>
              </p:txBody>
            </p:sp>
          </p:grpSp>
          <p:pic>
            <p:nvPicPr>
              <p:cNvPr id="71" name="Рисунок 70">
                <a:extLst>
                  <a:ext uri="{FF2B5EF4-FFF2-40B4-BE49-F238E27FC236}">
                    <a16:creationId xmlns:a16="http://schemas.microsoft.com/office/drawing/2014/main" id="{7F586CB2-B342-3610-221C-CAEBF768F4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58072" y="1363871"/>
                <a:ext cx="3012852" cy="2008567"/>
              </a:xfrm>
              <a:prstGeom prst="rect">
                <a:avLst/>
              </a:prstGeom>
            </p:spPr>
          </p:pic>
        </p:grpSp>
      </p:grpSp>
      <p:pic>
        <p:nvPicPr>
          <p:cNvPr id="74" name="Picture 10" descr="Экспресс-диагностика в практике врача | Health-ua">
            <a:extLst>
              <a:ext uri="{FF2B5EF4-FFF2-40B4-BE49-F238E27FC236}">
                <a16:creationId xmlns:a16="http://schemas.microsoft.com/office/drawing/2014/main" id="{074F1AA1-6265-535D-34F5-625D72B6CC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363" b="98367" l="642" r="98396">
                        <a14:foregroundMark x1="30160" y1="23775" x2="30160" y2="23775"/>
                        <a14:foregroundMark x1="40107" y1="4537" x2="40107" y2="4537"/>
                        <a14:foregroundMark x1="2781" y1="29583" x2="2781" y2="29583"/>
                        <a14:foregroundMark x1="642" y1="64428" x2="642" y2="64428"/>
                        <a14:foregroundMark x1="3957" y1="67877" x2="3957" y2="67877"/>
                        <a14:foregroundMark x1="22781" y1="51180" x2="22781" y2="51180"/>
                        <a14:foregroundMark x1="29947" y1="57713" x2="29947" y2="57713"/>
                        <a14:foregroundMark x1="41711" y1="52813" x2="41711" y2="52813"/>
                        <a14:foregroundMark x1="49198" y1="51906" x2="49198" y2="51906"/>
                        <a14:foregroundMark x1="60214" y1="54265" x2="60214" y2="54265"/>
                        <a14:foregroundMark x1="69947" y1="60617" x2="69947" y2="60617"/>
                        <a14:foregroundMark x1="73797" y1="56261" x2="73797" y2="56261"/>
                        <a14:foregroundMark x1="80214" y1="56987" x2="80214" y2="56987"/>
                        <a14:foregroundMark x1="93369" y1="56261" x2="93369" y2="56261"/>
                        <a14:foregroundMark x1="97112" y1="57713" x2="97112" y2="57713"/>
                        <a14:foregroundMark x1="98182" y1="58802" x2="98182" y2="58802"/>
                        <a14:foregroundMark x1="27273" y1="51543" x2="27273" y2="51543"/>
                        <a14:foregroundMark x1="96257" y1="29220" x2="96257" y2="29220"/>
                        <a14:foregroundMark x1="94866" y1="29038" x2="94866" y2="29038"/>
                        <a14:foregroundMark x1="55829" y1="54991" x2="55829" y2="54991"/>
                        <a14:foregroundMark x1="57326" y1="56806" x2="57326" y2="56806"/>
                        <a14:foregroundMark x1="44920" y1="544" x2="44920" y2="544"/>
                        <a14:foregroundMark x1="43529" y1="1270" x2="43529" y2="1270"/>
                        <a14:foregroundMark x1="2888" y1="90926" x2="2888" y2="90926"/>
                        <a14:foregroundMark x1="4492" y1="91833" x2="4492" y2="91833"/>
                        <a14:foregroundMark x1="4171" y1="95100" x2="4171" y2="95100"/>
                        <a14:foregroundMark x1="4492" y1="97822" x2="4492" y2="97822"/>
                        <a14:foregroundMark x1="1711" y1="92922" x2="1711" y2="92922"/>
                        <a14:foregroundMark x1="7594" y1="91470" x2="7487" y2="92015"/>
                        <a14:foregroundMark x1="8449" y1="90563" x2="8984" y2="91107"/>
                        <a14:foregroundMark x1="9519" y1="94918" x2="9519" y2="95670"/>
                        <a14:foregroundMark x1="9519" y1="94192" x2="9519" y2="94918"/>
                        <a14:foregroundMark x1="8663" y1="96915" x2="8663" y2="96915"/>
                        <a14:foregroundMark x1="8770" y1="97096" x2="8770" y2="97096"/>
                        <a14:foregroundMark x1="8770" y1="97096" x2="8342" y2="96915"/>
                        <a14:foregroundMark x1="12513" y1="94555" x2="13048" y2="94555"/>
                        <a14:foregroundMark x1="19251" y1="91107" x2="19251" y2="91107"/>
                        <a14:foregroundMark x1="24599" y1="90381" x2="24599" y2="90381"/>
                        <a14:foregroundMark x1="31230" y1="91470" x2="31230" y2="91470"/>
                        <a14:foregroundMark x1="36257" y1="90563" x2="36257" y2="90563"/>
                        <a14:foregroundMark x1="34225" y1="90018" x2="34225" y2="90018"/>
                        <a14:foregroundMark x1="35508" y1="93285" x2="35508" y2="93285"/>
                        <a14:foregroundMark x1="41283" y1="90563" x2="41497" y2="90381"/>
                        <a14:foregroundMark x1="45561" y1="93648" x2="45561" y2="93648"/>
                        <a14:foregroundMark x1="35401" y1="98004" x2="35401" y2="98004"/>
                        <a14:foregroundMark x1="50802" y1="94737" x2="50802" y2="94737"/>
                        <a14:foregroundMark x1="55508" y1="94918" x2="55508" y2="94918"/>
                        <a14:foregroundMark x1="61176" y1="94374" x2="61176" y2="94374"/>
                        <a14:foregroundMark x1="68770" y1="94555" x2="68770" y2="94555"/>
                        <a14:foregroundMark x1="73797" y1="95281" x2="73797" y2="95281"/>
                        <a14:foregroundMark x1="73904" y1="91107" x2="73904" y2="91107"/>
                        <a14:foregroundMark x1="81925" y1="98367" x2="81925" y2="98367"/>
                        <a14:foregroundMark x1="87487" y1="94192" x2="87487" y2="94192"/>
                        <a14:foregroundMark x1="96150" y1="94011" x2="96150" y2="94011"/>
                        <a14:foregroundMark x1="98396" y1="93466" x2="98396" y2="93466"/>
                        <a14:foregroundMark x1="4064" y1="68058" x2="3484" y2="67763"/>
                        <a14:foregroundMark x1="21007" y1="7435" x2="21007" y2="7435"/>
                        <a14:foregroundMark x1="96499" y1="31599" x2="96499" y2="31599"/>
                        <a14:foregroundMark x1="96718" y1="29368" x2="96718" y2="29368"/>
                        <a14:backgroundMark x1="97112" y1="29038" x2="97112" y2="29038"/>
                        <a14:backgroundMark x1="8449" y1="94918" x2="8449" y2="94918"/>
                        <a14:backgroundMark x1="8235" y1="99093" x2="8556" y2="99093"/>
                        <a14:backgroundMark x1="2032" y1="66425" x2="3102" y2="66788"/>
                        <a14:backgroundMark x1="3209" y1="66788" x2="3850" y2="66788"/>
                        <a14:backgroundMark x1="14118" y1="96915" x2="14118" y2="96915"/>
                        <a14:backgroundMark x1="25668" y1="92015" x2="25668" y2="92015"/>
                        <a14:backgroundMark x1="31123" y1="94737" x2="31123" y2="94737"/>
                        <a14:backgroundMark x1="31551" y1="99456" x2="31551" y2="99456"/>
                        <a14:backgroundMark x1="46524" y1="92922" x2="46952" y2="92740"/>
                        <a14:backgroundMark x1="55401" y1="92196" x2="55401" y2="92196"/>
                        <a14:backgroundMark x1="54973" y1="98548" x2="54973" y2="98548"/>
                        <a14:backgroundMark x1="62460" y1="92740" x2="62460" y2="92740"/>
                        <a14:backgroundMark x1="62567" y1="97278" x2="62567" y2="97278"/>
                        <a14:backgroundMark x1="70160" y1="99637" x2="70695" y2="99637"/>
                        <a14:backgroundMark x1="76043" y1="98911" x2="76043" y2="98911"/>
                        <a14:backgroundMark x1="8972" y1="44981" x2="12473" y2="46097"/>
                        <a14:backgroundMark x1="11379" y1="46468" x2="12254" y2="47212"/>
                        <a14:backgroundMark x1="7659" y1="46468" x2="7659" y2="46468"/>
                        <a14:backgroundMark x1="8315" y1="46468" x2="8315" y2="46468"/>
                        <a14:backgroundMark x1="7440" y1="45353" x2="7440" y2="45353"/>
                        <a14:backgroundMark x1="6783" y1="45353" x2="6783" y2="45353"/>
                        <a14:backgroundMark x1="7002" y1="44238" x2="9190" y2="44238"/>
                        <a14:backgroundMark x1="6565" y1="44238" x2="7002" y2="44610"/>
                        <a14:backgroundMark x1="12473" y1="46097" x2="12910" y2="47584"/>
                        <a14:backgroundMark x1="5033" y1="65799" x2="5033" y2="65799"/>
                        <a14:backgroundMark x1="4595" y1="66171" x2="4158" y2="66543"/>
                        <a14:backgroundMark x1="94530" y1="98141" x2="94530" y2="98141"/>
                        <a14:backgroundMark x1="99125" y1="29740" x2="99125" y2="29740"/>
                        <a14:backgroundMark x1="96718" y1="32714" x2="96718" y2="32714"/>
                        <a14:backgroundMark x1="96061" y1="30112" x2="96061" y2="30112"/>
                        <a14:backgroundMark x1="95624" y1="28625" x2="95624" y2="286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0526" y="5648095"/>
            <a:ext cx="1532162" cy="902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47508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787C195-AD6B-B105-B9A4-841AE122BA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109893" y="-74889"/>
            <a:ext cx="12411785" cy="71469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FACD05-8D1B-5591-1433-1647AA66B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СПИСОК НЕОБХІДНИХ МАТЕРІАЛІВ ДЛЯ РОБОТИ З АНАЛІЗАТОРОМ</a:t>
            </a:r>
            <a:endParaRPr lang="uk-UA" b="1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D1BB51E-BBA2-4855-FECB-F2528CC71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260" y="1981200"/>
            <a:ext cx="6898692" cy="3952461"/>
          </a:xfrm>
          <a:solidFill>
            <a:schemeClr val="bg1">
              <a:alpha val="74000"/>
            </a:schemeClr>
          </a:solidFill>
        </p:spPr>
        <p:txBody>
          <a:bodyPr>
            <a:normAutofit fontScale="55000" lnSpcReduction="20000"/>
          </a:bodyPr>
          <a:lstStyle/>
          <a:p>
            <a:pPr algn="just"/>
            <a:r>
              <a:rPr lang="uk-UA" sz="3300" dirty="0"/>
              <a:t>Підготовлене приміщення для аналізатору;</a:t>
            </a:r>
          </a:p>
          <a:p>
            <a:pPr algn="just"/>
            <a:r>
              <a:rPr lang="uk-UA" sz="3300" dirty="0"/>
              <a:t>Персонал для навчання (до 3 осіб одночасного навчання);</a:t>
            </a:r>
          </a:p>
          <a:p>
            <a:pPr algn="just"/>
            <a:r>
              <a:rPr lang="uk-UA" sz="3300" dirty="0"/>
              <a:t>Системи для забору венозної крові. Пробірки з синьою кришкою (3,2% цитрат натрію у співвідношенні 9:1);</a:t>
            </a:r>
          </a:p>
          <a:p>
            <a:pPr algn="just"/>
            <a:r>
              <a:rPr lang="uk-UA" sz="3300" dirty="0"/>
              <a:t>Реагенти;</a:t>
            </a:r>
          </a:p>
          <a:p>
            <a:pPr algn="just"/>
            <a:r>
              <a:rPr lang="uk-UA" sz="3300" dirty="0"/>
              <a:t>Відповідні контролі, </a:t>
            </a:r>
            <a:r>
              <a:rPr lang="uk-UA" sz="3300" dirty="0" err="1"/>
              <a:t>калібратори</a:t>
            </a:r>
            <a:r>
              <a:rPr lang="uk-UA" sz="3300" dirty="0"/>
              <a:t>;</a:t>
            </a:r>
          </a:p>
          <a:p>
            <a:pPr algn="just"/>
            <a:r>
              <a:rPr lang="uk-UA" sz="3300" dirty="0"/>
              <a:t>Центрифуга потужністю від 1500-3000 об/хв;</a:t>
            </a:r>
          </a:p>
          <a:p>
            <a:pPr algn="just"/>
            <a:r>
              <a:rPr lang="uk-UA" sz="3300" dirty="0"/>
              <a:t>Холодильник;</a:t>
            </a:r>
          </a:p>
          <a:p>
            <a:pPr algn="just"/>
            <a:r>
              <a:rPr lang="uk-UA" sz="3300" dirty="0"/>
              <a:t>Дозатори змінного об’єму: 5-50 </a:t>
            </a:r>
            <a:r>
              <a:rPr lang="uk-UA" sz="3300" dirty="0" err="1"/>
              <a:t>мкл</a:t>
            </a:r>
            <a:r>
              <a:rPr lang="uk-UA" sz="3300" dirty="0"/>
              <a:t>, 20-200 </a:t>
            </a:r>
            <a:r>
              <a:rPr lang="uk-UA" sz="3300" dirty="0" err="1"/>
              <a:t>мкл</a:t>
            </a:r>
            <a:r>
              <a:rPr lang="uk-UA" sz="3300" dirty="0"/>
              <a:t>, 100-1000 </a:t>
            </a:r>
            <a:r>
              <a:rPr lang="uk-UA" sz="3300" dirty="0" err="1"/>
              <a:t>мкл</a:t>
            </a:r>
            <a:r>
              <a:rPr lang="uk-UA" sz="3300" dirty="0"/>
              <a:t>;</a:t>
            </a:r>
          </a:p>
          <a:p>
            <a:pPr algn="just"/>
            <a:r>
              <a:rPr lang="uk-UA" sz="3300" dirty="0"/>
              <a:t>Наконечники до дозаторів відповідного об’єму (кількість залежить від обсягу досліджень);</a:t>
            </a:r>
          </a:p>
          <a:p>
            <a:pPr algn="just"/>
            <a:r>
              <a:rPr lang="uk-UA" sz="3300" dirty="0"/>
              <a:t>Оптичні кювети (кількість залежить від обсягу досліджень);</a:t>
            </a:r>
          </a:p>
          <a:p>
            <a:pPr algn="just"/>
            <a:r>
              <a:rPr lang="uk-UA" sz="3300" dirty="0"/>
              <a:t>Магнітні мішалки (кількість залежить від обсягу досліджень).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64EA8A4-10F0-537F-B14F-F9448FECF7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4952" y="2130702"/>
            <a:ext cx="4944258" cy="3747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3345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AB91AA2C-2DBB-C9EA-F244-0E3FC962408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-109893" y="0"/>
            <a:ext cx="12411785" cy="71469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3E323E-6201-3ADB-EB63-9A4E77D3A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7473"/>
            <a:ext cx="10515600" cy="848060"/>
          </a:xfrm>
        </p:spPr>
        <p:txBody>
          <a:bodyPr/>
          <a:lstStyle/>
          <a:p>
            <a:pPr algn="ctr"/>
            <a:r>
              <a:rPr lang="uk-UA" b="1" dirty="0"/>
              <a:t>Компенсація НСЗУ</a:t>
            </a:r>
          </a:p>
        </p:txBody>
      </p:sp>
      <p:graphicFrame>
        <p:nvGraphicFramePr>
          <p:cNvPr id="10" name="Таблиця 9">
            <a:extLst>
              <a:ext uri="{FF2B5EF4-FFF2-40B4-BE49-F238E27FC236}">
                <a16:creationId xmlns:a16="http://schemas.microsoft.com/office/drawing/2014/main" id="{BB0A0E65-82CC-73E5-6864-21BBBDC5D8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838466"/>
              </p:ext>
            </p:extLst>
          </p:nvPr>
        </p:nvGraphicFramePr>
        <p:xfrm>
          <a:off x="1215886" y="1489166"/>
          <a:ext cx="10137913" cy="42056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15549">
                  <a:extLst>
                    <a:ext uri="{9D8B030D-6E8A-4147-A177-3AD203B41FA5}">
                      <a16:colId xmlns:a16="http://schemas.microsoft.com/office/drawing/2014/main" val="4193622114"/>
                    </a:ext>
                  </a:extLst>
                </a:gridCol>
                <a:gridCol w="1911182">
                  <a:extLst>
                    <a:ext uri="{9D8B030D-6E8A-4147-A177-3AD203B41FA5}">
                      <a16:colId xmlns:a16="http://schemas.microsoft.com/office/drawing/2014/main" val="193419488"/>
                    </a:ext>
                  </a:extLst>
                </a:gridCol>
                <a:gridCol w="1911182">
                  <a:extLst>
                    <a:ext uri="{9D8B030D-6E8A-4147-A177-3AD203B41FA5}">
                      <a16:colId xmlns:a16="http://schemas.microsoft.com/office/drawing/2014/main" val="2084510249"/>
                    </a:ext>
                  </a:extLst>
                </a:gridCol>
              </a:tblGrid>
              <a:tr h="336979">
                <a:tc>
                  <a:txBody>
                    <a:bodyPr/>
                    <a:lstStyle/>
                    <a:p>
                      <a:pPr algn="ctr"/>
                      <a:r>
                        <a:rPr lang="uk-UA" dirty="0"/>
                        <a:t>Найменування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dirty="0"/>
                        <a:t>Вартість</a:t>
                      </a:r>
                    </a:p>
                    <a:p>
                      <a:pPr algn="ctr"/>
                      <a:r>
                        <a:rPr lang="uk-UA" dirty="0"/>
                        <a:t>з </a:t>
                      </a:r>
                      <a:r>
                        <a:rPr lang="uk-UA" dirty="0" err="1"/>
                        <a:t>амбулятора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/>
                        <a:t>Примітка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7388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uk-UA" dirty="0" err="1"/>
                        <a:t>Протромбіновий</a:t>
                      </a:r>
                      <a:r>
                        <a:rPr lang="uk-UA" dirty="0"/>
                        <a:t> час (ПЧ)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98,94 грн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895438"/>
                  </a:ext>
                </a:extLst>
              </a:tr>
              <a:tr h="304290">
                <a:tc>
                  <a:txBody>
                    <a:bodyPr/>
                    <a:lstStyle/>
                    <a:p>
                      <a:r>
                        <a:rPr lang="uk-UA" dirty="0"/>
                        <a:t>Активований частковий </a:t>
                      </a:r>
                      <a:r>
                        <a:rPr lang="uk-UA" dirty="0" err="1"/>
                        <a:t>тромбопластиновий</a:t>
                      </a:r>
                      <a:r>
                        <a:rPr lang="uk-UA" dirty="0"/>
                        <a:t> час (АЧТЧ)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98,94 грн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253379"/>
                  </a:ext>
                </a:extLst>
              </a:tr>
              <a:tr h="417045">
                <a:tc>
                  <a:txBody>
                    <a:bodyPr/>
                    <a:lstStyle/>
                    <a:p>
                      <a:r>
                        <a:rPr lang="uk-UA" dirty="0"/>
                        <a:t>Фібриноген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dirty="0"/>
                        <a:t>98,94 грн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073941"/>
                  </a:ext>
                </a:extLst>
              </a:tr>
              <a:tr h="417045">
                <a:tc>
                  <a:txBody>
                    <a:bodyPr/>
                    <a:lstStyle/>
                    <a:p>
                      <a:r>
                        <a:rPr lang="uk-UA" dirty="0"/>
                        <a:t>Продукти деградації фібрину (</a:t>
                      </a:r>
                      <a:r>
                        <a:rPr lang="en-US" dirty="0"/>
                        <a:t>D-</a:t>
                      </a:r>
                      <a:r>
                        <a:rPr lang="uk-UA" dirty="0" err="1"/>
                        <a:t>димер</a:t>
                      </a:r>
                      <a:r>
                        <a:rPr lang="uk-UA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298,5 грн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1604339"/>
                  </a:ext>
                </a:extLst>
              </a:tr>
              <a:tr h="719831">
                <a:tc>
                  <a:txBody>
                    <a:bodyPr/>
                    <a:lstStyle/>
                    <a:p>
                      <a:r>
                        <a:rPr lang="uk-UA" dirty="0"/>
                        <a:t>Міжнародне нормалізоване відношення (МНВ)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98,94 грн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Розрахунковий показник з ПЧ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1193076"/>
                  </a:ext>
                </a:extLst>
              </a:tr>
              <a:tr h="417045">
                <a:tc>
                  <a:txBody>
                    <a:bodyPr/>
                    <a:lstStyle/>
                    <a:p>
                      <a:r>
                        <a:rPr lang="uk-UA" dirty="0"/>
                        <a:t>Активність протромбіну (за </a:t>
                      </a:r>
                      <a:r>
                        <a:rPr lang="uk-UA" dirty="0" err="1"/>
                        <a:t>Квіком</a:t>
                      </a:r>
                      <a:r>
                        <a:rPr lang="uk-UA" dirty="0"/>
                        <a:t>, %)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997,5 грн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dirty="0"/>
                        <a:t>Розрахунковий показник з ПЧ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24116"/>
                  </a:ext>
                </a:extLst>
              </a:tr>
              <a:tr h="417045">
                <a:tc>
                  <a:txBody>
                    <a:bodyPr/>
                    <a:lstStyle/>
                    <a:p>
                      <a:r>
                        <a:rPr lang="uk-UA" dirty="0" err="1"/>
                        <a:t>Протромбіновий</a:t>
                      </a:r>
                      <a:r>
                        <a:rPr lang="uk-UA" dirty="0"/>
                        <a:t> індекс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98,98 грн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dirty="0"/>
                        <a:t>Розрахунковий показник з ПЧ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085933"/>
                  </a:ext>
                </a:extLst>
              </a:tr>
            </a:tbl>
          </a:graphicData>
        </a:graphic>
      </p:graphicFrame>
      <p:sp>
        <p:nvSpPr>
          <p:cNvPr id="12" name="Місце для вмісту 11">
            <a:extLst>
              <a:ext uri="{FF2B5EF4-FFF2-40B4-BE49-F238E27FC236}">
                <a16:creationId xmlns:a16="http://schemas.microsoft.com/office/drawing/2014/main" id="{F282C4D2-21BE-FE7D-9645-9AAB7207A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2822" y="5854450"/>
            <a:ext cx="8992602" cy="848060"/>
          </a:xfrm>
          <a:solidFill>
            <a:schemeClr val="bg1">
              <a:alpha val="76000"/>
            </a:schemeClr>
          </a:solidFill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uk-UA" sz="2200" b="1" dirty="0"/>
              <a:t>Посилання на </a:t>
            </a:r>
            <a:r>
              <a:rPr lang="uk-UA" sz="2200" b="1" dirty="0" err="1"/>
              <a:t>амбулятор</a:t>
            </a:r>
            <a:r>
              <a:rPr lang="uk-UA" sz="2200" b="1" dirty="0"/>
              <a:t>:</a:t>
            </a:r>
            <a:br>
              <a:rPr lang="uk-UA" sz="2200" dirty="0"/>
            </a:br>
            <a:r>
              <a:rPr lang="uk-UA" sz="2200" dirty="0"/>
              <a:t> </a:t>
            </a:r>
            <a:r>
              <a:rPr lang="en-US" sz="2200" dirty="0"/>
              <a:t>https://www.google.com/url?q=https://finhealth.cc/ambulator&amp;sa=D&amp;source=editors&amp;ust=1773132744451559&amp;usg=AOvVaw2nMzJ4ZZcz60fw-Tu-1-LY</a:t>
            </a:r>
            <a:endParaRPr lang="uk-UA" sz="2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6ED4EB-8272-1DA4-125C-614008666BE5}"/>
              </a:ext>
            </a:extLst>
          </p:cNvPr>
          <p:cNvSpPr txBox="1"/>
          <p:nvPr/>
        </p:nvSpPr>
        <p:spPr>
          <a:xfrm>
            <a:off x="1204447" y="849381"/>
            <a:ext cx="10149352" cy="646331"/>
          </a:xfrm>
          <a:prstGeom prst="rect">
            <a:avLst/>
          </a:prstGeom>
          <a:solidFill>
            <a:schemeClr val="bg1">
              <a:alpha val="74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uk-UA" dirty="0"/>
              <a:t>З НСЗУ </a:t>
            </a:r>
            <a:r>
              <a:rPr lang="uk-UA" b="1" dirty="0"/>
              <a:t>“</a:t>
            </a:r>
            <a:r>
              <a:rPr lang="uk-UA" b="1" dirty="0" err="1"/>
              <a:t>коагулограма</a:t>
            </a:r>
            <a:r>
              <a:rPr lang="uk-UA" b="1" dirty="0"/>
              <a:t>” як пакет не оплачується</a:t>
            </a:r>
            <a:r>
              <a:rPr lang="uk-UA" dirty="0"/>
              <a:t>.  НСЗУ компенсує </a:t>
            </a:r>
            <a:r>
              <a:rPr lang="uk-UA" b="1" dirty="0"/>
              <a:t>окремі тести</a:t>
            </a:r>
            <a:r>
              <a:rPr lang="uk-UA" dirty="0"/>
              <a:t>, і лікарня отримує кошти тільки за ті, що внесені в електронну систему. 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F7015CCA-3DA4-AF5B-A4C7-4308D87D4D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9551" y="-134788"/>
            <a:ext cx="1946911" cy="1297941"/>
          </a:xfrm>
          <a:prstGeom prst="rect">
            <a:avLst/>
          </a:prstGeom>
        </p:spPr>
      </p:pic>
      <p:pic>
        <p:nvPicPr>
          <p:cNvPr id="21" name="Picture 10" descr="Экспресс-диагностика в практике врача | Health-ua">
            <a:extLst>
              <a:ext uri="{FF2B5EF4-FFF2-40B4-BE49-F238E27FC236}">
                <a16:creationId xmlns:a16="http://schemas.microsoft.com/office/drawing/2014/main" id="{9A99C69C-1DD0-619E-B470-6D074D4E10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63" b="98367" l="642" r="98396">
                        <a14:foregroundMark x1="30160" y1="23775" x2="30160" y2="23775"/>
                        <a14:foregroundMark x1="40107" y1="4537" x2="40107" y2="4537"/>
                        <a14:foregroundMark x1="2781" y1="29583" x2="2781" y2="29583"/>
                        <a14:foregroundMark x1="642" y1="64428" x2="642" y2="64428"/>
                        <a14:foregroundMark x1="3957" y1="67877" x2="3957" y2="67877"/>
                        <a14:foregroundMark x1="22781" y1="51180" x2="22781" y2="51180"/>
                        <a14:foregroundMark x1="29947" y1="57713" x2="29947" y2="57713"/>
                        <a14:foregroundMark x1="41711" y1="52813" x2="41711" y2="52813"/>
                        <a14:foregroundMark x1="49198" y1="51906" x2="49198" y2="51906"/>
                        <a14:foregroundMark x1="60214" y1="54265" x2="60214" y2="54265"/>
                        <a14:foregroundMark x1="69947" y1="60617" x2="69947" y2="60617"/>
                        <a14:foregroundMark x1="73797" y1="56261" x2="73797" y2="56261"/>
                        <a14:foregroundMark x1="80214" y1="56987" x2="80214" y2="56987"/>
                        <a14:foregroundMark x1="93369" y1="56261" x2="93369" y2="56261"/>
                        <a14:foregroundMark x1="97112" y1="57713" x2="97112" y2="57713"/>
                        <a14:foregroundMark x1="98182" y1="58802" x2="98182" y2="58802"/>
                        <a14:foregroundMark x1="27273" y1="51543" x2="27273" y2="51543"/>
                        <a14:foregroundMark x1="96257" y1="29220" x2="96257" y2="29220"/>
                        <a14:foregroundMark x1="94866" y1="29038" x2="94866" y2="29038"/>
                        <a14:foregroundMark x1="55829" y1="54991" x2="55829" y2="54991"/>
                        <a14:foregroundMark x1="57326" y1="56806" x2="57326" y2="56806"/>
                        <a14:foregroundMark x1="44920" y1="544" x2="44920" y2="544"/>
                        <a14:foregroundMark x1="43529" y1="1270" x2="43529" y2="1270"/>
                        <a14:foregroundMark x1="2888" y1="90926" x2="2888" y2="90926"/>
                        <a14:foregroundMark x1="4492" y1="91833" x2="4492" y2="91833"/>
                        <a14:foregroundMark x1="4171" y1="95100" x2="4171" y2="95100"/>
                        <a14:foregroundMark x1="4492" y1="97822" x2="4492" y2="97822"/>
                        <a14:foregroundMark x1="1711" y1="92922" x2="1711" y2="92922"/>
                        <a14:foregroundMark x1="7594" y1="91470" x2="7487" y2="92015"/>
                        <a14:foregroundMark x1="8449" y1="90563" x2="8984" y2="91107"/>
                        <a14:foregroundMark x1="9519" y1="94918" x2="9519" y2="95670"/>
                        <a14:foregroundMark x1="9519" y1="94192" x2="9519" y2="94918"/>
                        <a14:foregroundMark x1="8663" y1="96915" x2="8663" y2="96915"/>
                        <a14:foregroundMark x1="8770" y1="97096" x2="8770" y2="97096"/>
                        <a14:foregroundMark x1="8770" y1="97096" x2="8342" y2="96915"/>
                        <a14:foregroundMark x1="12513" y1="94555" x2="13048" y2="94555"/>
                        <a14:foregroundMark x1="19251" y1="91107" x2="19251" y2="91107"/>
                        <a14:foregroundMark x1="24599" y1="90381" x2="24599" y2="90381"/>
                        <a14:foregroundMark x1="31230" y1="91470" x2="31230" y2="91470"/>
                        <a14:foregroundMark x1="36257" y1="90563" x2="36257" y2="90563"/>
                        <a14:foregroundMark x1="34225" y1="90018" x2="34225" y2="90018"/>
                        <a14:foregroundMark x1="35508" y1="93285" x2="35508" y2="93285"/>
                        <a14:foregroundMark x1="41283" y1="90563" x2="41497" y2="90381"/>
                        <a14:foregroundMark x1="45561" y1="93648" x2="45561" y2="93648"/>
                        <a14:foregroundMark x1="35401" y1="98004" x2="35401" y2="98004"/>
                        <a14:foregroundMark x1="50802" y1="94737" x2="50802" y2="94737"/>
                        <a14:foregroundMark x1="55508" y1="94918" x2="55508" y2="94918"/>
                        <a14:foregroundMark x1="61176" y1="94374" x2="61176" y2="94374"/>
                        <a14:foregroundMark x1="68770" y1="94555" x2="68770" y2="94555"/>
                        <a14:foregroundMark x1="73797" y1="95281" x2="73797" y2="95281"/>
                        <a14:foregroundMark x1="73904" y1="91107" x2="73904" y2="91107"/>
                        <a14:foregroundMark x1="81925" y1="98367" x2="81925" y2="98367"/>
                        <a14:foregroundMark x1="87487" y1="94192" x2="87487" y2="94192"/>
                        <a14:foregroundMark x1="96150" y1="94011" x2="96150" y2="94011"/>
                        <a14:foregroundMark x1="98396" y1="93466" x2="98396" y2="93466"/>
                        <a14:foregroundMark x1="4064" y1="68058" x2="3484" y2="67763"/>
                        <a14:foregroundMark x1="21007" y1="7435" x2="21007" y2="7435"/>
                        <a14:foregroundMark x1="96499" y1="31599" x2="96499" y2="31599"/>
                        <a14:foregroundMark x1="96718" y1="29368" x2="96718" y2="29368"/>
                        <a14:backgroundMark x1="97112" y1="29038" x2="97112" y2="29038"/>
                        <a14:backgroundMark x1="8449" y1="94918" x2="8449" y2="94918"/>
                        <a14:backgroundMark x1="8235" y1="99093" x2="8556" y2="99093"/>
                        <a14:backgroundMark x1="2032" y1="66425" x2="3102" y2="66788"/>
                        <a14:backgroundMark x1="3209" y1="66788" x2="3850" y2="66788"/>
                        <a14:backgroundMark x1="14118" y1="96915" x2="14118" y2="96915"/>
                        <a14:backgroundMark x1="25668" y1="92015" x2="25668" y2="92015"/>
                        <a14:backgroundMark x1="31123" y1="94737" x2="31123" y2="94737"/>
                        <a14:backgroundMark x1="31551" y1="99456" x2="31551" y2="99456"/>
                        <a14:backgroundMark x1="46524" y1="92922" x2="46952" y2="92740"/>
                        <a14:backgroundMark x1="55401" y1="92196" x2="55401" y2="92196"/>
                        <a14:backgroundMark x1="54973" y1="98548" x2="54973" y2="98548"/>
                        <a14:backgroundMark x1="62460" y1="92740" x2="62460" y2="92740"/>
                        <a14:backgroundMark x1="62567" y1="97278" x2="62567" y2="97278"/>
                        <a14:backgroundMark x1="70160" y1="99637" x2="70695" y2="99637"/>
                        <a14:backgroundMark x1="76043" y1="98911" x2="76043" y2="98911"/>
                        <a14:backgroundMark x1="8972" y1="44981" x2="12473" y2="46097"/>
                        <a14:backgroundMark x1="11379" y1="46468" x2="12254" y2="47212"/>
                        <a14:backgroundMark x1="7659" y1="46468" x2="7659" y2="46468"/>
                        <a14:backgroundMark x1="8315" y1="46468" x2="8315" y2="46468"/>
                        <a14:backgroundMark x1="7440" y1="45353" x2="7440" y2="45353"/>
                        <a14:backgroundMark x1="6783" y1="45353" x2="6783" y2="45353"/>
                        <a14:backgroundMark x1="7002" y1="44238" x2="9190" y2="44238"/>
                        <a14:backgroundMark x1="6565" y1="44238" x2="7002" y2="44610"/>
                        <a14:backgroundMark x1="12473" y1="46097" x2="12910" y2="47584"/>
                        <a14:backgroundMark x1="5033" y1="65799" x2="5033" y2="65799"/>
                        <a14:backgroundMark x1="4595" y1="66171" x2="4158" y2="66543"/>
                        <a14:backgroundMark x1="94530" y1="98141" x2="94530" y2="98141"/>
                        <a14:backgroundMark x1="99125" y1="29740" x2="99125" y2="29740"/>
                        <a14:backgroundMark x1="96718" y1="32714" x2="96718" y2="32714"/>
                        <a14:backgroundMark x1="96061" y1="30112" x2="96061" y2="30112"/>
                        <a14:backgroundMark x1="95624" y1="28625" x2="95624" y2="286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07" y="5819964"/>
            <a:ext cx="1439082" cy="848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94969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F511330-F6C8-77ED-47E7-F6F29941610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109893" y="0"/>
            <a:ext cx="12411785" cy="714692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AFED6F1-BF2E-7068-F380-D16BF337CF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3910"/>
          <a:stretch>
            <a:fillRect/>
          </a:stretch>
        </p:blipFill>
        <p:spPr>
          <a:xfrm>
            <a:off x="3769360" y="75641"/>
            <a:ext cx="5486400" cy="6706718"/>
          </a:xfrm>
          <a:prstGeom prst="rect">
            <a:avLst/>
          </a:prstGeom>
        </p:spPr>
      </p:pic>
      <p:pic>
        <p:nvPicPr>
          <p:cNvPr id="9" name="Picture 10" descr="Экспресс-диагностика в практике врача | Health-ua">
            <a:extLst>
              <a:ext uri="{FF2B5EF4-FFF2-40B4-BE49-F238E27FC236}">
                <a16:creationId xmlns:a16="http://schemas.microsoft.com/office/drawing/2014/main" id="{03F6F4AE-49EA-4204-1A3B-9D01BE38E8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63" b="98367" l="642" r="98396">
                        <a14:foregroundMark x1="30160" y1="23775" x2="30160" y2="23775"/>
                        <a14:foregroundMark x1="40107" y1="4537" x2="40107" y2="4537"/>
                        <a14:foregroundMark x1="2781" y1="29583" x2="2781" y2="29583"/>
                        <a14:foregroundMark x1="642" y1="64428" x2="642" y2="64428"/>
                        <a14:foregroundMark x1="3957" y1="67877" x2="3957" y2="67877"/>
                        <a14:foregroundMark x1="22781" y1="51180" x2="22781" y2="51180"/>
                        <a14:foregroundMark x1="29947" y1="57713" x2="29947" y2="57713"/>
                        <a14:foregroundMark x1="41711" y1="52813" x2="41711" y2="52813"/>
                        <a14:foregroundMark x1="49198" y1="51906" x2="49198" y2="51906"/>
                        <a14:foregroundMark x1="60214" y1="54265" x2="60214" y2="54265"/>
                        <a14:foregroundMark x1="69947" y1="60617" x2="69947" y2="60617"/>
                        <a14:foregroundMark x1="73797" y1="56261" x2="73797" y2="56261"/>
                        <a14:foregroundMark x1="80214" y1="56987" x2="80214" y2="56987"/>
                        <a14:foregroundMark x1="93369" y1="56261" x2="93369" y2="56261"/>
                        <a14:foregroundMark x1="97112" y1="57713" x2="97112" y2="57713"/>
                        <a14:foregroundMark x1="98182" y1="58802" x2="98182" y2="58802"/>
                        <a14:foregroundMark x1="27273" y1="51543" x2="27273" y2="51543"/>
                        <a14:foregroundMark x1="96257" y1="29220" x2="96257" y2="29220"/>
                        <a14:foregroundMark x1="94866" y1="29038" x2="94866" y2="29038"/>
                        <a14:foregroundMark x1="55829" y1="54991" x2="55829" y2="54991"/>
                        <a14:foregroundMark x1="57326" y1="56806" x2="57326" y2="56806"/>
                        <a14:foregroundMark x1="44920" y1="544" x2="44920" y2="544"/>
                        <a14:foregroundMark x1="43529" y1="1270" x2="43529" y2="1270"/>
                        <a14:foregroundMark x1="2888" y1="90926" x2="2888" y2="90926"/>
                        <a14:foregroundMark x1="4492" y1="91833" x2="4492" y2="91833"/>
                        <a14:foregroundMark x1="4171" y1="95100" x2="4171" y2="95100"/>
                        <a14:foregroundMark x1="4492" y1="97822" x2="4492" y2="97822"/>
                        <a14:foregroundMark x1="1711" y1="92922" x2="1711" y2="92922"/>
                        <a14:foregroundMark x1="7594" y1="91470" x2="7487" y2="92015"/>
                        <a14:foregroundMark x1="8449" y1="90563" x2="8984" y2="91107"/>
                        <a14:foregroundMark x1="9519" y1="94918" x2="9519" y2="95670"/>
                        <a14:foregroundMark x1="9519" y1="94192" x2="9519" y2="94918"/>
                        <a14:foregroundMark x1="8663" y1="96915" x2="8663" y2="96915"/>
                        <a14:foregroundMark x1="8770" y1="97096" x2="8770" y2="97096"/>
                        <a14:foregroundMark x1="8770" y1="97096" x2="8342" y2="96915"/>
                        <a14:foregroundMark x1="12513" y1="94555" x2="13048" y2="94555"/>
                        <a14:foregroundMark x1="19251" y1="91107" x2="19251" y2="91107"/>
                        <a14:foregroundMark x1="24599" y1="90381" x2="24599" y2="90381"/>
                        <a14:foregroundMark x1="31230" y1="91470" x2="31230" y2="91470"/>
                        <a14:foregroundMark x1="36257" y1="90563" x2="36257" y2="90563"/>
                        <a14:foregroundMark x1="34225" y1="90018" x2="34225" y2="90018"/>
                        <a14:foregroundMark x1="35508" y1="93285" x2="35508" y2="93285"/>
                        <a14:foregroundMark x1="41283" y1="90563" x2="41497" y2="90381"/>
                        <a14:foregroundMark x1="45561" y1="93648" x2="45561" y2="93648"/>
                        <a14:foregroundMark x1="35401" y1="98004" x2="35401" y2="98004"/>
                        <a14:foregroundMark x1="50802" y1="94737" x2="50802" y2="94737"/>
                        <a14:foregroundMark x1="55508" y1="94918" x2="55508" y2="94918"/>
                        <a14:foregroundMark x1="61176" y1="94374" x2="61176" y2="94374"/>
                        <a14:foregroundMark x1="68770" y1="94555" x2="68770" y2="94555"/>
                        <a14:foregroundMark x1="73797" y1="95281" x2="73797" y2="95281"/>
                        <a14:foregroundMark x1="73904" y1="91107" x2="73904" y2="91107"/>
                        <a14:foregroundMark x1="81925" y1="98367" x2="81925" y2="98367"/>
                        <a14:foregroundMark x1="87487" y1="94192" x2="87487" y2="94192"/>
                        <a14:foregroundMark x1="96150" y1="94011" x2="96150" y2="94011"/>
                        <a14:foregroundMark x1="98396" y1="93466" x2="98396" y2="93466"/>
                        <a14:foregroundMark x1="4064" y1="68058" x2="3484" y2="67763"/>
                        <a14:foregroundMark x1="21007" y1="7435" x2="21007" y2="7435"/>
                        <a14:foregroundMark x1="96499" y1="31599" x2="96499" y2="31599"/>
                        <a14:foregroundMark x1="96718" y1="29368" x2="96718" y2="29368"/>
                        <a14:backgroundMark x1="97112" y1="29038" x2="97112" y2="29038"/>
                        <a14:backgroundMark x1="8449" y1="94918" x2="8449" y2="94918"/>
                        <a14:backgroundMark x1="8235" y1="99093" x2="8556" y2="99093"/>
                        <a14:backgroundMark x1="2032" y1="66425" x2="3102" y2="66788"/>
                        <a14:backgroundMark x1="3209" y1="66788" x2="3850" y2="66788"/>
                        <a14:backgroundMark x1="14118" y1="96915" x2="14118" y2="96915"/>
                        <a14:backgroundMark x1="25668" y1="92015" x2="25668" y2="92015"/>
                        <a14:backgroundMark x1="31123" y1="94737" x2="31123" y2="94737"/>
                        <a14:backgroundMark x1="31551" y1="99456" x2="31551" y2="99456"/>
                        <a14:backgroundMark x1="46524" y1="92922" x2="46952" y2="92740"/>
                        <a14:backgroundMark x1="55401" y1="92196" x2="55401" y2="92196"/>
                        <a14:backgroundMark x1="54973" y1="98548" x2="54973" y2="98548"/>
                        <a14:backgroundMark x1="62460" y1="92740" x2="62460" y2="92740"/>
                        <a14:backgroundMark x1="62567" y1="97278" x2="62567" y2="97278"/>
                        <a14:backgroundMark x1="70160" y1="99637" x2="70695" y2="99637"/>
                        <a14:backgroundMark x1="76043" y1="98911" x2="76043" y2="98911"/>
                        <a14:backgroundMark x1="8972" y1="44981" x2="12473" y2="46097"/>
                        <a14:backgroundMark x1="11379" y1="46468" x2="12254" y2="47212"/>
                        <a14:backgroundMark x1="7659" y1="46468" x2="7659" y2="46468"/>
                        <a14:backgroundMark x1="8315" y1="46468" x2="8315" y2="46468"/>
                        <a14:backgroundMark x1="7440" y1="45353" x2="7440" y2="45353"/>
                        <a14:backgroundMark x1="6783" y1="45353" x2="6783" y2="45353"/>
                        <a14:backgroundMark x1="7002" y1="44238" x2="9190" y2="44238"/>
                        <a14:backgroundMark x1="6565" y1="44238" x2="7002" y2="44610"/>
                        <a14:backgroundMark x1="12473" y1="46097" x2="12910" y2="47584"/>
                        <a14:backgroundMark x1="5033" y1="65799" x2="5033" y2="65799"/>
                        <a14:backgroundMark x1="4595" y1="66171" x2="4158" y2="66543"/>
                        <a14:backgroundMark x1="94530" y1="98141" x2="94530" y2="98141"/>
                        <a14:backgroundMark x1="99125" y1="29740" x2="99125" y2="29740"/>
                        <a14:backgroundMark x1="96718" y1="32714" x2="96718" y2="32714"/>
                        <a14:backgroundMark x1="96061" y1="30112" x2="96061" y2="30112"/>
                        <a14:backgroundMark x1="95624" y1="28625" x2="95624" y2="286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3454" y="5720080"/>
            <a:ext cx="1556855" cy="917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23702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D8A1598-C661-6C19-B24F-CEDCE7457F7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-1" r="467" b="4043"/>
          <a:stretch>
            <a:fillRect/>
          </a:stretch>
        </p:blipFill>
        <p:spPr>
          <a:xfrm>
            <a:off x="-109893" y="0"/>
            <a:ext cx="12353924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C4AA12-499C-25EA-F1EC-B742C1A2E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286604"/>
            <a:ext cx="12353924" cy="656372"/>
          </a:xfrm>
        </p:spPr>
        <p:txBody>
          <a:bodyPr>
            <a:normAutofit fontScale="90000"/>
          </a:bodyPr>
          <a:lstStyle/>
          <a:p>
            <a:pPr algn="ctr"/>
            <a:r>
              <a:rPr lang="uk-UA" sz="3800" b="1" dirty="0">
                <a:solidFill>
                  <a:schemeClr val="tx1"/>
                </a:solidFill>
              </a:rPr>
              <a:t>Загальні продажі напівавтоматичних </a:t>
            </a:r>
            <a:r>
              <a:rPr lang="uk-UA" sz="3800" b="1" dirty="0" err="1">
                <a:solidFill>
                  <a:schemeClr val="tx1"/>
                </a:solidFill>
              </a:rPr>
              <a:t>коагулометрів</a:t>
            </a:r>
            <a:r>
              <a:rPr lang="uk-UA" sz="3800" b="1" dirty="0">
                <a:solidFill>
                  <a:schemeClr val="tx1"/>
                </a:solidFill>
              </a:rPr>
              <a:t> 2025 р.</a:t>
            </a:r>
            <a:endParaRPr lang="uk-UA" sz="3800" dirty="0"/>
          </a:p>
        </p:txBody>
      </p:sp>
      <p:graphicFrame>
        <p:nvGraphicFramePr>
          <p:cNvPr id="6" name="Об'єкт 5">
            <a:extLst>
              <a:ext uri="{FF2B5EF4-FFF2-40B4-BE49-F238E27FC236}">
                <a16:creationId xmlns:a16="http://schemas.microsoft.com/office/drawing/2014/main" id="{3E63B957-07DD-E7AE-07F4-501111EC13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6940456"/>
              </p:ext>
            </p:extLst>
          </p:nvPr>
        </p:nvGraphicFramePr>
        <p:xfrm>
          <a:off x="318246" y="1810667"/>
          <a:ext cx="6484937" cy="432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6050351" imgH="4030807" progId="Excel.Sheet.12">
                  <p:embed/>
                </p:oleObj>
              </mc:Choice>
              <mc:Fallback>
                <p:oleObj name="Worksheet" r:id="rId3" imgW="6050351" imgH="4030807" progId="Excel.Sheet.12">
                  <p:embed/>
                  <p:pic>
                    <p:nvPicPr>
                      <p:cNvPr id="6" name="Об'єкт 5">
                        <a:extLst>
                          <a:ext uri="{FF2B5EF4-FFF2-40B4-BE49-F238E27FC236}">
                            <a16:creationId xmlns:a16="http://schemas.microsoft.com/office/drawing/2014/main" id="{3E63B957-07DD-E7AE-07F4-501111EC13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8246" y="1810667"/>
                        <a:ext cx="6484937" cy="4321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Об'єкт 7">
            <a:extLst>
              <a:ext uri="{FF2B5EF4-FFF2-40B4-BE49-F238E27FC236}">
                <a16:creationId xmlns:a16="http://schemas.microsoft.com/office/drawing/2014/main" id="{0CACC7BF-8194-B7D4-0F3F-BAF062BD6B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5585806"/>
              </p:ext>
            </p:extLst>
          </p:nvPr>
        </p:nvGraphicFramePr>
        <p:xfrm>
          <a:off x="6972142" y="1810667"/>
          <a:ext cx="4344914" cy="3749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3612093" imgH="3116643" progId="Excel.Sheet.12">
                  <p:embed/>
                </p:oleObj>
              </mc:Choice>
              <mc:Fallback>
                <p:oleObj name="Worksheet" r:id="rId5" imgW="3612093" imgH="3116643" progId="Excel.Sheet.12">
                  <p:embed/>
                  <p:pic>
                    <p:nvPicPr>
                      <p:cNvPr id="8" name="Об'єкт 7">
                        <a:extLst>
                          <a:ext uri="{FF2B5EF4-FFF2-40B4-BE49-F238E27FC236}">
                            <a16:creationId xmlns:a16="http://schemas.microsoft.com/office/drawing/2014/main" id="{0CACC7BF-8194-B7D4-0F3F-BAF062BD6B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72142" y="1810667"/>
                        <a:ext cx="4344914" cy="37490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3C4703A-62F6-A405-61A0-B1F0CCBEE46A}"/>
              </a:ext>
            </a:extLst>
          </p:cNvPr>
          <p:cNvSpPr txBox="1"/>
          <p:nvPr/>
        </p:nvSpPr>
        <p:spPr>
          <a:xfrm>
            <a:off x="1612436" y="1301781"/>
            <a:ext cx="31161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2000" b="1" dirty="0"/>
              <a:t>Розподіл по приладам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2B30DE-C7E5-9296-869D-59C565CF8FCE}"/>
              </a:ext>
            </a:extLst>
          </p:cNvPr>
          <p:cNvSpPr txBox="1"/>
          <p:nvPr/>
        </p:nvSpPr>
        <p:spPr>
          <a:xfrm>
            <a:off x="6403264" y="1301781"/>
            <a:ext cx="43449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2000" b="1" dirty="0"/>
              <a:t>Розподіл по дистриб’юторам</a:t>
            </a:r>
          </a:p>
        </p:txBody>
      </p:sp>
      <p:pic>
        <p:nvPicPr>
          <p:cNvPr id="9" name="Picture 10" descr="Экспресс-диагностика в практике врача | Health-ua">
            <a:extLst>
              <a:ext uri="{FF2B5EF4-FFF2-40B4-BE49-F238E27FC236}">
                <a16:creationId xmlns:a16="http://schemas.microsoft.com/office/drawing/2014/main" id="{C71A51BC-4C92-C144-3C4E-CC80535CF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363" b="98367" l="642" r="98396">
                        <a14:foregroundMark x1="30160" y1="23775" x2="30160" y2="23775"/>
                        <a14:foregroundMark x1="40107" y1="4537" x2="40107" y2="4537"/>
                        <a14:foregroundMark x1="2781" y1="29583" x2="2781" y2="29583"/>
                        <a14:foregroundMark x1="642" y1="64428" x2="642" y2="64428"/>
                        <a14:foregroundMark x1="3957" y1="67877" x2="3957" y2="67877"/>
                        <a14:foregroundMark x1="22781" y1="51180" x2="22781" y2="51180"/>
                        <a14:foregroundMark x1="29947" y1="57713" x2="29947" y2="57713"/>
                        <a14:foregroundMark x1="41711" y1="52813" x2="41711" y2="52813"/>
                        <a14:foregroundMark x1="49198" y1="51906" x2="49198" y2="51906"/>
                        <a14:foregroundMark x1="60214" y1="54265" x2="60214" y2="54265"/>
                        <a14:foregroundMark x1="69947" y1="60617" x2="69947" y2="60617"/>
                        <a14:foregroundMark x1="73797" y1="56261" x2="73797" y2="56261"/>
                        <a14:foregroundMark x1="80214" y1="56987" x2="80214" y2="56987"/>
                        <a14:foregroundMark x1="93369" y1="56261" x2="93369" y2="56261"/>
                        <a14:foregroundMark x1="97112" y1="57713" x2="97112" y2="57713"/>
                        <a14:foregroundMark x1="98182" y1="58802" x2="98182" y2="58802"/>
                        <a14:foregroundMark x1="27273" y1="51543" x2="27273" y2="51543"/>
                        <a14:foregroundMark x1="96257" y1="29220" x2="96257" y2="29220"/>
                        <a14:foregroundMark x1="94866" y1="29038" x2="94866" y2="29038"/>
                        <a14:foregroundMark x1="55829" y1="54991" x2="55829" y2="54991"/>
                        <a14:foregroundMark x1="57326" y1="56806" x2="57326" y2="56806"/>
                        <a14:foregroundMark x1="44920" y1="544" x2="44920" y2="544"/>
                        <a14:foregroundMark x1="43529" y1="1270" x2="43529" y2="1270"/>
                        <a14:foregroundMark x1="2888" y1="90926" x2="2888" y2="90926"/>
                        <a14:foregroundMark x1="4492" y1="91833" x2="4492" y2="91833"/>
                        <a14:foregroundMark x1="4171" y1="95100" x2="4171" y2="95100"/>
                        <a14:foregroundMark x1="4492" y1="97822" x2="4492" y2="97822"/>
                        <a14:foregroundMark x1="1711" y1="92922" x2="1711" y2="92922"/>
                        <a14:foregroundMark x1="7594" y1="91470" x2="7487" y2="92015"/>
                        <a14:foregroundMark x1="8449" y1="90563" x2="8984" y2="91107"/>
                        <a14:foregroundMark x1="9519" y1="94918" x2="9519" y2="95670"/>
                        <a14:foregroundMark x1="9519" y1="94192" x2="9519" y2="94918"/>
                        <a14:foregroundMark x1="8663" y1="96915" x2="8663" y2="96915"/>
                        <a14:foregroundMark x1="8770" y1="97096" x2="8770" y2="97096"/>
                        <a14:foregroundMark x1="8770" y1="97096" x2="8342" y2="96915"/>
                        <a14:foregroundMark x1="12513" y1="94555" x2="13048" y2="94555"/>
                        <a14:foregroundMark x1="19251" y1="91107" x2="19251" y2="91107"/>
                        <a14:foregroundMark x1="24599" y1="90381" x2="24599" y2="90381"/>
                        <a14:foregroundMark x1="31230" y1="91470" x2="31230" y2="91470"/>
                        <a14:foregroundMark x1="36257" y1="90563" x2="36257" y2="90563"/>
                        <a14:foregroundMark x1="34225" y1="90018" x2="34225" y2="90018"/>
                        <a14:foregroundMark x1="35508" y1="93285" x2="35508" y2="93285"/>
                        <a14:foregroundMark x1="41283" y1="90563" x2="41497" y2="90381"/>
                        <a14:foregroundMark x1="45561" y1="93648" x2="45561" y2="93648"/>
                        <a14:foregroundMark x1="35401" y1="98004" x2="35401" y2="98004"/>
                        <a14:foregroundMark x1="50802" y1="94737" x2="50802" y2="94737"/>
                        <a14:foregroundMark x1="55508" y1="94918" x2="55508" y2="94918"/>
                        <a14:foregroundMark x1="61176" y1="94374" x2="61176" y2="94374"/>
                        <a14:foregroundMark x1="68770" y1="94555" x2="68770" y2="94555"/>
                        <a14:foregroundMark x1="73797" y1="95281" x2="73797" y2="95281"/>
                        <a14:foregroundMark x1="73904" y1="91107" x2="73904" y2="91107"/>
                        <a14:foregroundMark x1="81925" y1="98367" x2="81925" y2="98367"/>
                        <a14:foregroundMark x1="87487" y1="94192" x2="87487" y2="94192"/>
                        <a14:foregroundMark x1="96150" y1="94011" x2="96150" y2="94011"/>
                        <a14:foregroundMark x1="98396" y1="93466" x2="98396" y2="93466"/>
                        <a14:foregroundMark x1="4064" y1="68058" x2="3484" y2="67763"/>
                        <a14:foregroundMark x1="21007" y1="7435" x2="21007" y2="7435"/>
                        <a14:foregroundMark x1="96499" y1="31599" x2="96499" y2="31599"/>
                        <a14:foregroundMark x1="96718" y1="29368" x2="96718" y2="29368"/>
                        <a14:backgroundMark x1="97112" y1="29038" x2="97112" y2="29038"/>
                        <a14:backgroundMark x1="8449" y1="94918" x2="8449" y2="94918"/>
                        <a14:backgroundMark x1="8235" y1="99093" x2="8556" y2="99093"/>
                        <a14:backgroundMark x1="2032" y1="66425" x2="3102" y2="66788"/>
                        <a14:backgroundMark x1="3209" y1="66788" x2="3850" y2="66788"/>
                        <a14:backgroundMark x1="14118" y1="96915" x2="14118" y2="96915"/>
                        <a14:backgroundMark x1="25668" y1="92015" x2="25668" y2="92015"/>
                        <a14:backgroundMark x1="31123" y1="94737" x2="31123" y2="94737"/>
                        <a14:backgroundMark x1="31551" y1="99456" x2="31551" y2="99456"/>
                        <a14:backgroundMark x1="46524" y1="92922" x2="46952" y2="92740"/>
                        <a14:backgroundMark x1="55401" y1="92196" x2="55401" y2="92196"/>
                        <a14:backgroundMark x1="54973" y1="98548" x2="54973" y2="98548"/>
                        <a14:backgroundMark x1="62460" y1="92740" x2="62460" y2="92740"/>
                        <a14:backgroundMark x1="62567" y1="97278" x2="62567" y2="97278"/>
                        <a14:backgroundMark x1="70160" y1="99637" x2="70695" y2="99637"/>
                        <a14:backgroundMark x1="76043" y1="98911" x2="76043" y2="98911"/>
                        <a14:backgroundMark x1="8972" y1="44981" x2="12473" y2="46097"/>
                        <a14:backgroundMark x1="11379" y1="46468" x2="12254" y2="47212"/>
                        <a14:backgroundMark x1="7659" y1="46468" x2="7659" y2="46468"/>
                        <a14:backgroundMark x1="8315" y1="46468" x2="8315" y2="46468"/>
                        <a14:backgroundMark x1="7440" y1="45353" x2="7440" y2="45353"/>
                        <a14:backgroundMark x1="6783" y1="45353" x2="6783" y2="45353"/>
                        <a14:backgroundMark x1="7002" y1="44238" x2="9190" y2="44238"/>
                        <a14:backgroundMark x1="6565" y1="44238" x2="7002" y2="44610"/>
                        <a14:backgroundMark x1="12473" y1="46097" x2="12910" y2="47584"/>
                        <a14:backgroundMark x1="5033" y1="65799" x2="5033" y2="65799"/>
                        <a14:backgroundMark x1="4595" y1="66171" x2="4158" y2="66543"/>
                        <a14:backgroundMark x1="94530" y1="98141" x2="94530" y2="98141"/>
                        <a14:backgroundMark x1="99125" y1="29740" x2="99125" y2="29740"/>
                        <a14:backgroundMark x1="96718" y1="32714" x2="96718" y2="32714"/>
                        <a14:backgroundMark x1="96061" y1="30112" x2="96061" y2="30112"/>
                        <a14:backgroundMark x1="95624" y1="28625" x2="95624" y2="286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1592" y="5668484"/>
            <a:ext cx="1532162" cy="902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96820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D2A9B13-ECC9-30CE-FCFE-07059772B43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898" t="770" r="873" b="32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4B43AB-E0D1-AE9E-285D-9437ADDE6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uk-UA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Дякую за увагу!</a:t>
            </a:r>
          </a:p>
        </p:txBody>
      </p:sp>
    </p:spTree>
    <p:extLst>
      <p:ext uri="{BB962C8B-B14F-4D97-AF65-F5344CB8AC3E}">
        <p14:creationId xmlns:p14="http://schemas.microsoft.com/office/powerpoint/2010/main" val="304113011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Настроювані 1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00B050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2272</TotalTime>
  <Words>1455</Words>
  <Application>Microsoft Office PowerPoint</Application>
  <PresentationFormat>Широкий екран</PresentationFormat>
  <Paragraphs>216</Paragraphs>
  <Slides>21</Slides>
  <Notes>1</Notes>
  <HiddenSlides>0</HiddenSlides>
  <MMClips>0</MMClips>
  <ScaleCrop>false</ScaleCrop>
  <HeadingPairs>
    <vt:vector size="8" baseType="variant">
      <vt:variant>
        <vt:lpstr>Використані шрифти</vt:lpstr>
      </vt:variant>
      <vt:variant>
        <vt:i4>7</vt:i4>
      </vt:variant>
      <vt:variant>
        <vt:lpstr>Тема</vt:lpstr>
      </vt:variant>
      <vt:variant>
        <vt:i4>1</vt:i4>
      </vt:variant>
      <vt:variant>
        <vt:lpstr>Вбудовані сервери OLE</vt:lpstr>
      </vt:variant>
      <vt:variant>
        <vt:i4>1</vt:i4>
      </vt:variant>
      <vt:variant>
        <vt:lpstr>Заголовки слайдів</vt:lpstr>
      </vt:variant>
      <vt:variant>
        <vt:i4>21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Inter</vt:lpstr>
      <vt:lpstr>Times New Roman</vt:lpstr>
      <vt:lpstr>Wingdings</vt:lpstr>
      <vt:lpstr>Тема Office</vt:lpstr>
      <vt:lpstr>Worksheet</vt:lpstr>
      <vt:lpstr>Напівавтоматичний коагулометр DC1040 </vt:lpstr>
      <vt:lpstr>Будова напівавтоматичного коагулометра DC1040  </vt:lpstr>
      <vt:lpstr>Напівавтоматичний коагулометр DC1040</vt:lpstr>
      <vt:lpstr>Додаткові функції коагулометра DC1040 </vt:lpstr>
      <vt:lpstr>Напівавтоматичний коагулометр DC1040 </vt:lpstr>
      <vt:lpstr>Реагенти та витратні матеріали для DC1040</vt:lpstr>
      <vt:lpstr>Реагент для визначення протромбінового часу (ПЧ)</vt:lpstr>
      <vt:lpstr>Набір для визначення активованого часткового тромбопластинового часу (АЧТЧ)</vt:lpstr>
      <vt:lpstr>Набір для визначення фібриногену (ФІБ) </vt:lpstr>
      <vt:lpstr>Реагент для визначення тромбінового часу (ТЧ) </vt:lpstr>
      <vt:lpstr>Контроль коагуляції (рівень 1, рівень 2)</vt:lpstr>
      <vt:lpstr>Калібратор фібриногену </vt:lpstr>
      <vt:lpstr>Кювета оптична </vt:lpstr>
      <vt:lpstr>Магнітний змішувач</vt:lpstr>
      <vt:lpstr>Стартовий набір для DC1040</vt:lpstr>
      <vt:lpstr>Реакція коагуляції</vt:lpstr>
      <vt:lpstr>СПИСОК НЕОБХІДНИХ МАТЕРІАЛІВ ДЛЯ РОБОТИ З АНАЛІЗАТОРОМ</vt:lpstr>
      <vt:lpstr>Компенсація НСЗУ</vt:lpstr>
      <vt:lpstr>Презентація PowerPoint</vt:lpstr>
      <vt:lpstr>Загальні продажі напівавтоматичних коагулометрів 2025 р.</vt:lpstr>
      <vt:lpstr>Дякую за увагу!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Інна Шлапак</dc:creator>
  <cp:lastModifiedBy>Інна Шлапак</cp:lastModifiedBy>
  <cp:revision>17</cp:revision>
  <dcterms:created xsi:type="dcterms:W3CDTF">2026-03-09T12:17:15Z</dcterms:created>
  <dcterms:modified xsi:type="dcterms:W3CDTF">2026-03-17T14:19:42Z</dcterms:modified>
</cp:coreProperties>
</file>