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105" r:id="rId2"/>
    <p:sldId id="2104" r:id="rId3"/>
    <p:sldId id="2107" r:id="rId4"/>
    <p:sldId id="2108" r:id="rId5"/>
    <p:sldId id="2110" r:id="rId6"/>
    <p:sldId id="2106" r:id="rId7"/>
    <p:sldId id="2111" r:id="rId8"/>
    <p:sldId id="2112" r:id="rId9"/>
    <p:sldId id="2114" r:id="rId10"/>
    <p:sldId id="2113" r:id="rId11"/>
    <p:sldId id="2109" r:id="rId1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Без стилю та сітки таблиці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0" autoAdjust="0"/>
    <p:restoredTop sz="93464" autoAdjust="0"/>
  </p:normalViewPr>
  <p:slideViewPr>
    <p:cSldViewPr snapToGrid="0">
      <p:cViewPr varScale="1">
        <p:scale>
          <a:sx n="77" d="100"/>
          <a:sy n="77" d="100"/>
        </p:scale>
        <p:origin x="103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F2C86-A21B-4E18-8925-27DA17744AF8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8189A-9AB1-49F8-B898-09BDCCD1F1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5373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8189A-9AB1-49F8-B898-09BDCCD1F19B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9120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8189A-9AB1-49F8-B898-09BDCCD1F19B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93503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80B23-E25B-8085-794F-9B17F0E84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1E4D256-1701-C2B7-1BA9-C8E530849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7F73853-8450-79CA-33D7-A439D9D8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383F633-A71C-DE47-8A89-F9C45BC6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0DD972F-F8B4-0D65-B9B3-5CF1ADCD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33154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413B5-1D80-B799-4278-2B08A4B7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FB328F-A3C0-0602-6D79-7756D853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B08CB89-EB9C-5A83-C65B-E8902204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2D22D12-6A95-DFFF-C437-19170032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7D301C6-BBE9-BD6D-4D8E-5936A33F8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971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6D854-B40A-674C-4ECF-A2152F02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C4AFAA3-31ED-681C-5A5E-84E948A28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4C4836B-F099-C54F-6317-08FBF3FF2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5EC3BAD-8668-EE12-0317-40E85E95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723EFCD-4262-496E-9212-FA02E65A2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0584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D57EA-A81F-BFE5-224C-5F8D2BCF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3246AD2-24BF-BA9A-2F03-A547FA124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66C0ECE-EF50-29D2-B593-DF939F321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B93A743-0515-4832-2014-6AAC2C93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6DC1D2D-4975-118E-19B5-026DDF6E8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CBC9D08-3227-A198-FF9B-391B9C1B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810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87B92-85A6-A64E-05F4-9B3A318DE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F926F36-5ADB-93EE-32F1-2C6F78E66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96E1D69-6EF0-471D-70EE-F87AF857C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3819DDB-B1D4-67E9-9EB9-E63833B1F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C9736A0-5CBC-1D0D-20A1-6E61C68DE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8AE55CD-773A-65F7-7097-03C6F6F1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9A829F3B-3F37-06A4-2F62-962B23054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548D6DA5-27B3-BE35-4DC9-64A69B82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105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22603-868B-D76B-3A12-3006DD011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AB276AD-B777-01B1-0EAD-CDB9ADD0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A9050F6-697F-E9D5-FB92-1DCAEB0D8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FAECCCC-B30C-1208-F91A-F5082DE0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9021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632CC7A2-C4E1-BE39-6110-80D2D6C2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0A07119-88F1-2EF3-D8C1-7C118F0C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4CA1E6B-0D3A-5C23-40B5-72A36BAD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748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9712FC-CB46-486A-DEAE-0C05A36C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42C9659-994A-14EB-0A8A-712391B67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30E5F02-3C82-93B2-A9B0-E906A3376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94BD426-9487-5AFC-A01C-F1A959F4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B52492A-0993-AAD9-887F-03B9D4542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B812B3D-2B4C-F884-16F9-2C5562FF2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1271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8258D-9A26-66BD-3DD6-B963CDB4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08D3A31-B42E-2B9C-7AA6-8DFCF8EE1B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B7551EA-A2FA-5E37-A37B-4BFE83ACF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15D2425-4192-62FD-1150-12354D22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88B7D65-2E2A-5B7E-069C-084FFFF4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5E2D6FB-4B0A-1C27-F9D0-C24B437D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084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35E0D-33F6-D152-5815-726FE50B9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A0A9591-0517-3237-0A1D-26429D7F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E209BA5-4308-0FCF-5BD8-127E2572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B2D4FEE-598E-6787-F67A-94C47960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5F8766F-E62B-8D59-F908-9FFEA4A7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6440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E9C6B4F-CE42-591E-B541-121CD607E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9CE8430-6FAF-AD88-B900-BDF595FAC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C9E7C39-EF28-C720-7C4A-499E86F10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257A5EA-67FE-6365-C365-AA0D04FE8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106648B-C716-C53F-810D-7D38EFD9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971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79B3112-549F-9BD0-DC17-C780AAA0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B8E62C9-15DC-B74D-639E-C1B28691C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D452979-1453-8375-4762-D15EFC988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D31A214-B997-0DE5-B222-D9637689E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C9F65A3-D8DB-D2EE-74DB-EEB1886CA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004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.xlsx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E5662-2C56-72C5-7D68-C9C5BFCD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06872C5-F746-CF7E-0258-D4F60F645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033405-4C82-F6A7-E865-5E2E711E15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66700-93F5-AB57-F01C-78707C72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837" y="2639422"/>
            <a:ext cx="6629883" cy="1381849"/>
          </a:xfrm>
        </p:spPr>
        <p:txBody>
          <a:bodyPr anchor="b">
            <a:noAutofit/>
          </a:bodyPr>
          <a:lstStyle/>
          <a:p>
            <a:pPr algn="ctr"/>
            <a:r>
              <a:rPr lang="uk-UA" sz="4500" b="1" dirty="0"/>
              <a:t>8-канальний </a:t>
            </a:r>
            <a:r>
              <a:rPr lang="uk-UA" sz="4500" b="1" dirty="0" err="1"/>
              <a:t>імунофлуорисцентний</a:t>
            </a:r>
            <a:r>
              <a:rPr lang="uk-UA" sz="4500" b="1" dirty="0"/>
              <a:t> аналізатор </a:t>
            </a:r>
            <a:r>
              <a:rPr lang="en-US" sz="4500" b="1" dirty="0"/>
              <a:t>LS-2100</a:t>
            </a:r>
            <a:endParaRPr lang="uk-UA" sz="4500" b="1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A068DFB-C37F-5529-6E18-8ED991865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plus graphic">
            <a:extLst>
              <a:ext uri="{FF2B5EF4-FFF2-40B4-BE49-F238E27FC236}">
                <a16:creationId xmlns:a16="http://schemas.microsoft.com/office/drawing/2014/main" id="{01B03F62-F1D2-15B9-A4D7-21B0D0497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!!circle graphic">
            <a:extLst>
              <a:ext uri="{FF2B5EF4-FFF2-40B4-BE49-F238E27FC236}">
                <a16:creationId xmlns:a16="http://schemas.microsoft.com/office/drawing/2014/main" id="{3F5336D3-B59C-7C65-365C-886C089C7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4270B6-CBD4-8DD9-DC6F-CDBAD9461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2183" y="4374359"/>
            <a:ext cx="4673001" cy="2913872"/>
          </a:xfrm>
        </p:spPr>
        <p:txBody>
          <a:bodyPr anchor="t">
            <a:normAutofit/>
          </a:bodyPr>
          <a:lstStyle/>
          <a:p>
            <a:pPr marL="0" indent="0" algn="r">
              <a:buNone/>
            </a:pPr>
            <a:r>
              <a:rPr lang="uk-UA" sz="2500" b="1" dirty="0">
                <a:solidFill>
                  <a:schemeClr val="tx1">
                    <a:alpha val="80000"/>
                  </a:schemeClr>
                </a:solidFill>
              </a:rPr>
              <a:t>Шлапак Інна</a:t>
            </a:r>
            <a:br>
              <a:rPr lang="uk-UA" sz="2500" b="1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uk-UA" sz="2500" b="1" dirty="0">
                <a:solidFill>
                  <a:schemeClr val="tx1">
                    <a:alpha val="80000"/>
                  </a:schemeClr>
                </a:solidFill>
              </a:rPr>
              <a:t>менеджер з продукту</a:t>
            </a:r>
            <a:endParaRPr lang="en-US" sz="2500" b="1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0" name="!!dot graphic">
            <a:extLst>
              <a:ext uri="{FF2B5EF4-FFF2-40B4-BE49-F238E27FC236}">
                <a16:creationId xmlns:a16="http://schemas.microsoft.com/office/drawing/2014/main" id="{EA4F608F-98D5-10D3-1ACA-944C3249D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2" name="!!Straight Connector">
            <a:extLst>
              <a:ext uri="{FF2B5EF4-FFF2-40B4-BE49-F238E27FC236}">
                <a16:creationId xmlns:a16="http://schemas.microsoft.com/office/drawing/2014/main" id="{F78A5384-2EE6-9C67-4408-8078ED39A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E3162A90-4762-6D96-6AAA-77DBFF85B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581" y="5456255"/>
            <a:ext cx="2133604" cy="125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D8CA69-566A-FFB6-8D36-7EB475C738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099" y="1208190"/>
            <a:ext cx="6334445" cy="443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00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ABBA3EE9-ED65-A370-3830-D55336E485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D0D3CC-9B49-1605-D3C4-3E965557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1036292"/>
          </a:xfrm>
        </p:spPr>
        <p:txBody>
          <a:bodyPr>
            <a:normAutofit/>
          </a:bodyPr>
          <a:lstStyle/>
          <a:p>
            <a:pPr algn="ctr"/>
            <a:r>
              <a:rPr lang="uk-UA" sz="4000" b="1" dirty="0"/>
              <a:t>Будова </a:t>
            </a:r>
            <a:r>
              <a:rPr lang="uk-UA" sz="4000" b="1" dirty="0" err="1"/>
              <a:t>імунофлуорисцентного</a:t>
            </a:r>
            <a:r>
              <a:rPr lang="uk-UA" sz="4000" b="1" dirty="0"/>
              <a:t> аналізатора </a:t>
            </a:r>
            <a:r>
              <a:rPr lang="en-US" sz="4000" b="1" dirty="0"/>
              <a:t>LS-2100</a:t>
            </a:r>
            <a:r>
              <a:rPr lang="uk-UA" sz="4000" b="1" dirty="0"/>
              <a:t> </a:t>
            </a:r>
          </a:p>
        </p:txBody>
      </p:sp>
      <p:pic>
        <p:nvPicPr>
          <p:cNvPr id="6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406EAEC8-527F-B99F-D1F3-4D059C73E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979" y="5769952"/>
            <a:ext cx="1549566" cy="91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S-2100 Dry Fluorescence Immunoassay Analyzer (8 channels） company |  Lansion Biotechnology Co., Ltd.">
            <a:extLst>
              <a:ext uri="{FF2B5EF4-FFF2-40B4-BE49-F238E27FC236}">
                <a16:creationId xmlns:a16="http://schemas.microsoft.com/office/drawing/2014/main" id="{FF1A6B33-07D7-1DCD-BF36-7C0A90BE9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860" y="1176146"/>
            <a:ext cx="6436278" cy="450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Групувати 46">
            <a:extLst>
              <a:ext uri="{FF2B5EF4-FFF2-40B4-BE49-F238E27FC236}">
                <a16:creationId xmlns:a16="http://schemas.microsoft.com/office/drawing/2014/main" id="{FD615738-2D59-EAAB-281E-3B4CCDE05288}"/>
              </a:ext>
            </a:extLst>
          </p:cNvPr>
          <p:cNvGrpSpPr/>
          <p:nvPr/>
        </p:nvGrpSpPr>
        <p:grpSpPr>
          <a:xfrm>
            <a:off x="356290" y="1543480"/>
            <a:ext cx="11672539" cy="4872447"/>
            <a:chOff x="1002333" y="1861532"/>
            <a:chExt cx="11672539" cy="4872447"/>
          </a:xfrm>
        </p:grpSpPr>
        <p:grpSp>
          <p:nvGrpSpPr>
            <p:cNvPr id="10" name="Групувати 9">
              <a:extLst>
                <a:ext uri="{FF2B5EF4-FFF2-40B4-BE49-F238E27FC236}">
                  <a16:creationId xmlns:a16="http://schemas.microsoft.com/office/drawing/2014/main" id="{BFE6E050-3E42-A181-33C9-FFDBC8446C0E}"/>
                </a:ext>
              </a:extLst>
            </p:cNvPr>
            <p:cNvGrpSpPr/>
            <p:nvPr/>
          </p:nvGrpSpPr>
          <p:grpSpPr>
            <a:xfrm>
              <a:off x="2341714" y="1861532"/>
              <a:ext cx="2678761" cy="668710"/>
              <a:chOff x="2341714" y="1861532"/>
              <a:chExt cx="2678761" cy="668710"/>
            </a:xfrm>
          </p:grpSpPr>
          <p:cxnSp>
            <p:nvCxnSpPr>
              <p:cNvPr id="7" name="直接连接符 10">
                <a:extLst>
                  <a:ext uri="{FF2B5EF4-FFF2-40B4-BE49-F238E27FC236}">
                    <a16:creationId xmlns:a16="http://schemas.microsoft.com/office/drawing/2014/main" id="{3F72B26C-3F73-D7B6-E0C9-ABA8CBEAA6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91280" y="2153920"/>
                <a:ext cx="1129195" cy="37632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矩形 9">
                <a:extLst>
                  <a:ext uri="{FF2B5EF4-FFF2-40B4-BE49-F238E27FC236}">
                    <a16:creationId xmlns:a16="http://schemas.microsoft.com/office/drawing/2014/main" id="{59EAE782-34A6-30BA-A16B-294F9C0F6326}"/>
                  </a:ext>
                </a:extLst>
              </p:cNvPr>
              <p:cNvSpPr/>
              <p:nvPr/>
            </p:nvSpPr>
            <p:spPr>
              <a:xfrm>
                <a:off x="2341714" y="1861532"/>
                <a:ext cx="1709166" cy="584775"/>
              </a:xfrm>
              <a:prstGeom prst="rect">
                <a:avLst/>
              </a:prstGeom>
            </p:spPr>
            <p:txBody>
              <a:bodyPr vertOverflow="overflow" wrap="square">
                <a:spAutoFit/>
              </a:bodyPr>
              <a:lstStyle/>
              <a:p>
                <a:pPr algn="ctr"/>
                <a:r>
                  <a:rPr lang="uk-UA" altLang="zh-CN" sz="1600" b="1" dirty="0">
                    <a:latin typeface="Inter" panose="020B0502030000000004" pitchFamily="34" charset="0"/>
                    <a:ea typeface="Inter" panose="020B0502030000000004" pitchFamily="34" charset="0"/>
                    <a:cs typeface="Times New Roman"/>
                    <a:sym typeface="Inter" panose="020B0502030000000004" pitchFamily="34" charset="0"/>
                  </a:rPr>
                  <a:t>Вбудований </a:t>
                </a:r>
                <a:r>
                  <a:rPr lang="uk-UA" altLang="zh-CN" sz="1600" b="1" dirty="0" err="1">
                    <a:latin typeface="Inter" panose="020B0502030000000004" pitchFamily="34" charset="0"/>
                    <a:ea typeface="Inter" panose="020B0502030000000004" pitchFamily="34" charset="0"/>
                    <a:cs typeface="Times New Roman"/>
                    <a:sym typeface="Inter" panose="020B0502030000000004" pitchFamily="34" charset="0"/>
                  </a:rPr>
                  <a:t>термопринтер</a:t>
                </a:r>
                <a:endParaRPr lang="en-US" altLang="zh-CN" sz="1600" b="1" dirty="0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endParaRPr>
              </a:p>
            </p:txBody>
          </p:sp>
        </p:grpSp>
        <p:grpSp>
          <p:nvGrpSpPr>
            <p:cNvPr id="11" name="Групувати 10">
              <a:extLst>
                <a:ext uri="{FF2B5EF4-FFF2-40B4-BE49-F238E27FC236}">
                  <a16:creationId xmlns:a16="http://schemas.microsoft.com/office/drawing/2014/main" id="{251F46B6-518C-A0EE-27AB-88725E16120B}"/>
                </a:ext>
              </a:extLst>
            </p:cNvPr>
            <p:cNvGrpSpPr/>
            <p:nvPr/>
          </p:nvGrpSpPr>
          <p:grpSpPr>
            <a:xfrm>
              <a:off x="1002333" y="4975793"/>
              <a:ext cx="3870270" cy="584775"/>
              <a:chOff x="2341714" y="1861532"/>
              <a:chExt cx="3870270" cy="584775"/>
            </a:xfrm>
          </p:grpSpPr>
          <p:cxnSp>
            <p:nvCxnSpPr>
              <p:cNvPr id="12" name="直接连接符 10">
                <a:extLst>
                  <a:ext uri="{FF2B5EF4-FFF2-40B4-BE49-F238E27FC236}">
                    <a16:creationId xmlns:a16="http://schemas.microsoft.com/office/drawing/2014/main" id="{D67D4E57-FE68-1E68-DF01-E4E5DF519C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91280" y="2019631"/>
                <a:ext cx="2320704" cy="13428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矩形 9">
                <a:extLst>
                  <a:ext uri="{FF2B5EF4-FFF2-40B4-BE49-F238E27FC236}">
                    <a16:creationId xmlns:a16="http://schemas.microsoft.com/office/drawing/2014/main" id="{62458B98-9AC7-4CAA-36DC-76381E3EA653}"/>
                  </a:ext>
                </a:extLst>
              </p:cNvPr>
              <p:cNvSpPr/>
              <p:nvPr/>
            </p:nvSpPr>
            <p:spPr>
              <a:xfrm>
                <a:off x="2341714" y="1861532"/>
                <a:ext cx="1709166" cy="584775"/>
              </a:xfrm>
              <a:prstGeom prst="rect">
                <a:avLst/>
              </a:prstGeom>
            </p:spPr>
            <p:txBody>
              <a:bodyPr vertOverflow="overflow" wrap="square">
                <a:spAutoFit/>
              </a:bodyPr>
              <a:lstStyle/>
              <a:p>
                <a:pPr algn="ctr"/>
                <a:r>
                  <a:rPr lang="uk-UA" altLang="zh-CN" sz="1600" b="1" dirty="0">
                    <a:latin typeface="Inter" panose="020B0502030000000004" pitchFamily="34" charset="0"/>
                    <a:ea typeface="Inter" panose="020B0502030000000004" pitchFamily="34" charset="0"/>
                    <a:cs typeface="Times New Roman"/>
                    <a:sym typeface="Inter" panose="020B0502030000000004" pitchFamily="34" charset="0"/>
                  </a:rPr>
                  <a:t>Ємність для відходів</a:t>
                </a:r>
                <a:endParaRPr lang="en-US" altLang="zh-CN" sz="1600" b="1" dirty="0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endParaRPr>
              </a:p>
            </p:txBody>
          </p:sp>
        </p:grpSp>
        <p:grpSp>
          <p:nvGrpSpPr>
            <p:cNvPr id="15" name="Групувати 14">
              <a:extLst>
                <a:ext uri="{FF2B5EF4-FFF2-40B4-BE49-F238E27FC236}">
                  <a16:creationId xmlns:a16="http://schemas.microsoft.com/office/drawing/2014/main" id="{E0EB4A4C-1B95-F152-D719-084B95C1DA9A}"/>
                </a:ext>
              </a:extLst>
            </p:cNvPr>
            <p:cNvGrpSpPr/>
            <p:nvPr/>
          </p:nvGrpSpPr>
          <p:grpSpPr>
            <a:xfrm>
              <a:off x="6000204" y="4310932"/>
              <a:ext cx="2824586" cy="2423047"/>
              <a:chOff x="2887208" y="74119"/>
              <a:chExt cx="2824586" cy="2423047"/>
            </a:xfrm>
          </p:grpSpPr>
          <p:cxnSp>
            <p:nvCxnSpPr>
              <p:cNvPr id="16" name="直接连接符 10">
                <a:extLst>
                  <a:ext uri="{FF2B5EF4-FFF2-40B4-BE49-F238E27FC236}">
                    <a16:creationId xmlns:a16="http://schemas.microsoft.com/office/drawing/2014/main" id="{A98AB1B6-BBF2-CEBD-7E21-D652C243D5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79294" y="74119"/>
                <a:ext cx="26050" cy="210930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矩形 9">
                <a:extLst>
                  <a:ext uri="{FF2B5EF4-FFF2-40B4-BE49-F238E27FC236}">
                    <a16:creationId xmlns:a16="http://schemas.microsoft.com/office/drawing/2014/main" id="{FD259D06-54C5-1BC7-DD4B-22850FB3BFB6}"/>
                  </a:ext>
                </a:extLst>
              </p:cNvPr>
              <p:cNvSpPr/>
              <p:nvPr/>
            </p:nvSpPr>
            <p:spPr>
              <a:xfrm>
                <a:off x="2887208" y="2158612"/>
                <a:ext cx="2824586" cy="338554"/>
              </a:xfrm>
              <a:prstGeom prst="rect">
                <a:avLst/>
              </a:prstGeom>
            </p:spPr>
            <p:txBody>
              <a:bodyPr vertOverflow="overflow" wrap="square">
                <a:spAutoFit/>
              </a:bodyPr>
              <a:lstStyle/>
              <a:p>
                <a:pPr algn="ctr"/>
                <a:r>
                  <a:rPr lang="uk-UA" altLang="zh-CN" sz="1600" b="1" dirty="0">
                    <a:latin typeface="Inter" panose="020B0502030000000004" pitchFamily="34" charset="0"/>
                    <a:ea typeface="Inter" panose="020B0502030000000004" pitchFamily="34" charset="0"/>
                    <a:cs typeface="Times New Roman"/>
                    <a:sym typeface="Inter" panose="020B0502030000000004" pitchFamily="34" charset="0"/>
                  </a:rPr>
                  <a:t>Завантажувач тест-смужок</a:t>
                </a:r>
                <a:endParaRPr lang="en-US" altLang="zh-CN" sz="1600" b="1" dirty="0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endParaRPr>
              </a:p>
            </p:txBody>
          </p:sp>
        </p:grpSp>
        <p:grpSp>
          <p:nvGrpSpPr>
            <p:cNvPr id="21" name="Групувати 20">
              <a:extLst>
                <a:ext uri="{FF2B5EF4-FFF2-40B4-BE49-F238E27FC236}">
                  <a16:creationId xmlns:a16="http://schemas.microsoft.com/office/drawing/2014/main" id="{A0672F11-3C33-250C-0D1A-937725BA9A80}"/>
                </a:ext>
              </a:extLst>
            </p:cNvPr>
            <p:cNvGrpSpPr/>
            <p:nvPr/>
          </p:nvGrpSpPr>
          <p:grpSpPr>
            <a:xfrm>
              <a:off x="8887330" y="4108545"/>
              <a:ext cx="3414562" cy="1486527"/>
              <a:chOff x="2297232" y="1010639"/>
              <a:chExt cx="3414562" cy="1486527"/>
            </a:xfrm>
          </p:grpSpPr>
          <p:cxnSp>
            <p:nvCxnSpPr>
              <p:cNvPr id="22" name="直接连接符 10">
                <a:extLst>
                  <a:ext uri="{FF2B5EF4-FFF2-40B4-BE49-F238E27FC236}">
                    <a16:creationId xmlns:a16="http://schemas.microsoft.com/office/drawing/2014/main" id="{EE7421C2-61D4-FE2B-76BA-C87A3CAFA9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232" y="1010639"/>
                <a:ext cx="1682062" cy="117278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矩形 9">
                <a:extLst>
                  <a:ext uri="{FF2B5EF4-FFF2-40B4-BE49-F238E27FC236}">
                    <a16:creationId xmlns:a16="http://schemas.microsoft.com/office/drawing/2014/main" id="{00D8D9EF-4AEC-0C6D-3CC3-FD291E4A2033}"/>
                  </a:ext>
                </a:extLst>
              </p:cNvPr>
              <p:cNvSpPr/>
              <p:nvPr/>
            </p:nvSpPr>
            <p:spPr>
              <a:xfrm>
                <a:off x="2887208" y="2158612"/>
                <a:ext cx="2824586" cy="338554"/>
              </a:xfrm>
              <a:prstGeom prst="rect">
                <a:avLst/>
              </a:prstGeom>
            </p:spPr>
            <p:txBody>
              <a:bodyPr vertOverflow="overflow" wrap="square">
                <a:spAutoFit/>
              </a:bodyPr>
              <a:lstStyle/>
              <a:p>
                <a:pPr algn="ctr"/>
                <a:r>
                  <a:rPr lang="uk-UA" altLang="zh-CN" sz="1600" b="1" dirty="0">
                    <a:latin typeface="Inter" panose="020B0502030000000004" pitchFamily="34" charset="0"/>
                    <a:ea typeface="Inter" panose="020B0502030000000004" pitchFamily="34" charset="0"/>
                    <a:cs typeface="Times New Roman"/>
                    <a:sym typeface="Inter" panose="020B0502030000000004" pitchFamily="34" charset="0"/>
                  </a:rPr>
                  <a:t>Сканер </a:t>
                </a:r>
                <a:r>
                  <a:rPr lang="en-US" altLang="zh-CN" sz="1600" b="1" dirty="0">
                    <a:latin typeface="Inter" panose="020B0502030000000004" pitchFamily="34" charset="0"/>
                    <a:ea typeface="Inter" panose="020B0502030000000004" pitchFamily="34" charset="0"/>
                    <a:cs typeface="Times New Roman"/>
                    <a:sym typeface="Inter" panose="020B0502030000000004" pitchFamily="34" charset="0"/>
                  </a:rPr>
                  <a:t>QR-</a:t>
                </a:r>
                <a:r>
                  <a:rPr lang="uk-UA" altLang="zh-CN" sz="1600" b="1" dirty="0">
                    <a:latin typeface="Inter" panose="020B0502030000000004" pitchFamily="34" charset="0"/>
                    <a:ea typeface="Inter" panose="020B0502030000000004" pitchFamily="34" charset="0"/>
                    <a:cs typeface="Times New Roman"/>
                    <a:sym typeface="Inter" panose="020B0502030000000004" pitchFamily="34" charset="0"/>
                  </a:rPr>
                  <a:t>кодів</a:t>
                </a:r>
                <a:endParaRPr lang="en-US" altLang="zh-CN" sz="1600" b="1" dirty="0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endParaRPr>
              </a:p>
            </p:txBody>
          </p:sp>
        </p:grpSp>
        <p:grpSp>
          <p:nvGrpSpPr>
            <p:cNvPr id="25" name="Групувати 24">
              <a:extLst>
                <a:ext uri="{FF2B5EF4-FFF2-40B4-BE49-F238E27FC236}">
                  <a16:creationId xmlns:a16="http://schemas.microsoft.com/office/drawing/2014/main" id="{C1DB2819-6978-8462-318F-B8A31B90DFC5}"/>
                </a:ext>
              </a:extLst>
            </p:cNvPr>
            <p:cNvGrpSpPr/>
            <p:nvPr/>
          </p:nvGrpSpPr>
          <p:grpSpPr>
            <a:xfrm>
              <a:off x="8279296" y="2180504"/>
              <a:ext cx="4395576" cy="513434"/>
              <a:chOff x="1533240" y="2359176"/>
              <a:chExt cx="4395576" cy="513434"/>
            </a:xfrm>
          </p:grpSpPr>
          <p:cxnSp>
            <p:nvCxnSpPr>
              <p:cNvPr id="26" name="直接连接符 10">
                <a:extLst>
                  <a:ext uri="{FF2B5EF4-FFF2-40B4-BE49-F238E27FC236}">
                    <a16:creationId xmlns:a16="http://schemas.microsoft.com/office/drawing/2014/main" id="{CE9A9F87-B30E-A509-C343-3092298316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33240" y="2566294"/>
                <a:ext cx="2123683" cy="30631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矩形 9">
                <a:extLst>
                  <a:ext uri="{FF2B5EF4-FFF2-40B4-BE49-F238E27FC236}">
                    <a16:creationId xmlns:a16="http://schemas.microsoft.com/office/drawing/2014/main" id="{11C2E0D0-55CD-2F29-3E72-E4AB0DFE0F8D}"/>
                  </a:ext>
                </a:extLst>
              </p:cNvPr>
              <p:cNvSpPr/>
              <p:nvPr/>
            </p:nvSpPr>
            <p:spPr>
              <a:xfrm>
                <a:off x="3104230" y="2359176"/>
                <a:ext cx="2824586" cy="338554"/>
              </a:xfrm>
              <a:prstGeom prst="rect">
                <a:avLst/>
              </a:prstGeom>
            </p:spPr>
            <p:txBody>
              <a:bodyPr vertOverflow="overflow" wrap="square">
                <a:spAutoFit/>
              </a:bodyPr>
              <a:lstStyle/>
              <a:p>
                <a:pPr algn="ctr"/>
                <a:r>
                  <a:rPr lang="uk-UA" altLang="zh-CN" sz="1600" b="1" dirty="0">
                    <a:latin typeface="Inter" panose="020B0502030000000004" pitchFamily="34" charset="0"/>
                    <a:ea typeface="Inter" panose="020B0502030000000004" pitchFamily="34" charset="0"/>
                    <a:cs typeface="Times New Roman"/>
                    <a:sym typeface="Inter" panose="020B0502030000000004" pitchFamily="34" charset="0"/>
                  </a:rPr>
                  <a:t>Сенсорний екран</a:t>
                </a:r>
                <a:endParaRPr lang="en-US" altLang="zh-CN" sz="1600" b="1" dirty="0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247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89DFA-063D-DD34-F59A-4711D58CA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33E7E9-3EEE-5CFD-865C-E612E62FF2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109894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CAF45-5AC2-21DC-F034-3C567FD0B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3168"/>
          </a:xfrm>
        </p:spPr>
        <p:txBody>
          <a:bodyPr>
            <a:normAutofit fontScale="90000"/>
          </a:bodyPr>
          <a:lstStyle/>
          <a:p>
            <a:pPr algn="ctr"/>
            <a:r>
              <a:rPr lang="uk-UA" b="1" dirty="0"/>
              <a:t>Технічні характеристики </a:t>
            </a:r>
            <a:r>
              <a:rPr lang="en-US" b="1" dirty="0" err="1"/>
              <a:t>імунофлуорисцентн</a:t>
            </a:r>
            <a:r>
              <a:rPr lang="uk-UA" b="1" dirty="0"/>
              <a:t>ого</a:t>
            </a:r>
            <a:r>
              <a:rPr lang="en-US" b="1" dirty="0"/>
              <a:t> </a:t>
            </a:r>
            <a:r>
              <a:rPr lang="en-US" b="1" dirty="0" err="1"/>
              <a:t>аналізатор</a:t>
            </a:r>
            <a:r>
              <a:rPr lang="uk-UA" b="1" dirty="0"/>
              <a:t>а</a:t>
            </a:r>
            <a:r>
              <a:rPr lang="en-US" b="1" dirty="0"/>
              <a:t> LS-2100</a:t>
            </a:r>
            <a:endParaRPr lang="uk-UA" dirty="0"/>
          </a:p>
        </p:txBody>
      </p:sp>
      <p:pic>
        <p:nvPicPr>
          <p:cNvPr id="5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8D65E278-8882-4F2A-40A7-526018462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092" y="5789831"/>
            <a:ext cx="1549566" cy="91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Об'єкт 8">
            <a:extLst>
              <a:ext uri="{FF2B5EF4-FFF2-40B4-BE49-F238E27FC236}">
                <a16:creationId xmlns:a16="http://schemas.microsoft.com/office/drawing/2014/main" id="{82E037F4-BC88-B54B-0A66-4701E65D3E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104455"/>
              </p:ext>
            </p:extLst>
          </p:nvPr>
        </p:nvGraphicFramePr>
        <p:xfrm>
          <a:off x="6138863" y="1643063"/>
          <a:ext cx="4394229" cy="492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4023360" imgH="4739656" progId="Excel.Sheet.12">
                  <p:embed/>
                </p:oleObj>
              </mc:Choice>
              <mc:Fallback>
                <p:oleObj name="Worksheet" r:id="rId6" imgW="4023360" imgH="473965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>
                        <a:alphaModFix amt="69000"/>
                      </a:blip>
                      <a:stretch>
                        <a:fillRect/>
                      </a:stretch>
                    </p:blipFill>
                    <p:spPr>
                      <a:xfrm>
                        <a:off x="6138863" y="1643063"/>
                        <a:ext cx="4394229" cy="492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38995A6-0489-61FA-9017-A74D446D2B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7" t="5077" r="6599" b="6219"/>
          <a:stretch>
            <a:fillRect/>
          </a:stretch>
        </p:blipFill>
        <p:spPr>
          <a:xfrm>
            <a:off x="89452" y="1643420"/>
            <a:ext cx="6006546" cy="443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89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1CA2-E74D-3712-0068-9161DCDB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1D0CA4-1DDB-3686-4BD8-EE1C8F9810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A12D6-AABB-BFF8-8BF4-71EF8CB4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0827"/>
            <a:ext cx="10515600" cy="1325563"/>
          </a:xfrm>
        </p:spPr>
        <p:txBody>
          <a:bodyPr/>
          <a:lstStyle/>
          <a:p>
            <a:pPr algn="ctr"/>
            <a:r>
              <a:rPr lang="uk-UA" b="1" dirty="0"/>
              <a:t>Меню українською мовою</a:t>
            </a:r>
          </a:p>
        </p:txBody>
      </p:sp>
      <p:pic>
        <p:nvPicPr>
          <p:cNvPr id="5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765C7E4D-7976-210F-CB4F-A95C8EA59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979" y="5769952"/>
            <a:ext cx="1549566" cy="91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FC0C9E-AA24-0E6B-1CB9-10E117AF64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60" t="28246" r="18560" b="8790"/>
          <a:stretch>
            <a:fillRect/>
          </a:stretch>
        </p:blipFill>
        <p:spPr>
          <a:xfrm rot="16200000">
            <a:off x="8344300" y="286096"/>
            <a:ext cx="2843271" cy="4373220"/>
          </a:xfrm>
          <a:prstGeom prst="rect">
            <a:avLst/>
          </a:prstGeom>
        </p:spPr>
      </p:pic>
      <p:pic>
        <p:nvPicPr>
          <p:cNvPr id="13" name="Місце для вмісту 12">
            <a:extLst>
              <a:ext uri="{FF2B5EF4-FFF2-40B4-BE49-F238E27FC236}">
                <a16:creationId xmlns:a16="http://schemas.microsoft.com/office/drawing/2014/main" id="{7E9A8621-62A1-5E50-679A-20FE12E8D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rcRect l="14833" t="4222" r="11308" b="3185"/>
          <a:stretch>
            <a:fillRect/>
          </a:stretch>
        </p:blipFill>
        <p:spPr>
          <a:xfrm rot="16200000">
            <a:off x="1386112" y="-84467"/>
            <a:ext cx="3921025" cy="655409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F6E3DC3-2E0F-CBB1-B5B9-D03407AE564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585" t="36232" r="27585" b="12367"/>
          <a:stretch>
            <a:fillRect/>
          </a:stretch>
        </p:blipFill>
        <p:spPr>
          <a:xfrm rot="16200000">
            <a:off x="6678156" y="3164298"/>
            <a:ext cx="2788777" cy="426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8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36CEA-4DCD-31DF-486A-0561C7F68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580E9A-3A6C-8901-C764-48123C9216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718353-2388-9807-7755-A7E96A3C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uk-UA" b="1" dirty="0"/>
              <a:t>Процедура тестування на </a:t>
            </a:r>
            <a:r>
              <a:rPr lang="en-US" b="1" dirty="0"/>
              <a:t>LS-2100</a:t>
            </a:r>
            <a:endParaRPr lang="uk-UA" b="1" dirty="0"/>
          </a:p>
        </p:txBody>
      </p:sp>
      <p:pic>
        <p:nvPicPr>
          <p:cNvPr id="5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391FCF90-5AAD-B695-5B1A-7A9A855D3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979" y="5769952"/>
            <a:ext cx="1549566" cy="91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LS-2100 Dry Fluorescence Immunoassay Analyzer (8 channels） company |  Lansion Biotechnology Co., Ltd.">
            <a:extLst>
              <a:ext uri="{FF2B5EF4-FFF2-40B4-BE49-F238E27FC236}">
                <a16:creationId xmlns:a16="http://schemas.microsoft.com/office/drawing/2014/main" id="{270E0B76-CDED-D718-ED95-851E790979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" t="4022" r="3221" b="3656"/>
          <a:stretch>
            <a:fillRect/>
          </a:stretch>
        </p:blipFill>
        <p:spPr bwMode="auto">
          <a:xfrm>
            <a:off x="1852120" y="1134713"/>
            <a:ext cx="8487759" cy="5443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049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2D64C78-81C5-2D97-829D-E1EABB3FAB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11418" y="-144463"/>
            <a:ext cx="12411785" cy="7146925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2E76D57-D6C0-0BF9-A612-3EBD94E5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83" y="0"/>
            <a:ext cx="10866782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500" b="1" dirty="0"/>
              <a:t>8-канальний </a:t>
            </a:r>
            <a:r>
              <a:rPr lang="en-US" sz="4500" b="1" dirty="0" err="1"/>
              <a:t>імунофлуорисцентний</a:t>
            </a:r>
            <a:r>
              <a:rPr lang="en-US" sz="4500" b="1" dirty="0"/>
              <a:t> </a:t>
            </a:r>
            <a:r>
              <a:rPr lang="en-US" sz="4500" b="1" dirty="0" err="1"/>
              <a:t>аналізатор</a:t>
            </a:r>
            <a:r>
              <a:rPr lang="en-US" sz="4500" b="1" dirty="0"/>
              <a:t> LS-2100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5463A6FF-DD5F-2CF5-C32C-1CF15B0806B7}"/>
              </a:ext>
            </a:extLst>
          </p:cNvPr>
          <p:cNvSpPr txBox="1">
            <a:spLocks/>
          </p:cNvSpPr>
          <p:nvPr/>
        </p:nvSpPr>
        <p:spPr>
          <a:xfrm>
            <a:off x="7866895" y="2483774"/>
            <a:ext cx="4232080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500" b="1" dirty="0" err="1"/>
              <a:t>Вартість</a:t>
            </a:r>
            <a:r>
              <a:rPr lang="en-US" sz="5500" b="1" dirty="0"/>
              <a:t> </a:t>
            </a:r>
            <a:r>
              <a:rPr lang="en-US" sz="5500" b="1" dirty="0" err="1"/>
              <a:t>аналізатору</a:t>
            </a:r>
            <a:r>
              <a:rPr lang="en-US" sz="5500" b="1" dirty="0"/>
              <a:t>  150 000 </a:t>
            </a:r>
            <a:r>
              <a:rPr lang="en-US" sz="5500" b="1" dirty="0" err="1"/>
              <a:t>грн</a:t>
            </a:r>
            <a:r>
              <a:rPr lang="en-US" sz="5500" b="1" dirty="0"/>
              <a:t> </a:t>
            </a:r>
          </a:p>
          <a:p>
            <a:pPr marL="0"/>
            <a:endParaRPr lang="en-US" sz="2000" dirty="0"/>
          </a:p>
        </p:txBody>
      </p:sp>
      <p:pic>
        <p:nvPicPr>
          <p:cNvPr id="5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56A23A8A-2573-E7E7-0827-E50406F83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979" y="5769952"/>
            <a:ext cx="1549566" cy="91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loading... [370x259]">
            <a:extLst>
              <a:ext uri="{FF2B5EF4-FFF2-40B4-BE49-F238E27FC236}">
                <a16:creationId xmlns:a16="http://schemas.microsoft.com/office/drawing/2014/main" id="{2D43EA29-0F78-9DA8-249F-A6F3814F77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0" t="8181" r="6791" b="7966"/>
          <a:stretch>
            <a:fillRect/>
          </a:stretch>
        </p:blipFill>
        <p:spPr bwMode="auto">
          <a:xfrm>
            <a:off x="386928" y="1599066"/>
            <a:ext cx="7333537" cy="508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64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F8D80-076D-1418-0032-C544D5DD5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EEDA9C9-D086-F361-0BE8-46AD1DEBA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8D9BF56-BB5C-FC29-D043-8F7387B00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0D522A-B828-6812-3BEA-DCF8F997A5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2" t="2022" r="-12"/>
          <a:stretch>
            <a:fillRect/>
          </a:stretch>
        </p:blipFill>
        <p:spPr>
          <a:xfrm>
            <a:off x="-109893" y="0"/>
            <a:ext cx="12411785" cy="7002462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221B1C7-46D8-1E9D-89EB-991D443F0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82" y="465286"/>
            <a:ext cx="10866782" cy="913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uk-UA" sz="4500" b="1" dirty="0"/>
              <a:t>Конкуренти</a:t>
            </a:r>
            <a:endParaRPr lang="en-US" sz="4500" b="1" dirty="0"/>
          </a:p>
        </p:txBody>
      </p:sp>
      <p:pic>
        <p:nvPicPr>
          <p:cNvPr id="5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DA3D536F-055E-76FE-0103-7BE32B45B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979" y="5769952"/>
            <a:ext cx="1549566" cy="91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Місце для вмісту 1">
            <a:extLst>
              <a:ext uri="{FF2B5EF4-FFF2-40B4-BE49-F238E27FC236}">
                <a16:creationId xmlns:a16="http://schemas.microsoft.com/office/drawing/2014/main" id="{ABA60971-1B0E-7CB5-5B15-1CA1AD1D1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067" y="1358121"/>
            <a:ext cx="3675388" cy="99708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00" b="1" dirty="0" err="1"/>
              <a:t>Genrui</a:t>
            </a:r>
            <a:r>
              <a:rPr lang="en-US" sz="2500" b="1" dirty="0"/>
              <a:t> FA30</a:t>
            </a:r>
            <a:r>
              <a:rPr lang="uk-UA" sz="2500" b="1" dirty="0"/>
              <a:t>, </a:t>
            </a:r>
            <a:r>
              <a:rPr lang="uk-UA" sz="2500" b="1" dirty="0" err="1"/>
              <a:t>Діамеб</a:t>
            </a:r>
            <a:br>
              <a:rPr lang="uk-UA" sz="2500" b="1" dirty="0"/>
            </a:br>
            <a:r>
              <a:rPr lang="uk-UA" sz="2500" b="1" dirty="0"/>
              <a:t>12 каналів</a:t>
            </a:r>
            <a:br>
              <a:rPr lang="uk-UA" sz="2500" b="1" dirty="0"/>
            </a:br>
            <a:r>
              <a:rPr lang="uk-UA" sz="2500" b="1" dirty="0"/>
              <a:t>200 000 грн</a:t>
            </a:r>
            <a:endParaRPr lang="en-US" sz="2500" b="1" dirty="0"/>
          </a:p>
        </p:txBody>
      </p:sp>
      <p:pic>
        <p:nvPicPr>
          <p:cNvPr id="6146" name="Picture 2" descr="Кількісний експрес-аналізатор FA30">
            <a:extLst>
              <a:ext uri="{FF2B5EF4-FFF2-40B4-BE49-F238E27FC236}">
                <a16:creationId xmlns:a16="http://schemas.microsoft.com/office/drawing/2014/main" id="{65284313-0EB4-8A1E-35AD-A6F399FCEF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6800" r="93200">
                        <a14:foregroundMark x1="9600" y1="29000" x2="18800" y2="40400"/>
                        <a14:foregroundMark x1="9400" y1="27600" x2="41000" y2="25600"/>
                        <a14:foregroundMark x1="49400" y1="23800" x2="67000" y2="26000"/>
                        <a14:foregroundMark x1="67419" y1="22525" x2="11400" y2="24600"/>
                        <a14:foregroundMark x1="9400" y1="24600" x2="10400" y2="26000"/>
                        <a14:foregroundMark x1="7688" y1="24194" x2="8600" y2="24600"/>
                        <a14:foregroundMark x1="84200" y1="64600" x2="90000" y2="56000"/>
                        <a14:foregroundMark x1="90000" y1="56000" x2="90000" y2="56000"/>
                        <a14:foregroundMark x1="89400" y1="63200" x2="89000" y2="65400"/>
                        <a14:foregroundMark x1="88200" y1="64600" x2="90600" y2="64600"/>
                        <a14:foregroundMark x1="92000" y1="64800" x2="89200" y2="64600"/>
                        <a14:foregroundMark x1="81200" y1="59600" x2="56600" y2="59600"/>
                        <a14:foregroundMark x1="92200" y1="40200" x2="92338" y2="40891"/>
                        <a14:foregroundMark x1="66000" y1="26200" x2="57800" y2="27200"/>
                        <a14:foregroundMark x1="73669" y1="23263" x2="74400" y2="23400"/>
                        <a14:foregroundMark x1="76645" y1="25300" x2="81800" y2="34000"/>
                        <a14:foregroundMark x1="81800" y1="34000" x2="81800" y2="34400"/>
                        <a14:foregroundMark x1="89200" y1="65800" x2="90400" y2="65200"/>
                        <a14:foregroundMark x1="92400" y1="63000" x2="92000" y2="63800"/>
                        <a14:foregroundMark x1="92000" y1="62200" x2="92000" y2="62200"/>
                        <a14:foregroundMark x1="92200" y1="59200" x2="92000" y2="61600"/>
                        <a14:foregroundMark x1="92200" y1="58200" x2="91600" y2="52200"/>
                        <a14:foregroundMark x1="92400" y1="55600" x2="92400" y2="49800"/>
                        <a14:foregroundMark x1="92400" y1="49800" x2="92400" y2="49800"/>
                        <a14:foregroundMark x1="92400" y1="47800" x2="92400" y2="41800"/>
                        <a14:foregroundMark x1="92600" y1="49600" x2="92400" y2="47200"/>
                        <a14:foregroundMark x1="70400" y1="22800" x2="70800" y2="23400"/>
                        <a14:foregroundMark x1="73200" y1="23800" x2="71600" y2="23400"/>
                        <a14:foregroundMark x1="71600" y1="23200" x2="70800" y2="22800"/>
                        <a14:foregroundMark x1="73400" y1="23400" x2="74800" y2="24000"/>
                        <a14:foregroundMark x1="74800" y1="23800" x2="75200" y2="24200"/>
                        <a14:backgroundMark x1="6000" y1="24600" x2="7400" y2="23200"/>
                        <a14:backgroundMark x1="6600" y1="24200" x2="7800" y2="24000"/>
                        <a14:backgroundMark x1="74961" y1="21580" x2="74600" y2="21400"/>
                        <a14:backgroundMark x1="71800" y1="21000" x2="71650" y2="20985"/>
                        <a14:backgroundMark x1="72898" y1="22166" x2="74200" y2="22600"/>
                        <a14:backgroundMark x1="68800" y1="20800" x2="70016" y2="21206"/>
                        <a14:backgroundMark x1="94200" y1="41000" x2="94000" y2="44400"/>
                        <a14:backgroundMark x1="93000" y1="43800" x2="93400" y2="4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60" t="19322" r="4540" b="17701"/>
          <a:stretch>
            <a:fillRect/>
          </a:stretch>
        </p:blipFill>
        <p:spPr bwMode="auto">
          <a:xfrm>
            <a:off x="759514" y="2300131"/>
            <a:ext cx="5437787" cy="370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Місце для вмісту 1">
            <a:extLst>
              <a:ext uri="{FF2B5EF4-FFF2-40B4-BE49-F238E27FC236}">
                <a16:creationId xmlns:a16="http://schemas.microsoft.com/office/drawing/2014/main" id="{07DDD25E-57D4-9DE0-6EBF-2EBD72A7983E}"/>
              </a:ext>
            </a:extLst>
          </p:cNvPr>
          <p:cNvSpPr txBox="1">
            <a:spLocks/>
          </p:cNvSpPr>
          <p:nvPr/>
        </p:nvSpPr>
        <p:spPr>
          <a:xfrm>
            <a:off x="7104404" y="1327757"/>
            <a:ext cx="3425821" cy="9970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cap="all" dirty="0" err="1">
                <a:solidFill>
                  <a:srgbClr val="222222"/>
                </a:solidFill>
              </a:rPr>
              <a:t>Getein</a:t>
            </a:r>
            <a:r>
              <a:rPr lang="en-US" sz="2500" b="1" cap="all" dirty="0">
                <a:solidFill>
                  <a:srgbClr val="222222"/>
                </a:solidFill>
              </a:rPr>
              <a:t> 1160</a:t>
            </a:r>
            <a:r>
              <a:rPr lang="uk-UA" sz="2500" b="1" cap="all" dirty="0">
                <a:solidFill>
                  <a:srgbClr val="222222"/>
                </a:solidFill>
              </a:rPr>
              <a:t>, ХЛР</a:t>
            </a:r>
            <a:br>
              <a:rPr lang="uk-UA" sz="2500" b="1" dirty="0"/>
            </a:br>
            <a:r>
              <a:rPr lang="uk-UA" sz="2500" b="1" dirty="0"/>
              <a:t>4 канали</a:t>
            </a:r>
            <a:br>
              <a:rPr lang="uk-UA" sz="2500" b="1" dirty="0"/>
            </a:br>
            <a:r>
              <a:rPr lang="uk-UA" sz="2500" b="1" dirty="0"/>
              <a:t>91 000 грн</a:t>
            </a:r>
            <a:endParaRPr lang="en-US" sz="2500" b="1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AF56A2A6-5AF8-C969-A026-D8B76EF362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5600" r="90000">
                        <a14:foregroundMark x1="11400" y1="37200" x2="9500" y2="53300"/>
                        <a14:foregroundMark x1="12000" y1="53300" x2="63000" y2="63200"/>
                        <a14:foregroundMark x1="58600" y1="70000" x2="21700" y2="69100"/>
                        <a14:foregroundMark x1="58100" y1="74500" x2="81800" y2="59900"/>
                        <a14:foregroundMark x1="81000" y1="52300" x2="76300" y2="71600"/>
                        <a14:foregroundMark x1="40700" y1="75800" x2="59100" y2="79000"/>
                        <a14:foregroundMark x1="17100" y1="67100" x2="13100" y2="57700"/>
                        <a14:foregroundMark x1="13100" y1="57700" x2="13100" y2="56500"/>
                        <a14:foregroundMark x1="9700" y1="61900" x2="8900" y2="48600"/>
                        <a14:foregroundMark x1="7800" y1="43800" x2="6500" y2="60400"/>
                        <a14:foregroundMark x1="8400" y1="65800" x2="10000" y2="45400"/>
                        <a14:foregroundMark x1="61000" y1="82600" x2="80100" y2="64800"/>
                        <a14:foregroundMark x1="86800" y1="50300" x2="82000" y2="27200"/>
                        <a14:foregroundMark x1="82000" y1="28300" x2="49500" y2="20000"/>
                        <a14:foregroundMark x1="80700" y1="33900" x2="43600" y2="24300"/>
                        <a14:foregroundMark x1="47600" y1="22900" x2="68100" y2="28000"/>
                        <a14:foregroundMark x1="74400" y1="30400" x2="54700" y2="26400"/>
                        <a14:foregroundMark x1="45600" y1="20700" x2="35900" y2="18300"/>
                        <a14:foregroundMark x1="33000" y1="18600" x2="49400" y2="23900"/>
                        <a14:foregroundMark x1="32600" y1="18400" x2="27500" y2="19100"/>
                        <a14:foregroundMark x1="6900" y1="60100" x2="6900" y2="64674"/>
                        <a14:foregroundMark x1="6300" y1="61400" x2="5900" y2="63800"/>
                        <a14:foregroundMark x1="6600" y1="62500" x2="6274" y2="65104"/>
                        <a14:foregroundMark x1="7100" y1="43800" x2="6600" y2="62600"/>
                        <a14:foregroundMark x1="6200" y1="43500" x2="6800" y2="64300"/>
                        <a14:foregroundMark x1="6300" y1="43500" x2="5746" y2="64155"/>
                        <a14:foregroundMark x1="9700" y1="67700" x2="5500" y2="64900"/>
                        <a14:backgroundMark x1="8600" y1="68600" x2="4400" y2="66700"/>
                        <a14:backgroundMark x1="6600" y1="69300" x2="4700" y2="68400"/>
                        <a14:backgroundMark x1="6245" y1="66730" x2="6600" y2="67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94" t="12898" r="8503" b="11305"/>
          <a:stretch>
            <a:fillRect/>
          </a:stretch>
        </p:blipFill>
        <p:spPr bwMode="auto">
          <a:xfrm>
            <a:off x="6844837" y="2324845"/>
            <a:ext cx="4527075" cy="387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505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70A57-58DE-24B4-AEC0-559C8F05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B639FB3-0767-7286-1E9E-9FBD38108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500CCCA-3E01-8DC5-39CD-EBFDCF98C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7AFA54-5748-15BB-DDBB-6798FB46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11418" y="-144463"/>
            <a:ext cx="12411785" cy="7146925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69B2A8B-9A8B-CBFD-DBF8-7D17219F2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83" y="377194"/>
            <a:ext cx="10866782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ru-RU" sz="4500" b="1" dirty="0"/>
              <a:t>СПИСОК НЕОБХІДНИХ МАТЕРІАЛІВ ДЛЯ РОБОТИ З </a:t>
            </a:r>
            <a:r>
              <a:rPr lang="en-US" sz="4500" b="1" dirty="0"/>
              <a:t>LS-2100</a:t>
            </a:r>
          </a:p>
        </p:txBody>
      </p:sp>
      <p:pic>
        <p:nvPicPr>
          <p:cNvPr id="5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E26CD829-2E4B-5234-836D-46CEF11FC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979" y="5769952"/>
            <a:ext cx="1549566" cy="91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S-2100 Dry Fluorescence Immunoassay Analyzer (8 channels） company |  Lansion Biotechnology Co., Ltd.">
            <a:extLst>
              <a:ext uri="{FF2B5EF4-FFF2-40B4-BE49-F238E27FC236}">
                <a16:creationId xmlns:a16="http://schemas.microsoft.com/office/drawing/2014/main" id="{E1761807-49B4-75AD-68C5-D29F99521B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2" t="11061" r="8987" b="7081"/>
          <a:stretch>
            <a:fillRect/>
          </a:stretch>
        </p:blipFill>
        <p:spPr bwMode="auto">
          <a:xfrm>
            <a:off x="7078101" y="2178379"/>
            <a:ext cx="4998496" cy="3447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Місце для вмісту 2">
            <a:extLst>
              <a:ext uri="{FF2B5EF4-FFF2-40B4-BE49-F238E27FC236}">
                <a16:creationId xmlns:a16="http://schemas.microsoft.com/office/drawing/2014/main" id="{58423D3D-6693-1CCB-A4C6-40975266376C}"/>
              </a:ext>
            </a:extLst>
          </p:cNvPr>
          <p:cNvSpPr txBox="1">
            <a:spLocks/>
          </p:cNvSpPr>
          <p:nvPr/>
        </p:nvSpPr>
        <p:spPr>
          <a:xfrm>
            <a:off x="115403" y="2559660"/>
            <a:ext cx="6906990" cy="2913714"/>
          </a:xfrm>
          <a:prstGeom prst="rect">
            <a:avLst/>
          </a:prstGeom>
          <a:solidFill>
            <a:schemeClr val="bg1">
              <a:alpha val="74000"/>
            </a:schemeClr>
          </a:solidFill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uk-UA" sz="3300" dirty="0"/>
              <a:t>Підготовлене приміщення для аналізатору;</a:t>
            </a:r>
          </a:p>
          <a:p>
            <a:pPr algn="just"/>
            <a:r>
              <a:rPr lang="uk-UA" sz="3300" dirty="0"/>
              <a:t>Персонал для навчання (до 3 осіб одночасного навчання);</a:t>
            </a:r>
          </a:p>
          <a:p>
            <a:pPr algn="just"/>
            <a:r>
              <a:rPr lang="uk-UA" sz="3300" dirty="0"/>
              <a:t>Системи для забору венозної крові;</a:t>
            </a:r>
          </a:p>
          <a:p>
            <a:pPr algn="just"/>
            <a:r>
              <a:rPr lang="uk-UA" sz="3300" dirty="0"/>
              <a:t>Тест-системи, відповідні контролі;</a:t>
            </a:r>
          </a:p>
          <a:p>
            <a:pPr algn="just"/>
            <a:r>
              <a:rPr lang="uk-UA" sz="3300" dirty="0"/>
              <a:t>Центрифуга потужністю від 1500-3000 об/хв;</a:t>
            </a:r>
          </a:p>
          <a:p>
            <a:pPr algn="just"/>
            <a:r>
              <a:rPr lang="uk-UA" sz="3300" dirty="0"/>
              <a:t>Холодильник;</a:t>
            </a:r>
          </a:p>
          <a:p>
            <a:pPr algn="just"/>
            <a:r>
              <a:rPr lang="uk-UA" sz="3300" dirty="0"/>
              <a:t>Дозатори змінного об’єму: 5-50 </a:t>
            </a:r>
            <a:r>
              <a:rPr lang="uk-UA" sz="3300" dirty="0" err="1"/>
              <a:t>мкл</a:t>
            </a:r>
            <a:r>
              <a:rPr lang="uk-UA" sz="3300" dirty="0"/>
              <a:t>, 20-200 </a:t>
            </a:r>
            <a:r>
              <a:rPr lang="uk-UA" sz="3300" dirty="0" err="1"/>
              <a:t>мкл</a:t>
            </a:r>
            <a:r>
              <a:rPr lang="uk-UA" sz="3300" dirty="0"/>
              <a:t>, 100-1000 </a:t>
            </a:r>
            <a:r>
              <a:rPr lang="uk-UA" sz="3300" dirty="0" err="1"/>
              <a:t>мкл</a:t>
            </a:r>
            <a:r>
              <a:rPr lang="uk-UA" sz="3300" dirty="0"/>
              <a:t>;</a:t>
            </a:r>
          </a:p>
          <a:p>
            <a:pPr algn="just"/>
            <a:r>
              <a:rPr lang="uk-UA" sz="3300" dirty="0"/>
              <a:t>Наконечники до дозаторів відповідного об’єму (кількість залежить від обсягу досліджень). </a:t>
            </a:r>
          </a:p>
        </p:txBody>
      </p:sp>
    </p:spTree>
    <p:extLst>
      <p:ext uri="{BB962C8B-B14F-4D97-AF65-F5344CB8AC3E}">
        <p14:creationId xmlns:p14="http://schemas.microsoft.com/office/powerpoint/2010/main" val="23609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226A0-7AB9-76F2-57B6-55BA7F81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551BF020-89C5-1A01-ADF6-8FD62F6FC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5EC8028C-3D8C-7A2D-F53F-3F22F3CC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BA7296-F56E-54FB-E472-0EBC3B901B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11419" y="-144463"/>
            <a:ext cx="12411785" cy="7146925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67BD53-F5D9-FEA4-D526-9F4D061A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82" y="465286"/>
            <a:ext cx="10866782" cy="12044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uk-UA" sz="4500" b="1" dirty="0"/>
              <a:t>Спеціальні комерційні пропозиції</a:t>
            </a:r>
            <a:endParaRPr lang="en-US" sz="4500" b="1" dirty="0"/>
          </a:p>
        </p:txBody>
      </p:sp>
      <p:pic>
        <p:nvPicPr>
          <p:cNvPr id="5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5CFFC212-DFAF-FB8C-C5CD-845C8875B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979" y="5769952"/>
            <a:ext cx="1549566" cy="91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Місце для вмісту 1">
            <a:extLst>
              <a:ext uri="{FF2B5EF4-FFF2-40B4-BE49-F238E27FC236}">
                <a16:creationId xmlns:a16="http://schemas.microsoft.com/office/drawing/2014/main" id="{C77F7D4F-2911-92FF-ABB6-D58E51323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86" y="1528299"/>
            <a:ext cx="9575565" cy="803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500" dirty="0"/>
              <a:t>1. Програма «</a:t>
            </a:r>
            <a:r>
              <a:rPr lang="en-US" sz="2500" b="1" dirty="0"/>
              <a:t>LS-2100 </a:t>
            </a:r>
            <a:r>
              <a:rPr lang="uk-UA" sz="2500" b="1" dirty="0"/>
              <a:t>в подарунок для нових користувачів</a:t>
            </a:r>
            <a:r>
              <a:rPr lang="uk-UA" sz="2500" dirty="0"/>
              <a:t>»	</a:t>
            </a:r>
          </a:p>
        </p:txBody>
      </p:sp>
      <p:pic>
        <p:nvPicPr>
          <p:cNvPr id="8194" name="Picture 2" descr="LS-2100 Dry Fluorescence Immunoassay Analyzer (8 channels） company |  Lansion Biotechnology Co., Ltd.">
            <a:extLst>
              <a:ext uri="{FF2B5EF4-FFF2-40B4-BE49-F238E27FC236}">
                <a16:creationId xmlns:a16="http://schemas.microsoft.com/office/drawing/2014/main" id="{8CF1E71B-1518-486A-4871-85CED0548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019" y="1725993"/>
            <a:ext cx="6666742" cy="466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Місце для вмісту 1">
            <a:extLst>
              <a:ext uri="{FF2B5EF4-FFF2-40B4-BE49-F238E27FC236}">
                <a16:creationId xmlns:a16="http://schemas.microsoft.com/office/drawing/2014/main" id="{98EDE586-3F18-D7D9-3E55-CFFFAA7F52B2}"/>
              </a:ext>
            </a:extLst>
          </p:cNvPr>
          <p:cNvSpPr txBox="1">
            <a:spLocks/>
          </p:cNvSpPr>
          <p:nvPr/>
        </p:nvSpPr>
        <p:spPr>
          <a:xfrm>
            <a:off x="-177371" y="1812789"/>
            <a:ext cx="5617398" cy="4799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uk-UA" sz="2500" dirty="0"/>
              <a:t>	</a:t>
            </a:r>
          </a:p>
          <a:p>
            <a:pPr marL="457200" lvl="1" indent="0" algn="just">
              <a:buFont typeface="Arial" panose="020B0604020202020204" pitchFamily="34" charset="0"/>
              <a:buNone/>
            </a:pPr>
            <a:r>
              <a:rPr lang="uk-UA" sz="2100" dirty="0">
                <a:solidFill>
                  <a:srgbClr val="00B050"/>
                </a:solidFill>
              </a:rPr>
              <a:t>✔ </a:t>
            </a:r>
            <a:r>
              <a:rPr lang="uk-UA" sz="2100" b="1" dirty="0"/>
              <a:t>Закупівля тест-систем </a:t>
            </a:r>
            <a:r>
              <a:rPr lang="en-US" sz="2100" b="1" dirty="0" err="1"/>
              <a:t>Lansionbio</a:t>
            </a:r>
            <a:r>
              <a:rPr lang="uk-UA" sz="2100" b="1" dirty="0"/>
              <a:t> на суму 400 000 грн = прилад у подарунок</a:t>
            </a:r>
            <a:r>
              <a:rPr lang="uk-UA" sz="2100" dirty="0"/>
              <a:t>.</a:t>
            </a:r>
            <a:endParaRPr lang="uk-UA" sz="2100" dirty="0">
              <a:solidFill>
                <a:srgbClr val="00B050"/>
              </a:solidFill>
            </a:endParaRPr>
          </a:p>
          <a:p>
            <a:pPr marL="457200" lvl="1" indent="0" algn="just">
              <a:buFont typeface="Arial" panose="020B0604020202020204" pitchFamily="34" charset="0"/>
              <a:buNone/>
            </a:pPr>
            <a:endParaRPr lang="uk-UA" sz="2100" dirty="0">
              <a:solidFill>
                <a:srgbClr val="00B050"/>
              </a:solidFill>
            </a:endParaRPr>
          </a:p>
          <a:p>
            <a:pPr marL="457200" lvl="1" indent="0" algn="just">
              <a:buFont typeface="Arial" panose="020B0604020202020204" pitchFamily="34" charset="0"/>
              <a:buNone/>
            </a:pPr>
            <a:r>
              <a:rPr lang="uk-UA" sz="2100" dirty="0">
                <a:solidFill>
                  <a:srgbClr val="00B050"/>
                </a:solidFill>
              </a:rPr>
              <a:t>✔</a:t>
            </a:r>
            <a:r>
              <a:rPr lang="uk-UA" sz="2100" b="1" dirty="0"/>
              <a:t>Одноразова закупівля на 200 00 грн тест-систем </a:t>
            </a:r>
            <a:r>
              <a:rPr lang="uk-UA" sz="2100" dirty="0"/>
              <a:t>аналізатор передається </a:t>
            </a:r>
            <a:r>
              <a:rPr lang="uk-UA" sz="2100" b="1" dirty="0"/>
              <a:t>у користування </a:t>
            </a:r>
            <a:r>
              <a:rPr lang="uk-UA" sz="2100" dirty="0"/>
              <a:t>за договором відповідального зберігання. При досягненні </a:t>
            </a:r>
            <a:r>
              <a:rPr lang="uk-UA" sz="2100" b="1" dirty="0"/>
              <a:t>400 000 грн = прилад у подарунок.</a:t>
            </a:r>
            <a:endParaRPr lang="uk-UA" sz="2100" dirty="0"/>
          </a:p>
          <a:p>
            <a:pPr marL="457200" lvl="1" indent="0" algn="just">
              <a:buFont typeface="Arial" panose="020B0604020202020204" pitchFamily="34" charset="0"/>
              <a:buNone/>
            </a:pPr>
            <a:endParaRPr lang="uk-UA" sz="2100" dirty="0">
              <a:solidFill>
                <a:srgbClr val="00B050"/>
              </a:solidFill>
            </a:endParaRPr>
          </a:p>
          <a:p>
            <a:pPr marL="457200" lvl="1" indent="0" algn="just">
              <a:buFont typeface="Arial" panose="020B0604020202020204" pitchFamily="34" charset="0"/>
              <a:buNone/>
            </a:pPr>
            <a:r>
              <a:rPr lang="uk-UA" sz="2100" dirty="0">
                <a:solidFill>
                  <a:srgbClr val="00B050"/>
                </a:solidFill>
              </a:rPr>
              <a:t>✔ </a:t>
            </a:r>
            <a:r>
              <a:rPr lang="uk-UA" sz="2100" b="1" dirty="0"/>
              <a:t>Одноразова закупівля на 400 000 грн = </a:t>
            </a:r>
            <a:r>
              <a:rPr lang="uk-UA" sz="2100" dirty="0"/>
              <a:t>аналізатор </a:t>
            </a:r>
            <a:r>
              <a:rPr lang="en-US" sz="2100" dirty="0"/>
              <a:t>LS-2100 </a:t>
            </a:r>
            <a:r>
              <a:rPr lang="uk-UA" sz="2100" dirty="0"/>
              <a:t>надається у </a:t>
            </a:r>
            <a:r>
              <a:rPr lang="uk-UA" sz="2100" b="1" dirty="0"/>
              <a:t>подарунок</a:t>
            </a:r>
            <a:r>
              <a:rPr lang="uk-UA" sz="2100" dirty="0"/>
              <a:t>.</a:t>
            </a:r>
            <a:endParaRPr lang="uk-UA" sz="2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500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2A089-4511-CEDB-C9CA-8B1650187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66578209-CB1B-E006-328D-9800243DB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2E7360C5-203B-D88A-9C03-7643EEF6A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F02BEB9-7A61-74BD-26E1-798CD7F017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l="1" t="2022" r="54"/>
          <a:stretch>
            <a:fillRect/>
          </a:stretch>
        </p:blipFill>
        <p:spPr>
          <a:xfrm>
            <a:off x="-108037" y="9939"/>
            <a:ext cx="12405019" cy="7002462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436C94A-7AC8-81FA-D380-C1439B59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82" y="465286"/>
            <a:ext cx="10866782" cy="12044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uk-UA" sz="4500" b="1" dirty="0"/>
              <a:t>Спеціальні комерційні пропозиції</a:t>
            </a:r>
            <a:endParaRPr lang="en-US" sz="4500" b="1" dirty="0"/>
          </a:p>
        </p:txBody>
      </p:sp>
      <p:pic>
        <p:nvPicPr>
          <p:cNvPr id="5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95674279-A273-5BB3-7F1C-CEBCB64C1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979" y="5769952"/>
            <a:ext cx="1549566" cy="91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Місце для вмісту 1">
            <a:extLst>
              <a:ext uri="{FF2B5EF4-FFF2-40B4-BE49-F238E27FC236}">
                <a16:creationId xmlns:a16="http://schemas.microsoft.com/office/drawing/2014/main" id="{56327D99-64C1-CE42-E919-1627F334E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31" y="1669774"/>
            <a:ext cx="7235385" cy="5382543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br>
              <a:rPr lang="uk-UA" sz="2100" dirty="0"/>
            </a:br>
            <a:br>
              <a:rPr lang="uk-UA" sz="2100" dirty="0"/>
            </a:br>
            <a:r>
              <a:rPr lang="uk-UA" sz="2100" dirty="0">
                <a:solidFill>
                  <a:srgbClr val="00B050"/>
                </a:solidFill>
              </a:rPr>
              <a:t>✔</a:t>
            </a:r>
            <a:r>
              <a:rPr lang="ru-RU" sz="2100" dirty="0"/>
              <a:t>Участь у </a:t>
            </a:r>
            <a:r>
              <a:rPr lang="ru-RU" sz="2100" dirty="0" err="1"/>
              <a:t>програмі</a:t>
            </a:r>
            <a:r>
              <a:rPr lang="ru-RU" sz="2100" dirty="0"/>
              <a:t> </a:t>
            </a:r>
            <a:r>
              <a:rPr lang="ru-RU" sz="2100" dirty="0" err="1"/>
              <a:t>можуть</a:t>
            </a:r>
            <a:r>
              <a:rPr lang="ru-RU" sz="2100" dirty="0"/>
              <a:t> </a:t>
            </a:r>
            <a:r>
              <a:rPr lang="ru-RU" sz="2100" dirty="0" err="1"/>
              <a:t>брати</a:t>
            </a:r>
            <a:r>
              <a:rPr lang="ru-RU" sz="2100" dirty="0"/>
              <a:t> установи, </a:t>
            </a:r>
            <a:r>
              <a:rPr lang="ru-RU" sz="2100" b="1" dirty="0" err="1"/>
              <a:t>річний</a:t>
            </a:r>
            <a:r>
              <a:rPr lang="ru-RU" sz="2100" b="1" dirty="0"/>
              <a:t> </a:t>
            </a:r>
            <a:r>
              <a:rPr lang="ru-RU" sz="2100" b="1" dirty="0" err="1"/>
              <a:t>обсяг</a:t>
            </a:r>
            <a:r>
              <a:rPr lang="ru-RU" sz="2100" b="1" dirty="0"/>
              <a:t> </a:t>
            </a:r>
            <a:r>
              <a:rPr lang="ru-RU" sz="2100" b="1" dirty="0" err="1"/>
              <a:t>закупівлі</a:t>
            </a:r>
            <a:r>
              <a:rPr lang="ru-RU" sz="2100" b="1" dirty="0"/>
              <a:t> </a:t>
            </a:r>
            <a:r>
              <a:rPr lang="ru-RU" sz="2100" b="1" dirty="0" err="1"/>
              <a:t>реагентів</a:t>
            </a:r>
            <a:r>
              <a:rPr lang="ru-RU" sz="2100" b="1" dirty="0"/>
              <a:t> за 2025 </a:t>
            </a:r>
            <a:r>
              <a:rPr lang="ru-RU" sz="2100" b="1" dirty="0" err="1"/>
              <a:t>рік</a:t>
            </a:r>
            <a:r>
              <a:rPr lang="ru-RU" sz="2100" b="1" dirty="0"/>
              <a:t> </a:t>
            </a:r>
            <a:r>
              <a:rPr lang="ru-RU" sz="2100" dirty="0" err="1"/>
              <a:t>яких</a:t>
            </a:r>
            <a:r>
              <a:rPr lang="ru-RU" sz="2100" dirty="0"/>
              <a:t> становить </a:t>
            </a:r>
            <a:r>
              <a:rPr lang="ru-RU" sz="2100" b="1" dirty="0"/>
              <a:t>не </a:t>
            </a:r>
            <a:r>
              <a:rPr lang="ru-RU" sz="2100" b="1" dirty="0" err="1"/>
              <a:t>менше</a:t>
            </a:r>
            <a:r>
              <a:rPr lang="ru-RU" sz="2100" b="1" dirty="0"/>
              <a:t> 700 000 грн</a:t>
            </a:r>
            <a:r>
              <a:rPr lang="uk-UA" sz="2100" dirty="0"/>
              <a:t>.</a:t>
            </a:r>
          </a:p>
          <a:p>
            <a:pPr marL="457200" lvl="1" indent="0" algn="just">
              <a:buNone/>
            </a:pPr>
            <a:endParaRPr lang="uk-UA" sz="2100" dirty="0">
              <a:solidFill>
                <a:srgbClr val="00B050"/>
              </a:solidFill>
            </a:endParaRPr>
          </a:p>
          <a:p>
            <a:pPr marL="457200" lvl="1" indent="0" algn="just">
              <a:buNone/>
            </a:pPr>
            <a:r>
              <a:rPr lang="uk-UA" sz="2100" dirty="0">
                <a:solidFill>
                  <a:srgbClr val="00B050"/>
                </a:solidFill>
              </a:rPr>
              <a:t>✔</a:t>
            </a:r>
            <a:r>
              <a:rPr lang="uk-UA" sz="2100" dirty="0"/>
              <a:t> Компанія </a:t>
            </a:r>
            <a:r>
              <a:rPr lang="uk-UA" sz="2100" b="1" dirty="0"/>
              <a:t>надає </a:t>
            </a:r>
            <a:r>
              <a:rPr lang="en-US" sz="2100" b="1" dirty="0"/>
              <a:t>LS-</a:t>
            </a:r>
            <a:r>
              <a:rPr lang="uk-UA" sz="2100" b="1" dirty="0"/>
              <a:t>2</a:t>
            </a:r>
            <a:r>
              <a:rPr lang="en-US" sz="2100" b="1" dirty="0"/>
              <a:t>100</a:t>
            </a:r>
            <a:r>
              <a:rPr lang="uk-UA" sz="2100" b="1" dirty="0"/>
              <a:t> в обмін на </a:t>
            </a:r>
            <a:r>
              <a:rPr lang="en-US" sz="2100" b="1" dirty="0"/>
              <a:t>LS-1100</a:t>
            </a:r>
            <a:r>
              <a:rPr lang="uk-UA" sz="2100" b="1" dirty="0"/>
              <a:t>. </a:t>
            </a:r>
            <a:r>
              <a:rPr lang="uk-UA" sz="2100" dirty="0"/>
              <a:t>ЛПУ повертає компанії </a:t>
            </a:r>
            <a:r>
              <a:rPr lang="en-US" sz="2100" dirty="0"/>
              <a:t>LS-110</a:t>
            </a:r>
            <a:r>
              <a:rPr lang="uk-UA" sz="2100" dirty="0"/>
              <a:t>0 (у погодженій кількості, якщо в установі встановлено декілька приладів), а в замін отримує 8-канальний </a:t>
            </a:r>
            <a:r>
              <a:rPr lang="en-US" sz="2100" dirty="0"/>
              <a:t>LS-</a:t>
            </a:r>
            <a:r>
              <a:rPr lang="uk-UA" sz="2100" dirty="0"/>
              <a:t>2</a:t>
            </a:r>
            <a:r>
              <a:rPr lang="en-US" sz="2100" dirty="0"/>
              <a:t>100</a:t>
            </a:r>
            <a:r>
              <a:rPr lang="uk-UA" sz="2100" dirty="0"/>
              <a:t>.</a:t>
            </a:r>
          </a:p>
          <a:p>
            <a:pPr marL="457200" lvl="1" indent="0" algn="just">
              <a:buNone/>
            </a:pPr>
            <a:endParaRPr lang="uk-UA" sz="2100" dirty="0">
              <a:solidFill>
                <a:srgbClr val="00B050"/>
              </a:solidFill>
            </a:endParaRPr>
          </a:p>
          <a:p>
            <a:pPr marL="457200" lvl="1" indent="0" algn="just">
              <a:buNone/>
            </a:pPr>
            <a:r>
              <a:rPr lang="uk-UA" sz="2100" dirty="0">
                <a:solidFill>
                  <a:srgbClr val="00B050"/>
                </a:solidFill>
              </a:rPr>
              <a:t>✔</a:t>
            </a:r>
            <a:r>
              <a:rPr lang="en-US" sz="2100" dirty="0"/>
              <a:t> </a:t>
            </a:r>
            <a:r>
              <a:rPr lang="uk-UA" sz="2100" dirty="0"/>
              <a:t>Повернуті </a:t>
            </a:r>
            <a:r>
              <a:rPr lang="en-US" sz="2100" dirty="0"/>
              <a:t>LS-110</a:t>
            </a:r>
            <a:r>
              <a:rPr lang="uk-UA" sz="2100" dirty="0"/>
              <a:t>0 </a:t>
            </a:r>
            <a:r>
              <a:rPr lang="uk-UA" sz="2100" b="1" dirty="0"/>
              <a:t>закріплюються за ТПРК даного регіону для подальшого залучення та розвитку нових партнерів по КП «Закупівля реагентів на 50 000 грн і аналізатор </a:t>
            </a:r>
            <a:r>
              <a:rPr lang="en-US" sz="2100" b="1" dirty="0"/>
              <a:t>LS-1100</a:t>
            </a:r>
            <a:r>
              <a:rPr lang="uk-UA" sz="2100" b="1" dirty="0"/>
              <a:t> в подарунок»</a:t>
            </a:r>
            <a:r>
              <a:rPr lang="uk-UA" sz="2100" dirty="0"/>
              <a:t>.</a:t>
            </a:r>
            <a:br>
              <a:rPr lang="uk-UA" sz="2100" dirty="0"/>
            </a:br>
            <a:endParaRPr lang="uk-UA" sz="2100" dirty="0"/>
          </a:p>
          <a:p>
            <a:pPr marL="457200" lvl="1" indent="0" algn="just">
              <a:buNone/>
            </a:pPr>
            <a:r>
              <a:rPr lang="uk-UA" sz="2100" dirty="0">
                <a:solidFill>
                  <a:srgbClr val="00B050"/>
                </a:solidFill>
              </a:rPr>
              <a:t>✔ </a:t>
            </a:r>
            <a:r>
              <a:rPr lang="uk-UA" sz="2100" b="1" dirty="0"/>
              <a:t>Прилад фізично повертається на склад компанії </a:t>
            </a:r>
            <a:r>
              <a:rPr lang="uk-UA" sz="2100" dirty="0"/>
              <a:t>для діагностики, технічних робіт та зберігання. </a:t>
            </a:r>
            <a:br>
              <a:rPr lang="uk-UA" sz="2100" dirty="0"/>
            </a:br>
            <a:br>
              <a:rPr lang="uk-UA" sz="2100" dirty="0"/>
            </a:br>
            <a:r>
              <a:rPr lang="uk-UA" sz="2100" dirty="0">
                <a:solidFill>
                  <a:srgbClr val="00B050"/>
                </a:solidFill>
              </a:rPr>
              <a:t>✔ </a:t>
            </a:r>
            <a:r>
              <a:rPr lang="uk-UA" sz="2100" dirty="0"/>
              <a:t>Інші </a:t>
            </a:r>
            <a:r>
              <a:rPr lang="uk-UA" sz="2100" b="1" dirty="0"/>
              <a:t>індивідуальні умови можливі</a:t>
            </a:r>
            <a:r>
              <a:rPr lang="uk-UA" sz="2100" dirty="0"/>
              <a:t>, проте розглядаються в індивідуальному порядку через службову записку на пошту.  </a:t>
            </a:r>
            <a:br>
              <a:rPr lang="uk-UA" sz="2100" dirty="0"/>
            </a:br>
            <a:br>
              <a:rPr lang="uk-UA" sz="2100" dirty="0"/>
            </a:br>
            <a:endParaRPr lang="uk-UA" sz="2100" dirty="0"/>
          </a:p>
        </p:txBody>
      </p:sp>
      <p:pic>
        <p:nvPicPr>
          <p:cNvPr id="3" name="Picture 2" descr="LS-2100 Dry Fluorescence Immunoassay Analyzer (8 channels） company |  Lansion Biotechnology Co., Ltd.">
            <a:extLst>
              <a:ext uri="{FF2B5EF4-FFF2-40B4-BE49-F238E27FC236}">
                <a16:creationId xmlns:a16="http://schemas.microsoft.com/office/drawing/2014/main" id="{412FE903-F6A3-E189-3E35-1A5FCC5D1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7" t="5337" r="5491" b="8875"/>
          <a:stretch>
            <a:fillRect/>
          </a:stretch>
        </p:blipFill>
        <p:spPr bwMode="auto">
          <a:xfrm>
            <a:off x="7321076" y="2157933"/>
            <a:ext cx="4846895" cy="342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Місце для вмісту 1">
            <a:extLst>
              <a:ext uri="{FF2B5EF4-FFF2-40B4-BE49-F238E27FC236}">
                <a16:creationId xmlns:a16="http://schemas.microsoft.com/office/drawing/2014/main" id="{30BF1E0E-8479-8DC8-8274-B9396AAB6EDC}"/>
              </a:ext>
            </a:extLst>
          </p:cNvPr>
          <p:cNvSpPr txBox="1">
            <a:spLocks/>
          </p:cNvSpPr>
          <p:nvPr/>
        </p:nvSpPr>
        <p:spPr>
          <a:xfrm>
            <a:off x="80867" y="1475457"/>
            <a:ext cx="12108084" cy="7556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Font typeface="Arial" panose="020B0604020202020204" pitchFamily="34" charset="0"/>
              <a:buNone/>
            </a:pPr>
            <a:r>
              <a:rPr lang="uk-UA" sz="2200" dirty="0"/>
              <a:t>2. Програма «</a:t>
            </a:r>
            <a:r>
              <a:rPr lang="uk-UA" sz="2200" b="1" dirty="0"/>
              <a:t>Оновлення лабораторії. Заміна </a:t>
            </a:r>
            <a:r>
              <a:rPr lang="en-US" sz="2200" b="1" dirty="0"/>
              <a:t>LS-1100</a:t>
            </a:r>
            <a:r>
              <a:rPr lang="uk-UA" sz="2200" b="1" dirty="0"/>
              <a:t> в рамках партнерської програми</a:t>
            </a:r>
            <a:r>
              <a:rPr lang="uk-UA" sz="2200" dirty="0"/>
              <a:t>»</a:t>
            </a:r>
            <a:br>
              <a:rPr lang="uk-UA" dirty="0"/>
            </a:br>
            <a:br>
              <a:rPr lang="uk-UA" dirty="0"/>
            </a:b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51680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2A9B13-ECC9-30CE-FCFE-07059772B4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898" t="770" r="873" b="32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B43AB-E0D1-AE9E-285D-9437ADDE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Дякую за увагу!</a:t>
            </a:r>
          </a:p>
        </p:txBody>
      </p:sp>
    </p:spTree>
    <p:extLst>
      <p:ext uri="{BB962C8B-B14F-4D97-AF65-F5344CB8AC3E}">
        <p14:creationId xmlns:p14="http://schemas.microsoft.com/office/powerpoint/2010/main" val="30411301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Настроювані 1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00B050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2274</TotalTime>
  <Words>366</Words>
  <Application>Microsoft Office PowerPoint</Application>
  <PresentationFormat>Широкий екран</PresentationFormat>
  <Paragraphs>44</Paragraphs>
  <Slides>11</Slides>
  <Notes>2</Notes>
  <HiddenSlides>0</HiddenSlides>
  <MMClips>0</MMClips>
  <ScaleCrop>false</ScaleCrop>
  <HeadingPairs>
    <vt:vector size="8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Вбудовані сервери OLE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Inter</vt:lpstr>
      <vt:lpstr>Тема Office</vt:lpstr>
      <vt:lpstr>Worksheet</vt:lpstr>
      <vt:lpstr>8-канальний імунофлуорисцентний аналізатор LS-2100</vt:lpstr>
      <vt:lpstr>Будова імунофлуорисцентного аналізатора LS-2100 </vt:lpstr>
      <vt:lpstr>Технічні характеристики імунофлуорисцентного аналізатора LS-2100</vt:lpstr>
      <vt:lpstr>Меню українською мовою</vt:lpstr>
      <vt:lpstr>Процедура тестування на LS-2100</vt:lpstr>
      <vt:lpstr>8-канальний імунофлуорисцентний аналізатор LS-2100</vt:lpstr>
      <vt:lpstr>Конкуренти</vt:lpstr>
      <vt:lpstr>СПИСОК НЕОБХІДНИХ МАТЕРІАЛІВ ДЛЯ РОБОТИ З LS-2100</vt:lpstr>
      <vt:lpstr>Спеціальні комерційні пропозиції</vt:lpstr>
      <vt:lpstr>Спеціальні комерційні пропозиції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Інна Шлапак</dc:creator>
  <cp:lastModifiedBy>Інна Шлапак</cp:lastModifiedBy>
  <cp:revision>17</cp:revision>
  <dcterms:created xsi:type="dcterms:W3CDTF">2026-03-09T12:17:15Z</dcterms:created>
  <dcterms:modified xsi:type="dcterms:W3CDTF">2026-03-17T14:19:16Z</dcterms:modified>
</cp:coreProperties>
</file>